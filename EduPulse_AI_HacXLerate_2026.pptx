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f466cc4-73cb-fca3-6814-862c16f41784}">
          <p14:sldIdLst>
            <p14:sldId id="256"/>
            <p14:sldId id="257"/>
          </p14:sldIdLst>
        </p14:section>
        <p14:section name="Context" id="{1a50bbb3-8d24-e358-1bca-c52bc8895e56}">
          <p14:sldIdLst>
            <p14:sldId id="258"/>
            <p14:sldId id="259"/>
            <p14:sldId id="260"/>
          </p14:sldIdLst>
        </p14:section>
        <p14:section name="Solution" id="{e87cc4f8-19e6-25f7-be27-3c47b50f317b}">
          <p14:sldIdLst>
            <p14:sldId id="261"/>
            <p14:sldId id="262"/>
            <p14:sldId id="263"/>
            <p14:sldId id="264"/>
            <p14:sldId id="265"/>
            <p14:sldId id="266"/>
            <p14:sldId id="267"/>
            <p14:sldId id="268"/>
            <p14:sldId id="269"/>
          </p14:sldIdLst>
        </p14:section>
        <p14:section name="Delivery" id="{cc106b55-b787-88e8-3d09-8452f3014671}">
          <p14:sldIdLst>
            <p14:sldId id="270"/>
            <p14:sldId id="271"/>
            <p14:sldId id="272"/>
            <p14:sldId id="273"/>
          </p14:sldIdLst>
        </p14:section>
        <p14:section name="Close" id="{080b61e1-5f7d-8255-6bfb-48374921f26b}">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 (%)</c:v>
                </c:pt>
              </c:strCache>
            </c:strRef>
          </c:tx>
          <c:spPr>
            <a:solidFill>
              <a:schemeClr val="accent1"/>
            </a:solidFill>
            <a:ln w="9525" cap="flat">
              <a:solidFill>
                <a:srgbClr val="F9F9F9"/>
              </a:solidFill>
              <a:prstDash val="solid"/>
              <a:round/>
            </a:ln>
            <a:effectLst/>
          </c:spPr>
          <c:dPt>
            <c:idx val="0"/>
            <c:bubble3D val="0"/>
            <c:spPr>
              <a:solidFill>
                <a:srgbClr val="0B1F3A"/>
              </a:solidFill>
              <a:ln w="25400" cap="flat">
                <a:solidFill>
                  <a:srgbClr val="FFFFFF"/>
                </a:solidFill>
                <a:prstDash val="solid"/>
                <a:round/>
              </a:ln>
              <a:effectLst/>
            </c:spPr>
          </c:dPt>
          <c:dPt>
            <c:idx val="1"/>
            <c:bubble3D val="0"/>
            <c:spPr>
              <a:solidFill>
                <a:srgbClr val="00827E"/>
              </a:solidFill>
              <a:ln w="25400" cap="flat">
                <a:solidFill>
                  <a:srgbClr val="FFFFFF"/>
                </a:solidFill>
                <a:prstDash val="solid"/>
                <a:round/>
              </a:ln>
              <a:effectLst/>
            </c:spPr>
          </c:dPt>
          <c:dPt>
            <c:idx val="2"/>
            <c:bubble3D val="0"/>
            <c:spPr>
              <a:solidFill>
                <a:srgbClr val="6B3FA0"/>
              </a:solidFill>
              <a:ln w="25400" cap="flat">
                <a:solidFill>
                  <a:srgbClr val="FFFFFF"/>
                </a:solidFill>
                <a:prstDash val="solid"/>
                <a:round/>
              </a:ln>
              <a:effectLst/>
            </c:spPr>
          </c:dPt>
          <c:dPt>
            <c:idx val="3"/>
            <c:bubble3D val="0"/>
            <c:spPr>
              <a:solidFill>
                <a:srgbClr val="9B7FD1"/>
              </a:solidFill>
              <a:ln w="25400" cap="flat">
                <a:solidFill>
                  <a:srgbClr val="FFFFFF"/>
                </a:solidFill>
                <a:prstDash val="solid"/>
                <a:round/>
              </a:ln>
              <a:effectLst/>
            </c:spPr>
          </c:dPt>
          <c:dPt>
            <c:idx val="4"/>
            <c:bubble3D val="0"/>
            <c:spPr>
              <a:solidFill>
                <a:srgbClr val="2BB5AE"/>
              </a:solidFill>
              <a:ln w="25400" cap="flat">
                <a:solidFill>
                  <a:srgbClr val="FFFFFF"/>
                </a:solidFill>
                <a:prstDash val="solid"/>
                <a:round/>
              </a:ln>
              <a:effectLst/>
            </c:spPr>
          </c:dPt>
          <c:dPt>
            <c:idx val="5"/>
            <c:bubble3D val="0"/>
            <c:spPr>
              <a:solidFill>
                <a:srgbClr val="5B6B82"/>
              </a:solidFill>
              <a:ln w="25400" cap="flat">
                <a:solidFill>
                  <a:srgbClr val="FFFFFF"/>
                </a:solidFill>
                <a:prstDash val="solid"/>
                <a:round/>
              </a:ln>
              <a:effectLst/>
            </c:spPr>
          </c:dPt>
          <c:dPt>
            <c:idx val="6"/>
            <c:bubble3D val="0"/>
            <c:spPr>
              <a:solidFill>
                <a:srgbClr val="A9B6C8"/>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Sheet1!$A$2:$A$8</c:f>
              <c:strCache>
                <c:ptCount val="7"/>
                <c:pt idx="0">
                  <c:v>Academic performance</c:v>
                </c:pt>
                <c:pt idx="1">
                  <c:v>Attendance</c:v>
                </c:pt>
                <c:pt idx="2">
                  <c:v>LMS engagement</c:v>
                </c:pt>
                <c:pt idx="3">
                  <c:v>Student engagement</c:v>
                </c:pt>
                <c:pt idx="4">
                  <c:v>Placement readiness</c:v>
                </c:pt>
                <c:pt idx="5">
                  <c:v>Skills</c:v>
                </c:pt>
                <c:pt idx="6">
                  <c:v>Feedback</c:v>
                </c:pt>
              </c:strCache>
            </c:strRef>
          </c:cat>
          <c:val>
            <c:numRef>
              <c:f>Sheet1!$B$2:$B$8</c:f>
              <c:numCache>
                <c:ptCount val="7"/>
                <c:pt idx="0">
                  <c:v>25</c:v>
                </c:pt>
                <c:pt idx="1">
                  <c:v>15</c:v>
                </c:pt>
                <c:pt idx="2">
                  <c:v>15</c:v>
                </c:pt>
                <c:pt idx="3">
                  <c:v>10</c:v>
                </c:pt>
                <c:pt idx="4">
                  <c:v>20</c:v>
                </c:pt>
                <c:pt idx="5">
                  <c:v>10</c:v>
                </c:pt>
                <c:pt idx="6">
                  <c:v>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Score</c:v>
                </c:pt>
              </c:strCache>
            </c:strRef>
          </c:tx>
          <c:spPr>
            <a:solidFill>
              <a:srgbClr val="00827E"/>
            </a:solidFill>
            <a:effectLst/>
          </c:spPr>
          <c:invertIfNegative val="0"/>
          <c:dLbls>
            <c:numFmt formatCode="0.00" sourceLinked="0"/>
            <c:txPr>
              <a:bodyPr/>
              <a:lstStyle/>
              <a:p>
                <a:pPr>
                  <a:defRPr b="1" i="0" strike="noStrike" sz="1200" u="none">
                    <a:solidFill>
                      <a:srgbClr val="1A2433"/>
                    </a:solidFill>
                    <a:latin typeface="+mn-lt"/>
                  </a:defRPr>
                </a:pPr>
              </a:p>
            </c:txPr>
            <c:showLegendKey val="0"/>
            <c:showVal val="1"/>
            <c:showCatName val="0"/>
            <c:showSerName val="0"/>
            <c:showPercent val="0"/>
            <c:showBubbleSize val="0"/>
            <c:showLeaderLines val="0"/>
          </c:dLbls>
          <c:cat>
            <c:multiLvlStrRef>
              <c:f>Sheet1!$A$2:$A$5</c:f>
              <c:multiLvlStrCache>
                <c:ptCount val="4"/>
                <c:lvl>
                  <c:pt idx="0">
                    <c:v>Aptitude</c:v>
                  </c:pt>
                  <c:pt idx="1">
                    <c:v>Coding</c:v>
                  </c:pt>
                  <c:pt idx="2">
                    <c:v>Mock interview</c:v>
                  </c:pt>
                  <c:pt idx="3">
                    <c:v>Technical skills</c:v>
                  </c:pt>
                </c:lvl>
              </c:multiLvlStrCache>
            </c:multiLvlStrRef>
          </c:cat>
          <c:val>
            <c:numRef>
              <c:f>Sheet1!$B$2:$B$5</c:f>
              <c:numCache>
                <c:formatCode>General</c:formatCode>
                <c:ptCount val="4"/>
                <c:pt idx="0">
                  <c:v>33.45</c:v>
                </c:pt>
                <c:pt idx="1">
                  <c:v>29.44</c:v>
                </c:pt>
                <c:pt idx="2">
                  <c:v>35.11</c:v>
                </c:pt>
                <c:pt idx="3">
                  <c:v>40.14</c:v>
                </c:pt>
              </c:numCache>
            </c:numRef>
          </c:val>
        </c:ser>
        <c:dLbls>
          <c:numFmt formatCode="0.00" sourceLinked="0"/>
          <c:txPr>
            <a:bodyPr/>
            <a:lstStyle/>
            <a:p>
              <a:pPr>
                <a:defRPr b="1" i="0" strike="noStrike" sz="1200" u="none">
                  <a:solidFill>
                    <a:srgbClr val="1A24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2433"/>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EduPulse AI: an analytics and early-intervention prototype for student success. Built on synthetic data; scoring and recommendations are rule-based.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EduPulse AI helps colleges identify students who may need academic or placement support, explains why, and proposes next actions. The value is moving from reporting to timely, data-informed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Colleges generate student information across many systems. The opportunity is to convert these disconnected sources into insights that help administrators improve student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recurring gaps: scattered data, marks that do not capture placement readiness, late warning signs, difficulty prioritising, generic interventions, and dashboards that describe but do not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objectives: the first four build the data and scoring foundation, the last four turn it into insight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runs left to right: integrate data, engineer features, compute the Success Score, identify risk, explain and segment, recommend actions, and surface everything in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source tables (a profile table plus seven categories) are loaded from CSV with Pandas and merged on Student ID. Analytical indicators are then calculated. The prototype uses 500 synthetic student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360 profile brings six data dimensions together and layers on four generated insights, so faculty can review strengths and support needs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Success Score is a 0 to 100 weighted sum of seven component scores. Component scores are normalized or calculated from underlying indicators. The weights are design choices made for the prototype and have not been validated against real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 dimensions are scored from deficits in the underlying component scores, then combined 40/40/20 into an overall risk score. Thresholds: below 40 low, 40 to below 70 medium, 70 or above high. Higher scores signal stronger need for support, not a prediction of the student's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risk label alone is not enough. Explanations are generated from individual indicators using predefined rules. A numerical per-indicator contribution breakdown for the Success Score is a possible future enhancement and is not part of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are assigned through explicit scoring rules to keep labels interpretable; a K-Means clustering module is also included in the prototype. No segment sizes are claimed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identified need maps to a suggested intervention. The prototype proposes actions; institutional faculty remain responsible for reviewing and carrying them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of the management dashboard layout (not real data): summary cards, risk and segment charts, a searchable and filterable student list, and a Student 360 profile with drivers and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presentation, application, analytics, data and hosting. The analytics layer holds the weighted scoring, risk scoring, K-Means module and rule-based explanation and recommendation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Python and Flask application with Pandas, NumPy and scikit-learn for analytics, Chart.js for visualisation, SQLite for authentication records, and Gunicorn on Render for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STU001 has strong academics (CGPA 8.44, internal marks 82.91) but low placement indicators. The overall risk is Low, yet the placement risk is Medium, which the overall score alone would hide. Values come from the synthetic sample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Flask application is deployed on Render and the source is public on GitHub. Management and student login flows, the dashboard, search, filters, Student 360 and placement-unprepared views have been tested. Free-tier hosting may need time to wake.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the prototype uses synthetic data, weighted scoring with predefined thresholds, rule-based explanations and recommendations, and has not been validated against real institutional outcomes. Flags should guide support and never label or penalise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decision-intelligence approach and invite evaluators to try the live demo and review the public repository. Remind the audience that the demonstration uses synthetic data and rule-based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82512"/>
            <a:ext cx="9144000" cy="274320"/>
          </a:xfrm>
          <a:prstGeom prst="rect">
            <a:avLst/>
          </a:prstGeom>
          <a:noFill/>
          <a:ln/>
        </p:spPr>
        <p:txBody>
          <a:bodyPr wrap="square" lIns="0" tIns="0" rIns="0" bIns="0" rtlCol="0" anchor="ctr"/>
          <a:lstStyle/>
          <a:p>
            <a:pPr indent="0" marL="0">
              <a:buNone/>
            </a:pPr>
            <a:r>
              <a:rPr lang="en-US" sz="1000" dirty="0">
                <a:solidFill>
                  <a:schemeClr val="accent6"/>
                </a:solidFill>
              </a:rPr>
              <a:t>EduPulse AI  |  HacXLerate 2026 submission  |  Prototype using synthetic student data</a:t>
            </a:r>
            <a:endParaRPr lang="en-US" sz="10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edupulse-ai-lqtt.onrender.com/login.html" TargetMode="External"/><Relationship Id="rId4" Type="http://schemas.openxmlformats.org/officeDocument/2006/relationships/hyperlink" Target="https://github.com/DhivyaDharsini2630/EduPulse-AI" TargetMode="External"/><Relationship Id="rId1" Type="http://schemas.openxmlformats.org/officeDocument/2006/relationships/image" Target="../media/image-18-1.png"/><Relationship Id="rId3"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image" Target="../media/image-18-5.png"/><Relationship Id="rId8" Type="http://schemas.openxmlformats.org/officeDocument/2006/relationships/image" Target="../media/image-18-6.png"/><Relationship Id="rId9" Type="http://schemas.openxmlformats.org/officeDocument/2006/relationships/image" Target="../media/image-18-7.png"/><Relationship Id="rId10" Type="http://schemas.openxmlformats.org/officeDocument/2006/relationships/image" Target="../media/image-18-8.png"/><Relationship Id="rId11" Type="http://schemas.openxmlformats.org/officeDocument/2006/relationships/slideLayout" Target="../slideLayouts/slideLayout2.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edupulse-ai-lqtt.onrender.com/login.html" TargetMode="External"/><Relationship Id="rId4" Type="http://schemas.openxmlformats.org/officeDocument/2006/relationships/hyperlink" Target="https://github.com/DhivyaDharsini2630/EduPulse-AI" TargetMode="External"/><Relationship Id="rId1" Type="http://schemas.openxmlformats.org/officeDocument/2006/relationships/image" Target="../media/image-20-1.png"/><Relationship Id="rId3" Type="http://schemas.openxmlformats.org/officeDocument/2006/relationships/image" Target="../media/image-20-2.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594360"/>
            <a:ext cx="7315200" cy="320040"/>
          </a:xfrm>
          <a:prstGeom prst="rect">
            <a:avLst/>
          </a:prstGeom>
          <a:noFill/>
          <a:ln/>
        </p:spPr>
        <p:txBody>
          <a:bodyPr wrap="square" lIns="0" tIns="0" rIns="0" bIns="0" rtlCol="0" anchor="t"/>
          <a:lstStyle/>
          <a:p>
            <a:pPr indent="0" marL="0">
              <a:buNone/>
            </a:pPr>
            <a:r>
              <a:rPr lang="en-US" sz="1300" b="1" spc="300" kern="0" dirty="0">
                <a:solidFill>
                  <a:srgbClr val="3FD0C9"/>
                </a:solidFill>
              </a:rPr>
              <a:t>KPMG IN INDIA  |  HACXLERATE 2026</a:t>
            </a:r>
            <a:endParaRPr lang="en-US" sz="1300" dirty="0"/>
          </a:p>
        </p:txBody>
      </p:sp>
      <p:sp>
        <p:nvSpPr>
          <p:cNvPr id="4" name="Text 1"/>
          <p:cNvSpPr txBox="1"/>
          <p:nvPr/>
        </p:nvSpPr>
        <p:spPr>
          <a:xfrm>
            <a:off x="640080" y="1325880"/>
            <a:ext cx="6949440" cy="1097280"/>
          </a:xfrm>
          <a:prstGeom prst="rect">
            <a:avLst/>
          </a:prstGeom>
          <a:noFill/>
          <a:ln/>
        </p:spPr>
        <p:txBody>
          <a:bodyPr wrap="square" lIns="0" tIns="0" rIns="0" bIns="0" rtlCol="0" anchor="ctr"/>
          <a:lstStyle/>
          <a:p>
            <a:pPr indent="0" marL="0">
              <a:buNone/>
            </a:pPr>
            <a:r>
              <a:rPr lang="en-US" sz="6600" b="1" dirty="0">
                <a:solidFill>
                  <a:schemeClr val="bg1"/>
                </a:solidFill>
              </a:rPr>
              <a:t>EduPulse AI</a:t>
            </a:r>
            <a:endParaRPr lang="en-US" sz="6600" dirty="0"/>
          </a:p>
        </p:txBody>
      </p:sp>
      <p:sp>
        <p:nvSpPr>
          <p:cNvPr id="5" name="Text 2"/>
          <p:cNvSpPr txBox="1"/>
          <p:nvPr/>
        </p:nvSpPr>
        <p:spPr>
          <a:xfrm>
            <a:off x="640080" y="2560320"/>
            <a:ext cx="6583680" cy="914400"/>
          </a:xfrm>
          <a:prstGeom prst="rect">
            <a:avLst/>
          </a:prstGeom>
          <a:noFill/>
          <a:ln/>
        </p:spPr>
        <p:txBody>
          <a:bodyPr wrap="square" lIns="0" tIns="0" rIns="0" bIns="0" rtlCol="0" anchor="t"/>
          <a:lstStyle/>
          <a:p>
            <a:pPr indent="0" marL="0">
              <a:buNone/>
            </a:pPr>
            <a:r>
              <a:rPr lang="en-US" sz="2400" dirty="0">
                <a:solidFill>
                  <a:schemeClr val="bg1"/>
                </a:solidFill>
              </a:rPr>
              <a:t>Smart Campus Analytics: Predict, Optimize &amp; Improve Student Success</a:t>
            </a:r>
            <a:endParaRPr lang="en-US" sz="2400" dirty="0"/>
          </a:p>
        </p:txBody>
      </p:sp>
      <p:sp>
        <p:nvSpPr>
          <p:cNvPr id="6" name="Text 3"/>
          <p:cNvSpPr txBox="1"/>
          <p:nvPr/>
        </p:nvSpPr>
        <p:spPr>
          <a:xfrm>
            <a:off x="640080" y="3611880"/>
            <a:ext cx="6400800" cy="594360"/>
          </a:xfrm>
          <a:prstGeom prst="rect">
            <a:avLst/>
          </a:prstGeom>
          <a:noFill/>
          <a:ln/>
        </p:spPr>
        <p:txBody>
          <a:bodyPr wrap="square" lIns="0" tIns="0" rIns="0" bIns="0" rtlCol="0" anchor="t"/>
          <a:lstStyle/>
          <a:p>
            <a:pPr indent="0" marL="0">
              <a:buNone/>
            </a:pPr>
            <a:r>
              <a:rPr lang="en-US" sz="1500" dirty="0">
                <a:solidFill>
                  <a:srgbClr val="B8C4D6"/>
                </a:solidFill>
              </a:rPr>
              <a:t>An Analytics &amp; AI-Powered Student Success and Early-Intervention Platform</a:t>
            </a:r>
            <a:endParaRPr lang="en-US" sz="1500" dirty="0"/>
          </a:p>
        </p:txBody>
      </p:sp>
      <p:sp>
        <p:nvSpPr>
          <p:cNvPr id="7" name="Text 4"/>
          <p:cNvSpPr txBox="1"/>
          <p:nvPr/>
        </p:nvSpPr>
        <p:spPr>
          <a:xfrm>
            <a:off x="640080" y="4526280"/>
            <a:ext cx="1463040" cy="420624"/>
          </a:xfrm>
          <a:prstGeom prst="roundRect">
            <a:avLst>
              <a:gd name="adj" fmla="val 50000"/>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Predict.</a:t>
            </a:r>
            <a:endParaRPr lang="en-US" sz="1400" dirty="0"/>
          </a:p>
        </p:txBody>
      </p:sp>
      <p:sp>
        <p:nvSpPr>
          <p:cNvPr id="8" name="Text 5"/>
          <p:cNvSpPr txBox="1"/>
          <p:nvPr/>
        </p:nvSpPr>
        <p:spPr>
          <a:xfrm>
            <a:off x="2240280" y="4526280"/>
            <a:ext cx="1463040" cy="420624"/>
          </a:xfrm>
          <a:prstGeom prst="roundRect">
            <a:avLst>
              <a:gd name="adj" fmla="val 50000"/>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Explain.</a:t>
            </a:r>
            <a:endParaRPr lang="en-US" sz="1400" dirty="0"/>
          </a:p>
        </p:txBody>
      </p:sp>
      <p:sp>
        <p:nvSpPr>
          <p:cNvPr id="9" name="Text 6"/>
          <p:cNvSpPr txBox="1"/>
          <p:nvPr/>
        </p:nvSpPr>
        <p:spPr>
          <a:xfrm>
            <a:off x="3840480" y="4526280"/>
            <a:ext cx="1463040" cy="420624"/>
          </a:xfrm>
          <a:prstGeom prst="roundRect">
            <a:avLst>
              <a:gd name="adj" fmla="val 50000"/>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Intervene.</a:t>
            </a:r>
            <a:endParaRPr lang="en-US" sz="1400" dirty="0"/>
          </a:p>
        </p:txBody>
      </p:sp>
      <p:sp>
        <p:nvSpPr>
          <p:cNvPr id="10" name="Text 7"/>
          <p:cNvSpPr txBox="1"/>
          <p:nvPr/>
        </p:nvSpPr>
        <p:spPr>
          <a:xfrm>
            <a:off x="5440680" y="4526280"/>
            <a:ext cx="1463040" cy="420624"/>
          </a:xfrm>
          <a:prstGeom prst="roundRect">
            <a:avLst>
              <a:gd name="adj" fmla="val 50000"/>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Improve.</a:t>
            </a:r>
            <a:endParaRPr lang="en-US" sz="1400" dirty="0"/>
          </a:p>
        </p:txBody>
      </p:sp>
      <p:sp>
        <p:nvSpPr>
          <p:cNvPr id="11" name="Text 8"/>
          <p:cNvSpPr txBox="1"/>
          <p:nvPr/>
        </p:nvSpPr>
        <p:spPr>
          <a:xfrm>
            <a:off x="640080" y="5486400"/>
            <a:ext cx="6949440" cy="274320"/>
          </a:xfrm>
          <a:prstGeom prst="rect">
            <a:avLst/>
          </a:prstGeom>
          <a:noFill/>
          <a:ln/>
        </p:spPr>
        <p:txBody>
          <a:bodyPr wrap="square" lIns="0" tIns="0" rIns="0" bIns="0" rtlCol="0" anchor="t"/>
          <a:lstStyle/>
          <a:p>
            <a:pPr indent="0" marL="0">
              <a:buNone/>
            </a:pPr>
            <a:r>
              <a:rPr lang="en-US" sz="1300" b="1" dirty="0">
                <a:solidFill>
                  <a:schemeClr val="bg1"/>
                </a:solidFill>
              </a:rPr>
              <a:t>Challenge: </a:t>
            </a:r>
            <a:pPr indent="0" marL="0">
              <a:buNone/>
            </a:pPr>
            <a:r>
              <a:rPr lang="en-US" sz="1300" dirty="0">
                <a:solidFill>
                  <a:srgbClr val="B8C4D6"/>
                </a:solidFill>
              </a:rPr>
              <a:t>AI-Powered Student Analytics and Success Platform</a:t>
            </a:r>
            <a:endParaRPr lang="en-US" sz="1300" dirty="0"/>
          </a:p>
        </p:txBody>
      </p:sp>
      <p:sp>
        <p:nvSpPr>
          <p:cNvPr id="12" name="Text 9"/>
          <p:cNvSpPr txBox="1"/>
          <p:nvPr/>
        </p:nvSpPr>
        <p:spPr>
          <a:xfrm>
            <a:off x="640080" y="5943600"/>
            <a:ext cx="7498080" cy="274320"/>
          </a:xfrm>
          <a:prstGeom prst="rect">
            <a:avLst/>
          </a:prstGeom>
          <a:noFill/>
          <a:ln/>
        </p:spPr>
        <p:txBody>
          <a:bodyPr wrap="square" lIns="0" tIns="0" rIns="0" bIns="0" rtlCol="0" anchor="t"/>
          <a:lstStyle/>
          <a:p>
            <a:pPr indent="0" marL="0">
              <a:buNone/>
            </a:pPr>
            <a:r>
              <a:rPr lang="en-US" sz="1100" dirty="0">
                <a:solidFill>
                  <a:srgbClr val="B8C4D6"/>
                </a:solidFill>
              </a:rPr>
              <a:t>Hackathon prototype  |  Synthetic demonstration data  |  Independent team submission, not an official KPMG product</a:t>
            </a:r>
            <a:endParaRPr lang="en-US" sz="1100" dirty="0"/>
          </a:p>
        </p:txBody>
      </p:sp>
      <p:sp>
        <p:nvSpPr>
          <p:cNvPr id="13" name="Ring"/>
          <p:cNvSpPr/>
          <p:nvPr/>
        </p:nvSpPr>
        <p:spPr>
          <a:xfrm>
            <a:off x="7726680" y="1188720"/>
            <a:ext cx="4206240" cy="4206240"/>
          </a:xfrm>
          <a:prstGeom prst="ellipse">
            <a:avLst/>
          </a:prstGeom>
          <a:ln w="12700">
            <a:solidFill>
              <a:srgbClr val="3FD0C9">
                <a:alpha val="45000"/>
              </a:srgbClr>
            </a:solidFill>
            <a:prstDash val="solid"/>
          </a:ln>
        </p:spPr>
      </p:sp>
      <p:sp>
        <p:nvSpPr>
          <p:cNvPr id="14" name="Ring"/>
          <p:cNvSpPr/>
          <p:nvPr/>
        </p:nvSpPr>
        <p:spPr>
          <a:xfrm>
            <a:off x="8366760" y="1828800"/>
            <a:ext cx="2926080" cy="2926080"/>
          </a:xfrm>
          <a:prstGeom prst="ellipse">
            <a:avLst/>
          </a:prstGeom>
          <a:ln w="12700">
            <a:solidFill>
              <a:srgbClr val="3FD0C9">
                <a:alpha val="45000"/>
              </a:srgbClr>
            </a:solidFill>
            <a:prstDash val="solid"/>
          </a:ln>
        </p:spPr>
      </p:sp>
      <p:sp>
        <p:nvSpPr>
          <p:cNvPr id="15" name="Icon circle"/>
          <p:cNvSpPr/>
          <p:nvPr/>
        </p:nvSpPr>
        <p:spPr>
          <a:xfrm>
            <a:off x="9144000" y="2606040"/>
            <a:ext cx="1371600" cy="1371600"/>
          </a:xfrm>
          <a:prstGeom prst="ellipse">
            <a:avLst/>
          </a:prstGeom>
          <a:solidFill>
            <a:schemeClr val="accent1"/>
          </a:solidFill>
          <a:ln/>
        </p:spPr>
      </p:sp>
      <p:pic>
        <p:nvPicPr>
          <p:cNvPr id="16" name="Image 0" descr="GraduationCap icon">    </p:cNvPr>
          <p:cNvPicPr>
            <a:picLocks noChangeAspect="1"/>
          </p:cNvPicPr>
          <p:nvPr/>
        </p:nvPicPr>
        <p:blipFill>
          <a:blip r:embed="rId1"/>
          <a:stretch>
            <a:fillRect/>
          </a:stretch>
        </p:blipFill>
        <p:spPr>
          <a:xfrm>
            <a:off x="9500616" y="2962656"/>
            <a:ext cx="658368" cy="658368"/>
          </a:xfrm>
          <a:prstGeom prst="rect">
            <a:avLst/>
          </a:prstGeom>
        </p:spPr>
      </p:pic>
      <p:sp>
        <p:nvSpPr>
          <p:cNvPr id="17" name="Icon circle"/>
          <p:cNvSpPr/>
          <p:nvPr/>
        </p:nvSpPr>
        <p:spPr>
          <a:xfrm>
            <a:off x="10697772" y="1230737"/>
            <a:ext cx="676656" cy="676656"/>
          </a:xfrm>
          <a:prstGeom prst="ellipse">
            <a:avLst/>
          </a:prstGeom>
          <a:solidFill>
            <a:schemeClr val="accent2"/>
          </a:solidFill>
          <a:ln/>
        </p:spPr>
      </p:sp>
      <p:pic>
        <p:nvPicPr>
          <p:cNvPr id="18" name="Image 1" descr="ChartLine icon">    </p:cNvPr>
          <p:cNvPicPr>
            <a:picLocks noChangeAspect="1"/>
          </p:cNvPicPr>
          <p:nvPr/>
        </p:nvPicPr>
        <p:blipFill>
          <a:blip r:embed="rId2"/>
          <a:stretch>
            <a:fillRect/>
          </a:stretch>
        </p:blipFill>
        <p:spPr>
          <a:xfrm>
            <a:off x="10873703" y="1406668"/>
            <a:ext cx="324795" cy="324795"/>
          </a:xfrm>
          <a:prstGeom prst="rect">
            <a:avLst/>
          </a:prstGeom>
        </p:spPr>
      </p:pic>
      <p:sp>
        <p:nvSpPr>
          <p:cNvPr id="19" name="Icon circle"/>
          <p:cNvSpPr/>
          <p:nvPr/>
        </p:nvSpPr>
        <p:spPr>
          <a:xfrm>
            <a:off x="11214247" y="4159812"/>
            <a:ext cx="676656" cy="676656"/>
          </a:xfrm>
          <a:prstGeom prst="ellipse">
            <a:avLst/>
          </a:prstGeom>
          <a:solidFill>
            <a:schemeClr val="accent2"/>
          </a:solidFill>
          <a:ln/>
        </p:spPr>
      </p:sp>
      <p:pic>
        <p:nvPicPr>
          <p:cNvPr id="20" name="Image 2" descr="Briefcase icon">    </p:cNvPr>
          <p:cNvPicPr>
            <a:picLocks noChangeAspect="1"/>
          </p:cNvPicPr>
          <p:nvPr/>
        </p:nvPicPr>
        <p:blipFill>
          <a:blip r:embed="rId3"/>
          <a:stretch>
            <a:fillRect/>
          </a:stretch>
        </p:blipFill>
        <p:spPr>
          <a:xfrm>
            <a:off x="11390178" y="4335743"/>
            <a:ext cx="324795" cy="324795"/>
          </a:xfrm>
          <a:prstGeom prst="rect">
            <a:avLst/>
          </a:prstGeom>
        </p:spPr>
      </p:pic>
      <p:sp>
        <p:nvSpPr>
          <p:cNvPr id="21" name="Icon circle"/>
          <p:cNvSpPr/>
          <p:nvPr/>
        </p:nvSpPr>
        <p:spPr>
          <a:xfrm>
            <a:off x="7768697" y="4159812"/>
            <a:ext cx="676656" cy="676656"/>
          </a:xfrm>
          <a:prstGeom prst="ellipse">
            <a:avLst/>
          </a:prstGeom>
          <a:solidFill>
            <a:schemeClr val="accent2"/>
          </a:solidFill>
          <a:ln/>
        </p:spPr>
      </p:sp>
      <p:pic>
        <p:nvPicPr>
          <p:cNvPr id="22" name="Image 3" descr="Users icon">    </p:cNvPr>
          <p:cNvPicPr>
            <a:picLocks noChangeAspect="1"/>
          </p:cNvPicPr>
          <p:nvPr/>
        </p:nvPicPr>
        <p:blipFill>
          <a:blip r:embed="rId4"/>
          <a:stretch>
            <a:fillRect/>
          </a:stretch>
        </p:blipFill>
        <p:spPr>
          <a:xfrm>
            <a:off x="7944628" y="4335743"/>
            <a:ext cx="324795" cy="324795"/>
          </a:xfrm>
          <a:prstGeom prst="rect">
            <a:avLst/>
          </a:prstGeom>
        </p:spPr>
      </p:pic>
      <p:sp>
        <p:nvSpPr>
          <p:cNvPr id="23" name="Icon circle"/>
          <p:cNvSpPr/>
          <p:nvPr/>
        </p:nvSpPr>
        <p:spPr>
          <a:xfrm>
            <a:off x="8285172" y="1230737"/>
            <a:ext cx="676656" cy="676656"/>
          </a:xfrm>
          <a:prstGeom prst="ellipse">
            <a:avLst/>
          </a:prstGeom>
          <a:solidFill>
            <a:schemeClr val="accent2"/>
          </a:solidFill>
          <a:ln/>
        </p:spPr>
      </p:sp>
      <p:pic>
        <p:nvPicPr>
          <p:cNvPr id="24" name="Image 4" descr="Lightbulb icon">    </p:cNvPr>
          <p:cNvPicPr>
            <a:picLocks noChangeAspect="1"/>
          </p:cNvPicPr>
          <p:nvPr/>
        </p:nvPicPr>
        <p:blipFill>
          <a:blip r:embed="rId5"/>
          <a:stretch>
            <a:fillRect/>
          </a:stretch>
        </p:blipFill>
        <p:spPr>
          <a:xfrm>
            <a:off x="8461102" y="1406668"/>
            <a:ext cx="324795" cy="3247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EXECUTIVE SUMMARY</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Transforming student data into actionable intelligence</a:t>
            </a:r>
            <a:endParaRPr lang="en-US" sz="3000" dirty="0"/>
          </a:p>
        </p:txBody>
      </p:sp>
      <p:sp>
        <p:nvSpPr>
          <p:cNvPr id="5" name="Text 2"/>
          <p:cNvSpPr txBox="1"/>
          <p:nvPr/>
        </p:nvSpPr>
        <p:spPr>
          <a:xfrm>
            <a:off x="548640" y="1463040"/>
            <a:ext cx="11091672" cy="365760"/>
          </a:xfrm>
          <a:prstGeom prst="rect">
            <a:avLst/>
          </a:prstGeom>
          <a:noFill/>
          <a:ln/>
        </p:spPr>
        <p:txBody>
          <a:bodyPr wrap="square" lIns="0" tIns="0" rIns="0" bIns="0" rtlCol="0" anchor="t"/>
          <a:lstStyle/>
          <a:p>
            <a:pPr indent="0" marL="0">
              <a:buNone/>
            </a:pPr>
            <a:r>
              <a:rPr lang="en-US" sz="1600" dirty="0">
                <a:solidFill>
                  <a:schemeClr val="accent6"/>
                </a:solidFill>
              </a:rPr>
              <a:t>A student analytics platform that helps colleges identify students who may need academic or placement support.</a:t>
            </a:r>
            <a:endParaRPr lang="en-US" sz="1600" dirty="0"/>
          </a:p>
        </p:txBody>
      </p:sp>
      <p:sp>
        <p:nvSpPr>
          <p:cNvPr id="6" name="Card"/>
          <p:cNvSpPr/>
          <p:nvPr/>
        </p:nvSpPr>
        <p:spPr>
          <a:xfrm>
            <a:off x="548640" y="2103120"/>
            <a:ext cx="3566160" cy="1371600"/>
          </a:xfrm>
          <a:prstGeom prst="roundRect">
            <a:avLst>
              <a:gd name="adj" fmla="val 5333"/>
            </a:avLst>
          </a:prstGeom>
          <a:solidFill>
            <a:schemeClr val="bg2"/>
          </a:solidFill>
          <a:ln/>
        </p:spPr>
      </p:sp>
      <p:sp>
        <p:nvSpPr>
          <p:cNvPr id="7" name="Icon circle"/>
          <p:cNvSpPr/>
          <p:nvPr/>
        </p:nvSpPr>
        <p:spPr>
          <a:xfrm>
            <a:off x="777240" y="2450592"/>
            <a:ext cx="658368" cy="658368"/>
          </a:xfrm>
          <a:prstGeom prst="ellipse">
            <a:avLst/>
          </a:prstGeom>
          <a:solidFill>
            <a:schemeClr val="accent1"/>
          </a:solidFill>
          <a:ln/>
        </p:spPr>
      </p:sp>
      <p:pic>
        <p:nvPicPr>
          <p:cNvPr id="8" name="Image 0" descr="LayerGroup icon">    </p:cNvPr>
          <p:cNvPicPr>
            <a:picLocks noChangeAspect="1"/>
          </p:cNvPicPr>
          <p:nvPr/>
        </p:nvPicPr>
        <p:blipFill>
          <a:blip r:embed="rId1"/>
          <a:stretch>
            <a:fillRect/>
          </a:stretch>
        </p:blipFill>
        <p:spPr>
          <a:xfrm>
            <a:off x="948416" y="2621768"/>
            <a:ext cx="316017" cy="316017"/>
          </a:xfrm>
          <a:prstGeom prst="rect">
            <a:avLst/>
          </a:prstGeom>
        </p:spPr>
      </p:pic>
      <p:sp>
        <p:nvSpPr>
          <p:cNvPr id="9" name="Text 5"/>
          <p:cNvSpPr txBox="1"/>
          <p:nvPr/>
        </p:nvSpPr>
        <p:spPr>
          <a:xfrm>
            <a:off x="1600200" y="2304288"/>
            <a:ext cx="2331720" cy="320040"/>
          </a:xfrm>
          <a:prstGeom prst="rect">
            <a:avLst/>
          </a:prstGeom>
          <a:noFill/>
          <a:ln/>
        </p:spPr>
        <p:txBody>
          <a:bodyPr wrap="square" lIns="0" tIns="0" rIns="0" bIns="0" rtlCol="0" anchor="t"/>
          <a:lstStyle/>
          <a:p>
            <a:pPr indent="0" marL="0">
              <a:buNone/>
            </a:pPr>
            <a:r>
              <a:rPr lang="en-US" sz="1700" b="1" dirty="0">
                <a:solidFill>
                  <a:schemeClr val="tx2"/>
                </a:solidFill>
              </a:rPr>
              <a:t>Integrate</a:t>
            </a:r>
            <a:endParaRPr lang="en-US" sz="1700" dirty="0"/>
          </a:p>
        </p:txBody>
      </p:sp>
      <p:sp>
        <p:nvSpPr>
          <p:cNvPr id="10" name="Text 6"/>
          <p:cNvSpPr txBox="1"/>
          <p:nvPr/>
        </p:nvSpPr>
        <p:spPr>
          <a:xfrm>
            <a:off x="1600200" y="2670048"/>
            <a:ext cx="2331720" cy="685800"/>
          </a:xfrm>
          <a:prstGeom prst="rect">
            <a:avLst/>
          </a:prstGeom>
          <a:noFill/>
          <a:ln/>
        </p:spPr>
        <p:txBody>
          <a:bodyPr wrap="square" lIns="0" tIns="0" rIns="0" bIns="0" rtlCol="0" anchor="t"/>
          <a:lstStyle/>
          <a:p>
            <a:pPr indent="0" marL="0">
              <a:buNone/>
            </a:pPr>
            <a:r>
              <a:rPr lang="en-US" sz="1300" dirty="0">
                <a:solidFill>
                  <a:schemeClr val="tx1"/>
                </a:solidFill>
              </a:rPr>
              <a:t>Combines multiple student data sources into one view</a:t>
            </a:r>
            <a:endParaRPr lang="en-US" sz="1300" dirty="0"/>
          </a:p>
        </p:txBody>
      </p:sp>
      <p:sp>
        <p:nvSpPr>
          <p:cNvPr id="11" name="Card"/>
          <p:cNvSpPr/>
          <p:nvPr/>
        </p:nvSpPr>
        <p:spPr>
          <a:xfrm>
            <a:off x="4311396" y="2103120"/>
            <a:ext cx="3566160" cy="1371600"/>
          </a:xfrm>
          <a:prstGeom prst="roundRect">
            <a:avLst>
              <a:gd name="adj" fmla="val 5333"/>
            </a:avLst>
          </a:prstGeom>
          <a:solidFill>
            <a:schemeClr val="bg2"/>
          </a:solidFill>
          <a:ln/>
        </p:spPr>
      </p:sp>
      <p:sp>
        <p:nvSpPr>
          <p:cNvPr id="12" name="Icon circle"/>
          <p:cNvSpPr/>
          <p:nvPr/>
        </p:nvSpPr>
        <p:spPr>
          <a:xfrm>
            <a:off x="4539996" y="2450592"/>
            <a:ext cx="658368" cy="658368"/>
          </a:xfrm>
          <a:prstGeom prst="ellipse">
            <a:avLst/>
          </a:prstGeom>
          <a:solidFill>
            <a:schemeClr val="accent2"/>
          </a:solidFill>
          <a:ln/>
        </p:spPr>
      </p:sp>
      <p:pic>
        <p:nvPicPr>
          <p:cNvPr id="13" name="Image 1" descr="Bullseye icon">    </p:cNvPr>
          <p:cNvPicPr>
            <a:picLocks noChangeAspect="1"/>
          </p:cNvPicPr>
          <p:nvPr/>
        </p:nvPicPr>
        <p:blipFill>
          <a:blip r:embed="rId2"/>
          <a:stretch>
            <a:fillRect/>
          </a:stretch>
        </p:blipFill>
        <p:spPr>
          <a:xfrm>
            <a:off x="4711172" y="2621768"/>
            <a:ext cx="316017" cy="316017"/>
          </a:xfrm>
          <a:prstGeom prst="rect">
            <a:avLst/>
          </a:prstGeom>
        </p:spPr>
      </p:pic>
      <p:sp>
        <p:nvSpPr>
          <p:cNvPr id="14" name="Text 9"/>
          <p:cNvSpPr txBox="1"/>
          <p:nvPr/>
        </p:nvSpPr>
        <p:spPr>
          <a:xfrm>
            <a:off x="5362956" y="2304288"/>
            <a:ext cx="2331720" cy="320040"/>
          </a:xfrm>
          <a:prstGeom prst="rect">
            <a:avLst/>
          </a:prstGeom>
          <a:noFill/>
          <a:ln/>
        </p:spPr>
        <p:txBody>
          <a:bodyPr wrap="square" lIns="0" tIns="0" rIns="0" bIns="0" rtlCol="0" anchor="t"/>
          <a:lstStyle/>
          <a:p>
            <a:pPr indent="0" marL="0">
              <a:buNone/>
            </a:pPr>
            <a:r>
              <a:rPr lang="en-US" sz="1700" b="1" dirty="0">
                <a:solidFill>
                  <a:schemeClr val="tx2"/>
                </a:solidFill>
              </a:rPr>
              <a:t>Score</a:t>
            </a:r>
            <a:endParaRPr lang="en-US" sz="1700" dirty="0"/>
          </a:p>
        </p:txBody>
      </p:sp>
      <p:sp>
        <p:nvSpPr>
          <p:cNvPr id="15" name="Text 10"/>
          <p:cNvSpPr txBox="1"/>
          <p:nvPr/>
        </p:nvSpPr>
        <p:spPr>
          <a:xfrm>
            <a:off x="5362956" y="2670048"/>
            <a:ext cx="2331720" cy="685800"/>
          </a:xfrm>
          <a:prstGeom prst="rect">
            <a:avLst/>
          </a:prstGeom>
          <a:noFill/>
          <a:ln/>
        </p:spPr>
        <p:txBody>
          <a:bodyPr wrap="square" lIns="0" tIns="0" rIns="0" bIns="0" rtlCol="0" anchor="t"/>
          <a:lstStyle/>
          <a:p>
            <a:pPr indent="0" marL="0">
              <a:buNone/>
            </a:pPr>
            <a:r>
              <a:rPr lang="en-US" sz="1300" dirty="0">
                <a:solidFill>
                  <a:schemeClr val="tx1"/>
                </a:solidFill>
              </a:rPr>
              <a:t>Weighted Student Success Score on a 0–100 scale</a:t>
            </a:r>
            <a:endParaRPr lang="en-US" sz="1300" dirty="0"/>
          </a:p>
        </p:txBody>
      </p:sp>
      <p:sp>
        <p:nvSpPr>
          <p:cNvPr id="16" name="Card"/>
          <p:cNvSpPr/>
          <p:nvPr/>
        </p:nvSpPr>
        <p:spPr>
          <a:xfrm>
            <a:off x="8074152" y="2103120"/>
            <a:ext cx="3566160" cy="1371600"/>
          </a:xfrm>
          <a:prstGeom prst="roundRect">
            <a:avLst>
              <a:gd name="adj" fmla="val 5333"/>
            </a:avLst>
          </a:prstGeom>
          <a:solidFill>
            <a:schemeClr val="bg2"/>
          </a:solidFill>
          <a:ln/>
        </p:spPr>
      </p:sp>
      <p:sp>
        <p:nvSpPr>
          <p:cNvPr id="17" name="Icon circle"/>
          <p:cNvSpPr/>
          <p:nvPr/>
        </p:nvSpPr>
        <p:spPr>
          <a:xfrm>
            <a:off x="8302752" y="2450592"/>
            <a:ext cx="658368" cy="658368"/>
          </a:xfrm>
          <a:prstGeom prst="ellipse">
            <a:avLst/>
          </a:prstGeom>
          <a:solidFill>
            <a:schemeClr val="accent1"/>
          </a:solidFill>
          <a:ln/>
        </p:spPr>
      </p:sp>
      <p:pic>
        <p:nvPicPr>
          <p:cNvPr id="18" name="Image 2" descr="ExclamationTriangle icon">    </p:cNvPr>
          <p:cNvPicPr>
            <a:picLocks noChangeAspect="1"/>
          </p:cNvPicPr>
          <p:nvPr/>
        </p:nvPicPr>
        <p:blipFill>
          <a:blip r:embed="rId3"/>
          <a:stretch>
            <a:fillRect/>
          </a:stretch>
        </p:blipFill>
        <p:spPr>
          <a:xfrm>
            <a:off x="8473928" y="2621768"/>
            <a:ext cx="316017" cy="316017"/>
          </a:xfrm>
          <a:prstGeom prst="rect">
            <a:avLst/>
          </a:prstGeom>
        </p:spPr>
      </p:pic>
      <p:sp>
        <p:nvSpPr>
          <p:cNvPr id="19" name="Text 13"/>
          <p:cNvSpPr txBox="1"/>
          <p:nvPr/>
        </p:nvSpPr>
        <p:spPr>
          <a:xfrm>
            <a:off x="9125712" y="2304288"/>
            <a:ext cx="2331720" cy="320040"/>
          </a:xfrm>
          <a:prstGeom prst="rect">
            <a:avLst/>
          </a:prstGeom>
          <a:noFill/>
          <a:ln/>
        </p:spPr>
        <p:txBody>
          <a:bodyPr wrap="square" lIns="0" tIns="0" rIns="0" bIns="0" rtlCol="0" anchor="t"/>
          <a:lstStyle/>
          <a:p>
            <a:pPr indent="0" marL="0">
              <a:buNone/>
            </a:pPr>
            <a:r>
              <a:rPr lang="en-US" sz="1700" b="1" dirty="0">
                <a:solidFill>
                  <a:schemeClr val="tx2"/>
                </a:solidFill>
              </a:rPr>
              <a:t>Identify</a:t>
            </a:r>
            <a:endParaRPr lang="en-US" sz="1700" dirty="0"/>
          </a:p>
        </p:txBody>
      </p:sp>
      <p:sp>
        <p:nvSpPr>
          <p:cNvPr id="20" name="Text 14"/>
          <p:cNvSpPr txBox="1"/>
          <p:nvPr/>
        </p:nvSpPr>
        <p:spPr>
          <a:xfrm>
            <a:off x="9125712" y="2670048"/>
            <a:ext cx="2331720" cy="685800"/>
          </a:xfrm>
          <a:prstGeom prst="rect">
            <a:avLst/>
          </a:prstGeom>
          <a:noFill/>
          <a:ln/>
        </p:spPr>
        <p:txBody>
          <a:bodyPr wrap="square" lIns="0" tIns="0" rIns="0" bIns="0" rtlCol="0" anchor="t"/>
          <a:lstStyle/>
          <a:p>
            <a:pPr indent="0" marL="0">
              <a:buNone/>
            </a:pPr>
            <a:r>
              <a:rPr lang="en-US" sz="1300" dirty="0">
                <a:solidFill>
                  <a:schemeClr val="tx1"/>
                </a:solidFill>
              </a:rPr>
              <a:t>Academic, placement and engagement risks</a:t>
            </a:r>
            <a:endParaRPr lang="en-US" sz="1300" dirty="0"/>
          </a:p>
        </p:txBody>
      </p:sp>
      <p:sp>
        <p:nvSpPr>
          <p:cNvPr id="21" name="Card"/>
          <p:cNvSpPr/>
          <p:nvPr/>
        </p:nvSpPr>
        <p:spPr>
          <a:xfrm>
            <a:off x="548640" y="3657600"/>
            <a:ext cx="3566160" cy="1371600"/>
          </a:xfrm>
          <a:prstGeom prst="roundRect">
            <a:avLst>
              <a:gd name="adj" fmla="val 5333"/>
            </a:avLst>
          </a:prstGeom>
          <a:solidFill>
            <a:schemeClr val="bg2"/>
          </a:solidFill>
          <a:ln/>
        </p:spPr>
      </p:sp>
      <p:sp>
        <p:nvSpPr>
          <p:cNvPr id="22" name="Icon circle"/>
          <p:cNvSpPr/>
          <p:nvPr/>
        </p:nvSpPr>
        <p:spPr>
          <a:xfrm>
            <a:off x="777240" y="4005072"/>
            <a:ext cx="658368" cy="658368"/>
          </a:xfrm>
          <a:prstGeom prst="ellipse">
            <a:avLst/>
          </a:prstGeom>
          <a:solidFill>
            <a:schemeClr val="accent2"/>
          </a:solidFill>
          <a:ln/>
        </p:spPr>
      </p:sp>
      <p:pic>
        <p:nvPicPr>
          <p:cNvPr id="23" name="Image 3" descr="Search icon">    </p:cNvPr>
          <p:cNvPicPr>
            <a:picLocks noChangeAspect="1"/>
          </p:cNvPicPr>
          <p:nvPr/>
        </p:nvPicPr>
        <p:blipFill>
          <a:blip r:embed="rId4"/>
          <a:stretch>
            <a:fillRect/>
          </a:stretch>
        </p:blipFill>
        <p:spPr>
          <a:xfrm>
            <a:off x="948416" y="4176248"/>
            <a:ext cx="316017" cy="316017"/>
          </a:xfrm>
          <a:prstGeom prst="rect">
            <a:avLst/>
          </a:prstGeom>
        </p:spPr>
      </p:pic>
      <p:sp>
        <p:nvSpPr>
          <p:cNvPr id="24" name="Text 17"/>
          <p:cNvSpPr txBox="1"/>
          <p:nvPr/>
        </p:nvSpPr>
        <p:spPr>
          <a:xfrm>
            <a:off x="1600200" y="3858768"/>
            <a:ext cx="2331720" cy="320040"/>
          </a:xfrm>
          <a:prstGeom prst="rect">
            <a:avLst/>
          </a:prstGeom>
          <a:noFill/>
          <a:ln/>
        </p:spPr>
        <p:txBody>
          <a:bodyPr wrap="square" lIns="0" tIns="0" rIns="0" bIns="0" rtlCol="0" anchor="t"/>
          <a:lstStyle/>
          <a:p>
            <a:pPr indent="0" marL="0">
              <a:buNone/>
            </a:pPr>
            <a:r>
              <a:rPr lang="en-US" sz="1700" b="1" dirty="0">
                <a:solidFill>
                  <a:schemeClr val="tx2"/>
                </a:solidFill>
              </a:rPr>
              <a:t>Explain</a:t>
            </a:r>
            <a:endParaRPr lang="en-US" sz="1700" dirty="0"/>
          </a:p>
        </p:txBody>
      </p:sp>
      <p:sp>
        <p:nvSpPr>
          <p:cNvPr id="25" name="Text 18"/>
          <p:cNvSpPr txBox="1"/>
          <p:nvPr/>
        </p:nvSpPr>
        <p:spPr>
          <a:xfrm>
            <a:off x="1600200" y="4224528"/>
            <a:ext cx="2331720" cy="685800"/>
          </a:xfrm>
          <a:prstGeom prst="rect">
            <a:avLst/>
          </a:prstGeom>
          <a:noFill/>
          <a:ln/>
        </p:spPr>
        <p:txBody>
          <a:bodyPr wrap="square" lIns="0" tIns="0" rIns="0" bIns="0" rtlCol="0" anchor="t"/>
          <a:lstStyle/>
          <a:p>
            <a:pPr indent="0" marL="0">
              <a:buNone/>
            </a:pPr>
            <a:r>
              <a:rPr lang="en-US" sz="1300" dirty="0">
                <a:solidFill>
                  <a:schemeClr val="tx1"/>
                </a:solidFill>
              </a:rPr>
              <a:t>Shows the indicators behind each risk flag</a:t>
            </a:r>
            <a:endParaRPr lang="en-US" sz="1300" dirty="0"/>
          </a:p>
        </p:txBody>
      </p:sp>
      <p:sp>
        <p:nvSpPr>
          <p:cNvPr id="26" name="Card"/>
          <p:cNvSpPr/>
          <p:nvPr/>
        </p:nvSpPr>
        <p:spPr>
          <a:xfrm>
            <a:off x="4311396" y="3657600"/>
            <a:ext cx="3566160" cy="1371600"/>
          </a:xfrm>
          <a:prstGeom prst="roundRect">
            <a:avLst>
              <a:gd name="adj" fmla="val 5333"/>
            </a:avLst>
          </a:prstGeom>
          <a:solidFill>
            <a:schemeClr val="bg2"/>
          </a:solidFill>
          <a:ln/>
        </p:spPr>
      </p:sp>
      <p:sp>
        <p:nvSpPr>
          <p:cNvPr id="27" name="Icon circle"/>
          <p:cNvSpPr/>
          <p:nvPr/>
        </p:nvSpPr>
        <p:spPr>
          <a:xfrm>
            <a:off x="4539996" y="4005072"/>
            <a:ext cx="658368" cy="658368"/>
          </a:xfrm>
          <a:prstGeom prst="ellipse">
            <a:avLst/>
          </a:prstGeom>
          <a:solidFill>
            <a:schemeClr val="accent1"/>
          </a:solidFill>
          <a:ln/>
        </p:spPr>
      </p:sp>
      <p:pic>
        <p:nvPicPr>
          <p:cNvPr id="28" name="Image 4" descr="Users icon">    </p:cNvPr>
          <p:cNvPicPr>
            <a:picLocks noChangeAspect="1"/>
          </p:cNvPicPr>
          <p:nvPr/>
        </p:nvPicPr>
        <p:blipFill>
          <a:blip r:embed="rId5"/>
          <a:stretch>
            <a:fillRect/>
          </a:stretch>
        </p:blipFill>
        <p:spPr>
          <a:xfrm>
            <a:off x="4711172" y="4176248"/>
            <a:ext cx="316017" cy="316017"/>
          </a:xfrm>
          <a:prstGeom prst="rect">
            <a:avLst/>
          </a:prstGeom>
        </p:spPr>
      </p:pic>
      <p:sp>
        <p:nvSpPr>
          <p:cNvPr id="29" name="Text 21"/>
          <p:cNvSpPr txBox="1"/>
          <p:nvPr/>
        </p:nvSpPr>
        <p:spPr>
          <a:xfrm>
            <a:off x="5362956" y="3858768"/>
            <a:ext cx="2331720" cy="320040"/>
          </a:xfrm>
          <a:prstGeom prst="rect">
            <a:avLst/>
          </a:prstGeom>
          <a:noFill/>
          <a:ln/>
        </p:spPr>
        <p:txBody>
          <a:bodyPr wrap="square" lIns="0" tIns="0" rIns="0" bIns="0" rtlCol="0" anchor="t"/>
          <a:lstStyle/>
          <a:p>
            <a:pPr indent="0" marL="0">
              <a:buNone/>
            </a:pPr>
            <a:r>
              <a:rPr lang="en-US" sz="1700" b="1" dirty="0">
                <a:solidFill>
                  <a:schemeClr val="tx2"/>
                </a:solidFill>
              </a:rPr>
              <a:t>Segment</a:t>
            </a:r>
            <a:endParaRPr lang="en-US" sz="1700" dirty="0"/>
          </a:p>
        </p:txBody>
      </p:sp>
      <p:sp>
        <p:nvSpPr>
          <p:cNvPr id="30" name="Text 22"/>
          <p:cNvSpPr txBox="1"/>
          <p:nvPr/>
        </p:nvSpPr>
        <p:spPr>
          <a:xfrm>
            <a:off x="5362956" y="4224528"/>
            <a:ext cx="2331720" cy="685800"/>
          </a:xfrm>
          <a:prstGeom prst="rect">
            <a:avLst/>
          </a:prstGeom>
          <a:noFill/>
          <a:ln/>
        </p:spPr>
        <p:txBody>
          <a:bodyPr wrap="square" lIns="0" tIns="0" rIns="0" bIns="0" rtlCol="0" anchor="t"/>
          <a:lstStyle/>
          <a:p>
            <a:pPr indent="0" marL="0">
              <a:buNone/>
            </a:pPr>
            <a:r>
              <a:rPr lang="en-US" sz="1300" dirty="0">
                <a:solidFill>
                  <a:schemeClr val="tx1"/>
                </a:solidFill>
              </a:rPr>
              <a:t>Groups students by their support needs</a:t>
            </a:r>
            <a:endParaRPr lang="en-US" sz="1300" dirty="0"/>
          </a:p>
        </p:txBody>
      </p:sp>
      <p:sp>
        <p:nvSpPr>
          <p:cNvPr id="31" name="Card"/>
          <p:cNvSpPr/>
          <p:nvPr/>
        </p:nvSpPr>
        <p:spPr>
          <a:xfrm>
            <a:off x="8074152" y="3657600"/>
            <a:ext cx="3566160" cy="1371600"/>
          </a:xfrm>
          <a:prstGeom prst="roundRect">
            <a:avLst>
              <a:gd name="adj" fmla="val 5333"/>
            </a:avLst>
          </a:prstGeom>
          <a:solidFill>
            <a:schemeClr val="bg2"/>
          </a:solidFill>
          <a:ln/>
        </p:spPr>
      </p:sp>
      <p:sp>
        <p:nvSpPr>
          <p:cNvPr id="32" name="Icon circle"/>
          <p:cNvSpPr/>
          <p:nvPr/>
        </p:nvSpPr>
        <p:spPr>
          <a:xfrm>
            <a:off x="8302752" y="4005072"/>
            <a:ext cx="658368" cy="658368"/>
          </a:xfrm>
          <a:prstGeom prst="ellipse">
            <a:avLst/>
          </a:prstGeom>
          <a:solidFill>
            <a:schemeClr val="accent2"/>
          </a:solidFill>
          <a:ln/>
        </p:spPr>
      </p:sp>
      <p:pic>
        <p:nvPicPr>
          <p:cNvPr id="33" name="Image 5" descr="Lightbulb icon">    </p:cNvPr>
          <p:cNvPicPr>
            <a:picLocks noChangeAspect="1"/>
          </p:cNvPicPr>
          <p:nvPr/>
        </p:nvPicPr>
        <p:blipFill>
          <a:blip r:embed="rId6"/>
          <a:stretch>
            <a:fillRect/>
          </a:stretch>
        </p:blipFill>
        <p:spPr>
          <a:xfrm>
            <a:off x="8473928" y="4176248"/>
            <a:ext cx="316017" cy="316017"/>
          </a:xfrm>
          <a:prstGeom prst="rect">
            <a:avLst/>
          </a:prstGeom>
        </p:spPr>
      </p:pic>
      <p:sp>
        <p:nvSpPr>
          <p:cNvPr id="34" name="Text 25"/>
          <p:cNvSpPr txBox="1"/>
          <p:nvPr/>
        </p:nvSpPr>
        <p:spPr>
          <a:xfrm>
            <a:off x="9125712" y="3858768"/>
            <a:ext cx="2331720" cy="320040"/>
          </a:xfrm>
          <a:prstGeom prst="rect">
            <a:avLst/>
          </a:prstGeom>
          <a:noFill/>
          <a:ln/>
        </p:spPr>
        <p:txBody>
          <a:bodyPr wrap="square" lIns="0" tIns="0" rIns="0" bIns="0" rtlCol="0" anchor="t"/>
          <a:lstStyle/>
          <a:p>
            <a:pPr indent="0" marL="0">
              <a:buNone/>
            </a:pPr>
            <a:r>
              <a:rPr lang="en-US" sz="1700" b="1" dirty="0">
                <a:solidFill>
                  <a:schemeClr val="tx2"/>
                </a:solidFill>
              </a:rPr>
              <a:t>Recommend</a:t>
            </a:r>
            <a:endParaRPr lang="en-US" sz="1700" dirty="0"/>
          </a:p>
        </p:txBody>
      </p:sp>
      <p:sp>
        <p:nvSpPr>
          <p:cNvPr id="35" name="Text 26"/>
          <p:cNvSpPr txBox="1"/>
          <p:nvPr/>
        </p:nvSpPr>
        <p:spPr>
          <a:xfrm>
            <a:off x="9125712" y="4224528"/>
            <a:ext cx="2331720" cy="685800"/>
          </a:xfrm>
          <a:prstGeom prst="rect">
            <a:avLst/>
          </a:prstGeom>
          <a:noFill/>
          <a:ln/>
        </p:spPr>
        <p:txBody>
          <a:bodyPr wrap="square" lIns="0" tIns="0" rIns="0" bIns="0" rtlCol="0" anchor="t"/>
          <a:lstStyle/>
          <a:p>
            <a:pPr indent="0" marL="0">
              <a:buNone/>
            </a:pPr>
            <a:r>
              <a:rPr lang="en-US" sz="1300" dirty="0">
                <a:solidFill>
                  <a:schemeClr val="tx1"/>
                </a:solidFill>
              </a:rPr>
              <a:t>Targeted interventions for faculty and administrators</a:t>
            </a:r>
            <a:endParaRPr lang="en-US" sz="1300" dirty="0"/>
          </a:p>
        </p:txBody>
      </p:sp>
      <p:sp>
        <p:nvSpPr>
          <p:cNvPr id="36" name="Card"/>
          <p:cNvSpPr/>
          <p:nvPr/>
        </p:nvSpPr>
        <p:spPr>
          <a:xfrm>
            <a:off x="548640" y="5303520"/>
            <a:ext cx="11091672" cy="777240"/>
          </a:xfrm>
          <a:prstGeom prst="roundRect">
            <a:avLst>
              <a:gd name="adj" fmla="val 9412"/>
            </a:avLst>
          </a:prstGeom>
          <a:solidFill>
            <a:schemeClr val="tx2"/>
          </a:solidFill>
          <a:ln/>
        </p:spPr>
      </p:sp>
      <p:sp>
        <p:nvSpPr>
          <p:cNvPr id="37" name="Text 28"/>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700" b="1" dirty="0">
                <a:solidFill>
                  <a:srgbClr val="3FD0C9"/>
                </a:solidFill>
              </a:rPr>
              <a:t>Core value: </a:t>
            </a:r>
            <a:pPr indent="0" marL="0">
              <a:buNone/>
            </a:pPr>
            <a:r>
              <a:rPr lang="en-US" sz="1700" dirty="0">
                <a:solidFill>
                  <a:schemeClr val="bg1"/>
                </a:solidFill>
              </a:rPr>
              <a:t>move from reporting student performance to supporting timely, data-informed decisions.</a:t>
            </a:r>
            <a:endParaRPr lang="en-US" sz="17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THE CHALLENGE</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The Smart Campus analytics opportunity</a:t>
            </a:r>
            <a:endParaRPr lang="en-US" sz="3000" dirty="0"/>
          </a:p>
        </p:txBody>
      </p:sp>
      <p:sp>
        <p:nvSpPr>
          <p:cNvPr id="5" name="Text 2"/>
          <p:cNvSpPr txBox="1"/>
          <p:nvPr/>
        </p:nvSpPr>
        <p:spPr>
          <a:xfrm>
            <a:off x="548640" y="1463040"/>
            <a:ext cx="4572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DATA SOURCES ACROSS THE CAMPUS</a:t>
            </a:r>
            <a:endParaRPr lang="en-US" sz="1200" dirty="0"/>
          </a:p>
        </p:txBody>
      </p:sp>
      <p:sp>
        <p:nvSpPr>
          <p:cNvPr id="6" name="Card"/>
          <p:cNvSpPr/>
          <p:nvPr/>
        </p:nvSpPr>
        <p:spPr>
          <a:xfrm>
            <a:off x="548640" y="1828800"/>
            <a:ext cx="4846320" cy="502920"/>
          </a:xfrm>
          <a:prstGeom prst="roundRect">
            <a:avLst>
              <a:gd name="adj" fmla="val 14545"/>
            </a:avLst>
          </a:prstGeom>
          <a:solidFill>
            <a:schemeClr val="bg2"/>
          </a:solidFill>
          <a:ln/>
        </p:spPr>
      </p:sp>
      <p:sp>
        <p:nvSpPr>
          <p:cNvPr id="7" name="Icon circle"/>
          <p:cNvSpPr/>
          <p:nvPr/>
        </p:nvSpPr>
        <p:spPr>
          <a:xfrm>
            <a:off x="658368" y="1901952"/>
            <a:ext cx="365760" cy="365760"/>
          </a:xfrm>
          <a:prstGeom prst="ellipse">
            <a:avLst/>
          </a:prstGeom>
          <a:solidFill>
            <a:schemeClr val="accent1"/>
          </a:solidFill>
          <a:ln/>
        </p:spPr>
      </p:sp>
      <p:pic>
        <p:nvPicPr>
          <p:cNvPr id="8" name="Image 0" descr="GraduationCap icon">    </p:cNvPr>
          <p:cNvPicPr>
            <a:picLocks noChangeAspect="1"/>
          </p:cNvPicPr>
          <p:nvPr/>
        </p:nvPicPr>
        <p:blipFill>
          <a:blip r:embed="rId1"/>
          <a:stretch>
            <a:fillRect/>
          </a:stretch>
        </p:blipFill>
        <p:spPr>
          <a:xfrm>
            <a:off x="753466" y="1997050"/>
            <a:ext cx="175565" cy="175565"/>
          </a:xfrm>
          <a:prstGeom prst="rect">
            <a:avLst/>
          </a:prstGeom>
        </p:spPr>
      </p:pic>
      <p:sp>
        <p:nvSpPr>
          <p:cNvPr id="9" name="Text 5"/>
          <p:cNvSpPr txBox="1"/>
          <p:nvPr/>
        </p:nvSpPr>
        <p:spPr>
          <a:xfrm>
            <a:off x="1188720" y="1828800"/>
            <a:ext cx="4114800" cy="502920"/>
          </a:xfrm>
          <a:prstGeom prst="rect">
            <a:avLst/>
          </a:prstGeom>
          <a:noFill/>
          <a:ln/>
        </p:spPr>
        <p:txBody>
          <a:bodyPr wrap="square" lIns="0" tIns="0" rIns="0" bIns="0" rtlCol="0" anchor="ctr"/>
          <a:lstStyle/>
          <a:p>
            <a:pPr indent="0" marL="0">
              <a:buNone/>
            </a:pPr>
            <a:r>
              <a:rPr lang="en-US" sz="1400" dirty="0">
                <a:solidFill>
                  <a:schemeClr val="tx1"/>
                </a:solidFill>
              </a:rPr>
              <a:t>Academic assessments and examinations</a:t>
            </a:r>
            <a:endParaRPr lang="en-US" sz="1400" dirty="0"/>
          </a:p>
        </p:txBody>
      </p:sp>
      <p:sp>
        <p:nvSpPr>
          <p:cNvPr id="10" name="Card"/>
          <p:cNvSpPr/>
          <p:nvPr/>
        </p:nvSpPr>
        <p:spPr>
          <a:xfrm>
            <a:off x="548640" y="2423160"/>
            <a:ext cx="4846320" cy="502920"/>
          </a:xfrm>
          <a:prstGeom prst="roundRect">
            <a:avLst>
              <a:gd name="adj" fmla="val 14545"/>
            </a:avLst>
          </a:prstGeom>
          <a:solidFill>
            <a:schemeClr val="bg2"/>
          </a:solidFill>
          <a:ln/>
        </p:spPr>
      </p:sp>
      <p:sp>
        <p:nvSpPr>
          <p:cNvPr id="11" name="Icon circle"/>
          <p:cNvSpPr/>
          <p:nvPr/>
        </p:nvSpPr>
        <p:spPr>
          <a:xfrm>
            <a:off x="658368" y="2496312"/>
            <a:ext cx="365760" cy="365760"/>
          </a:xfrm>
          <a:prstGeom prst="ellipse">
            <a:avLst/>
          </a:prstGeom>
          <a:solidFill>
            <a:schemeClr val="accent1"/>
          </a:solidFill>
          <a:ln/>
        </p:spPr>
      </p:sp>
      <p:pic>
        <p:nvPicPr>
          <p:cNvPr id="12" name="Image 1" descr="ClipboardCheck icon">    </p:cNvPr>
          <p:cNvPicPr>
            <a:picLocks noChangeAspect="1"/>
          </p:cNvPicPr>
          <p:nvPr/>
        </p:nvPicPr>
        <p:blipFill>
          <a:blip r:embed="rId2"/>
          <a:stretch>
            <a:fillRect/>
          </a:stretch>
        </p:blipFill>
        <p:spPr>
          <a:xfrm>
            <a:off x="753466" y="2591410"/>
            <a:ext cx="175565" cy="175565"/>
          </a:xfrm>
          <a:prstGeom prst="rect">
            <a:avLst/>
          </a:prstGeom>
        </p:spPr>
      </p:pic>
      <p:sp>
        <p:nvSpPr>
          <p:cNvPr id="13" name="Text 8"/>
          <p:cNvSpPr txBox="1"/>
          <p:nvPr/>
        </p:nvSpPr>
        <p:spPr>
          <a:xfrm>
            <a:off x="1188720" y="2423160"/>
            <a:ext cx="4114800" cy="502920"/>
          </a:xfrm>
          <a:prstGeom prst="rect">
            <a:avLst/>
          </a:prstGeom>
          <a:noFill/>
          <a:ln/>
        </p:spPr>
        <p:txBody>
          <a:bodyPr wrap="square" lIns="0" tIns="0" rIns="0" bIns="0" rtlCol="0" anchor="ctr"/>
          <a:lstStyle/>
          <a:p>
            <a:pPr indent="0" marL="0">
              <a:buNone/>
            </a:pPr>
            <a:r>
              <a:rPr lang="en-US" sz="1400" dirty="0">
                <a:solidFill>
                  <a:schemeClr val="tx1"/>
                </a:solidFill>
              </a:rPr>
              <a:t>Attendance records</a:t>
            </a:r>
            <a:endParaRPr lang="en-US" sz="1400" dirty="0"/>
          </a:p>
        </p:txBody>
      </p:sp>
      <p:sp>
        <p:nvSpPr>
          <p:cNvPr id="14" name="Card"/>
          <p:cNvSpPr/>
          <p:nvPr/>
        </p:nvSpPr>
        <p:spPr>
          <a:xfrm>
            <a:off x="548640" y="3017520"/>
            <a:ext cx="4846320" cy="502920"/>
          </a:xfrm>
          <a:prstGeom prst="roundRect">
            <a:avLst>
              <a:gd name="adj" fmla="val 14545"/>
            </a:avLst>
          </a:prstGeom>
          <a:solidFill>
            <a:schemeClr val="bg2"/>
          </a:solidFill>
          <a:ln/>
        </p:spPr>
      </p:sp>
      <p:sp>
        <p:nvSpPr>
          <p:cNvPr id="15" name="Icon circle"/>
          <p:cNvSpPr/>
          <p:nvPr/>
        </p:nvSpPr>
        <p:spPr>
          <a:xfrm>
            <a:off x="658368" y="3090672"/>
            <a:ext cx="365760" cy="365760"/>
          </a:xfrm>
          <a:prstGeom prst="ellipse">
            <a:avLst/>
          </a:prstGeom>
          <a:solidFill>
            <a:schemeClr val="accent1"/>
          </a:solidFill>
          <a:ln/>
        </p:spPr>
      </p:sp>
      <p:pic>
        <p:nvPicPr>
          <p:cNvPr id="16" name="Image 2" descr="Laptop icon">    </p:cNvPr>
          <p:cNvPicPr>
            <a:picLocks noChangeAspect="1"/>
          </p:cNvPicPr>
          <p:nvPr/>
        </p:nvPicPr>
        <p:blipFill>
          <a:blip r:embed="rId3"/>
          <a:stretch>
            <a:fillRect/>
          </a:stretch>
        </p:blipFill>
        <p:spPr>
          <a:xfrm>
            <a:off x="753466" y="3185770"/>
            <a:ext cx="175565" cy="175565"/>
          </a:xfrm>
          <a:prstGeom prst="rect">
            <a:avLst/>
          </a:prstGeom>
        </p:spPr>
      </p:pic>
      <p:sp>
        <p:nvSpPr>
          <p:cNvPr id="17" name="Text 11"/>
          <p:cNvSpPr txBox="1"/>
          <p:nvPr/>
        </p:nvSpPr>
        <p:spPr>
          <a:xfrm>
            <a:off x="1188720" y="3017520"/>
            <a:ext cx="4114800" cy="502920"/>
          </a:xfrm>
          <a:prstGeom prst="rect">
            <a:avLst/>
          </a:prstGeom>
          <a:noFill/>
          <a:ln/>
        </p:spPr>
        <p:txBody>
          <a:bodyPr wrap="square" lIns="0" tIns="0" rIns="0" bIns="0" rtlCol="0" anchor="ctr"/>
          <a:lstStyle/>
          <a:p>
            <a:pPr indent="0" marL="0">
              <a:buNone/>
            </a:pPr>
            <a:r>
              <a:rPr lang="en-US" sz="1400" dirty="0">
                <a:solidFill>
                  <a:schemeClr val="tx1"/>
                </a:solidFill>
              </a:rPr>
              <a:t>Learning Management System (LMS) activity</a:t>
            </a:r>
            <a:endParaRPr lang="en-US" sz="1400" dirty="0"/>
          </a:p>
        </p:txBody>
      </p:sp>
      <p:sp>
        <p:nvSpPr>
          <p:cNvPr id="18" name="Card"/>
          <p:cNvSpPr/>
          <p:nvPr/>
        </p:nvSpPr>
        <p:spPr>
          <a:xfrm>
            <a:off x="548640" y="3611880"/>
            <a:ext cx="4846320" cy="502920"/>
          </a:xfrm>
          <a:prstGeom prst="roundRect">
            <a:avLst>
              <a:gd name="adj" fmla="val 14545"/>
            </a:avLst>
          </a:prstGeom>
          <a:solidFill>
            <a:schemeClr val="bg2"/>
          </a:solidFill>
          <a:ln/>
        </p:spPr>
      </p:sp>
      <p:sp>
        <p:nvSpPr>
          <p:cNvPr id="19" name="Icon circle"/>
          <p:cNvSpPr/>
          <p:nvPr/>
        </p:nvSpPr>
        <p:spPr>
          <a:xfrm>
            <a:off x="658368" y="3685032"/>
            <a:ext cx="365760" cy="365760"/>
          </a:xfrm>
          <a:prstGeom prst="ellipse">
            <a:avLst/>
          </a:prstGeom>
          <a:solidFill>
            <a:schemeClr val="accent1"/>
          </a:solidFill>
          <a:ln/>
        </p:spPr>
      </p:sp>
      <p:pic>
        <p:nvPicPr>
          <p:cNvPr id="20" name="Image 3" descr="Users icon">    </p:cNvPr>
          <p:cNvPicPr>
            <a:picLocks noChangeAspect="1"/>
          </p:cNvPicPr>
          <p:nvPr/>
        </p:nvPicPr>
        <p:blipFill>
          <a:blip r:embed="rId4"/>
          <a:stretch>
            <a:fillRect/>
          </a:stretch>
        </p:blipFill>
        <p:spPr>
          <a:xfrm>
            <a:off x="753466" y="3780130"/>
            <a:ext cx="175565" cy="175565"/>
          </a:xfrm>
          <a:prstGeom prst="rect">
            <a:avLst/>
          </a:prstGeom>
        </p:spPr>
      </p:pic>
      <p:sp>
        <p:nvSpPr>
          <p:cNvPr id="21" name="Text 14"/>
          <p:cNvSpPr txBox="1"/>
          <p:nvPr/>
        </p:nvSpPr>
        <p:spPr>
          <a:xfrm>
            <a:off x="1188720" y="3611880"/>
            <a:ext cx="4114800" cy="502920"/>
          </a:xfrm>
          <a:prstGeom prst="rect">
            <a:avLst/>
          </a:prstGeom>
          <a:noFill/>
          <a:ln/>
        </p:spPr>
        <p:txBody>
          <a:bodyPr wrap="square" lIns="0" tIns="0" rIns="0" bIns="0" rtlCol="0" anchor="ctr"/>
          <a:lstStyle/>
          <a:p>
            <a:pPr indent="0" marL="0">
              <a:buNone/>
            </a:pPr>
            <a:r>
              <a:rPr lang="en-US" sz="1400" dirty="0">
                <a:solidFill>
                  <a:schemeClr val="tx1"/>
                </a:solidFill>
              </a:rPr>
              <a:t>Extracurricular engagement</a:t>
            </a:r>
            <a:endParaRPr lang="en-US" sz="1400" dirty="0"/>
          </a:p>
        </p:txBody>
      </p:sp>
      <p:sp>
        <p:nvSpPr>
          <p:cNvPr id="22" name="Card"/>
          <p:cNvSpPr/>
          <p:nvPr/>
        </p:nvSpPr>
        <p:spPr>
          <a:xfrm>
            <a:off x="548640" y="4206240"/>
            <a:ext cx="4846320" cy="502920"/>
          </a:xfrm>
          <a:prstGeom prst="roundRect">
            <a:avLst>
              <a:gd name="adj" fmla="val 14545"/>
            </a:avLst>
          </a:prstGeom>
          <a:solidFill>
            <a:schemeClr val="bg2"/>
          </a:solidFill>
          <a:ln/>
        </p:spPr>
      </p:sp>
      <p:sp>
        <p:nvSpPr>
          <p:cNvPr id="23" name="Icon circle"/>
          <p:cNvSpPr/>
          <p:nvPr/>
        </p:nvSpPr>
        <p:spPr>
          <a:xfrm>
            <a:off x="658368" y="4279392"/>
            <a:ext cx="365760" cy="365760"/>
          </a:xfrm>
          <a:prstGeom prst="ellipse">
            <a:avLst/>
          </a:prstGeom>
          <a:solidFill>
            <a:schemeClr val="accent1"/>
          </a:solidFill>
          <a:ln/>
        </p:spPr>
      </p:sp>
      <p:pic>
        <p:nvPicPr>
          <p:cNvPr id="24" name="Image 4" descr="Briefcase icon">    </p:cNvPr>
          <p:cNvPicPr>
            <a:picLocks noChangeAspect="1"/>
          </p:cNvPicPr>
          <p:nvPr/>
        </p:nvPicPr>
        <p:blipFill>
          <a:blip r:embed="rId5"/>
          <a:stretch>
            <a:fillRect/>
          </a:stretch>
        </p:blipFill>
        <p:spPr>
          <a:xfrm>
            <a:off x="753466" y="4374490"/>
            <a:ext cx="175565" cy="175565"/>
          </a:xfrm>
          <a:prstGeom prst="rect">
            <a:avLst/>
          </a:prstGeom>
        </p:spPr>
      </p:pic>
      <p:sp>
        <p:nvSpPr>
          <p:cNvPr id="25" name="Text 17"/>
          <p:cNvSpPr txBox="1"/>
          <p:nvPr/>
        </p:nvSpPr>
        <p:spPr>
          <a:xfrm>
            <a:off x="1188720" y="4206240"/>
            <a:ext cx="4114800" cy="502920"/>
          </a:xfrm>
          <a:prstGeom prst="rect">
            <a:avLst/>
          </a:prstGeom>
          <a:noFill/>
          <a:ln/>
        </p:spPr>
        <p:txBody>
          <a:bodyPr wrap="square" lIns="0" tIns="0" rIns="0" bIns="0" rtlCol="0" anchor="ctr"/>
          <a:lstStyle/>
          <a:p>
            <a:pPr indent="0" marL="0">
              <a:buNone/>
            </a:pPr>
            <a:r>
              <a:rPr lang="en-US" sz="1400" dirty="0">
                <a:solidFill>
                  <a:schemeClr val="tx1"/>
                </a:solidFill>
              </a:rPr>
              <a:t>Placement preparation</a:t>
            </a:r>
            <a:endParaRPr lang="en-US" sz="1400" dirty="0"/>
          </a:p>
        </p:txBody>
      </p:sp>
      <p:sp>
        <p:nvSpPr>
          <p:cNvPr id="26" name="Card"/>
          <p:cNvSpPr/>
          <p:nvPr/>
        </p:nvSpPr>
        <p:spPr>
          <a:xfrm>
            <a:off x="548640" y="4800600"/>
            <a:ext cx="4846320" cy="502920"/>
          </a:xfrm>
          <a:prstGeom prst="roundRect">
            <a:avLst>
              <a:gd name="adj" fmla="val 14545"/>
            </a:avLst>
          </a:prstGeom>
          <a:solidFill>
            <a:schemeClr val="bg2"/>
          </a:solidFill>
          <a:ln/>
        </p:spPr>
      </p:sp>
      <p:sp>
        <p:nvSpPr>
          <p:cNvPr id="27" name="Icon circle"/>
          <p:cNvSpPr/>
          <p:nvPr/>
        </p:nvSpPr>
        <p:spPr>
          <a:xfrm>
            <a:off x="658368" y="4873752"/>
            <a:ext cx="365760" cy="365760"/>
          </a:xfrm>
          <a:prstGeom prst="ellipse">
            <a:avLst/>
          </a:prstGeom>
          <a:solidFill>
            <a:schemeClr val="accent1"/>
          </a:solidFill>
          <a:ln/>
        </p:spPr>
      </p:sp>
      <p:pic>
        <p:nvPicPr>
          <p:cNvPr id="28" name="Image 5" descr="Code icon">    </p:cNvPr>
          <p:cNvPicPr>
            <a:picLocks noChangeAspect="1"/>
          </p:cNvPicPr>
          <p:nvPr/>
        </p:nvPicPr>
        <p:blipFill>
          <a:blip r:embed="rId6"/>
          <a:stretch>
            <a:fillRect/>
          </a:stretch>
        </p:blipFill>
        <p:spPr>
          <a:xfrm>
            <a:off x="753466" y="4968850"/>
            <a:ext cx="175565" cy="175565"/>
          </a:xfrm>
          <a:prstGeom prst="rect">
            <a:avLst/>
          </a:prstGeom>
        </p:spPr>
      </p:pic>
      <p:sp>
        <p:nvSpPr>
          <p:cNvPr id="29" name="Text 20"/>
          <p:cNvSpPr txBox="1"/>
          <p:nvPr/>
        </p:nvSpPr>
        <p:spPr>
          <a:xfrm>
            <a:off x="1188720" y="4800600"/>
            <a:ext cx="4114800" cy="502920"/>
          </a:xfrm>
          <a:prstGeom prst="rect">
            <a:avLst/>
          </a:prstGeom>
          <a:noFill/>
          <a:ln/>
        </p:spPr>
        <p:txBody>
          <a:bodyPr wrap="square" lIns="0" tIns="0" rIns="0" bIns="0" rtlCol="0" anchor="ctr"/>
          <a:lstStyle/>
          <a:p>
            <a:pPr indent="0" marL="0">
              <a:buNone/>
            </a:pPr>
            <a:r>
              <a:rPr lang="en-US" sz="1400" dirty="0">
                <a:solidFill>
                  <a:schemeClr val="tx1"/>
                </a:solidFill>
              </a:rPr>
              <a:t>Technical and soft skills</a:t>
            </a:r>
            <a:endParaRPr lang="en-US" sz="1400" dirty="0"/>
          </a:p>
        </p:txBody>
      </p:sp>
      <p:sp>
        <p:nvSpPr>
          <p:cNvPr id="30" name="Card"/>
          <p:cNvSpPr/>
          <p:nvPr/>
        </p:nvSpPr>
        <p:spPr>
          <a:xfrm>
            <a:off x="548640" y="5394960"/>
            <a:ext cx="4846320" cy="502920"/>
          </a:xfrm>
          <a:prstGeom prst="roundRect">
            <a:avLst>
              <a:gd name="adj" fmla="val 14545"/>
            </a:avLst>
          </a:prstGeom>
          <a:solidFill>
            <a:schemeClr val="bg2"/>
          </a:solidFill>
          <a:ln/>
        </p:spPr>
      </p:sp>
      <p:sp>
        <p:nvSpPr>
          <p:cNvPr id="31" name="Icon circle"/>
          <p:cNvSpPr/>
          <p:nvPr/>
        </p:nvSpPr>
        <p:spPr>
          <a:xfrm>
            <a:off x="658368" y="5468112"/>
            <a:ext cx="365760" cy="365760"/>
          </a:xfrm>
          <a:prstGeom prst="ellipse">
            <a:avLst/>
          </a:prstGeom>
          <a:solidFill>
            <a:schemeClr val="accent1"/>
          </a:solidFill>
          <a:ln/>
        </p:spPr>
      </p:sp>
      <p:pic>
        <p:nvPicPr>
          <p:cNvPr id="32" name="Image 6" descr="CommentDots icon">    </p:cNvPr>
          <p:cNvPicPr>
            <a:picLocks noChangeAspect="1"/>
          </p:cNvPicPr>
          <p:nvPr/>
        </p:nvPicPr>
        <p:blipFill>
          <a:blip r:embed="rId7"/>
          <a:stretch>
            <a:fillRect/>
          </a:stretch>
        </p:blipFill>
        <p:spPr>
          <a:xfrm>
            <a:off x="753466" y="5563210"/>
            <a:ext cx="175565" cy="175565"/>
          </a:xfrm>
          <a:prstGeom prst="rect">
            <a:avLst/>
          </a:prstGeom>
        </p:spPr>
      </p:pic>
      <p:sp>
        <p:nvSpPr>
          <p:cNvPr id="33" name="Text 23"/>
          <p:cNvSpPr txBox="1"/>
          <p:nvPr/>
        </p:nvSpPr>
        <p:spPr>
          <a:xfrm>
            <a:off x="1188720" y="5394960"/>
            <a:ext cx="4114800" cy="502920"/>
          </a:xfrm>
          <a:prstGeom prst="rect">
            <a:avLst/>
          </a:prstGeom>
          <a:noFill/>
          <a:ln/>
        </p:spPr>
        <p:txBody>
          <a:bodyPr wrap="square" lIns="0" tIns="0" rIns="0" bIns="0" rtlCol="0" anchor="ctr"/>
          <a:lstStyle/>
          <a:p>
            <a:pPr indent="0" marL="0">
              <a:buNone/>
            </a:pPr>
            <a:r>
              <a:rPr lang="en-US" sz="1400" dirty="0">
                <a:solidFill>
                  <a:schemeClr val="tx1"/>
                </a:solidFill>
              </a:rPr>
              <a:t>Student and faculty feedback</a:t>
            </a:r>
            <a:endParaRPr lang="en-US" sz="1400" dirty="0"/>
          </a:p>
        </p:txBody>
      </p:sp>
      <p:sp>
        <p:nvSpPr>
          <p:cNvPr id="34" name="Connector"/>
          <p:cNvSpPr/>
          <p:nvPr/>
        </p:nvSpPr>
        <p:spPr>
          <a:xfrm>
            <a:off x="5532120" y="3886200"/>
            <a:ext cx="640080" cy="0"/>
          </a:xfrm>
          <a:prstGeom prst="line">
            <a:avLst/>
          </a:prstGeom>
          <a:noFill/>
          <a:ln w="31750">
            <a:solidFill>
              <a:schemeClr val="accent6"/>
            </a:solidFill>
            <a:prstDash val="solid"/>
            <a:tailEnd type="triangle"/>
          </a:ln>
        </p:spPr>
      </p:sp>
      <p:sp>
        <p:nvSpPr>
          <p:cNvPr id="35" name="Card"/>
          <p:cNvSpPr/>
          <p:nvPr/>
        </p:nvSpPr>
        <p:spPr>
          <a:xfrm>
            <a:off x="6309360" y="1828800"/>
            <a:ext cx="5330952" cy="4114800"/>
          </a:xfrm>
          <a:prstGeom prst="roundRect">
            <a:avLst>
              <a:gd name="adj" fmla="val 2667"/>
            </a:avLst>
          </a:prstGeom>
          <a:solidFill>
            <a:schemeClr val="tx2"/>
          </a:solidFill>
          <a:ln/>
        </p:spPr>
      </p:sp>
      <p:sp>
        <p:nvSpPr>
          <p:cNvPr id="36" name="Icon circle"/>
          <p:cNvSpPr/>
          <p:nvPr/>
        </p:nvSpPr>
        <p:spPr>
          <a:xfrm>
            <a:off x="6675120" y="2194560"/>
            <a:ext cx="822960" cy="822960"/>
          </a:xfrm>
          <a:prstGeom prst="ellipse">
            <a:avLst/>
          </a:prstGeom>
          <a:solidFill>
            <a:schemeClr val="accent1"/>
          </a:solidFill>
          <a:ln/>
        </p:spPr>
      </p:sp>
      <p:pic>
        <p:nvPicPr>
          <p:cNvPr id="37" name="Image 7" descr="Lightbulb icon">    </p:cNvPr>
          <p:cNvPicPr>
            <a:picLocks noChangeAspect="1"/>
          </p:cNvPicPr>
          <p:nvPr/>
        </p:nvPicPr>
        <p:blipFill>
          <a:blip r:embed="rId8"/>
          <a:stretch>
            <a:fillRect/>
          </a:stretch>
        </p:blipFill>
        <p:spPr>
          <a:xfrm>
            <a:off x="6889090" y="2408530"/>
            <a:ext cx="395021" cy="395021"/>
          </a:xfrm>
          <a:prstGeom prst="rect">
            <a:avLst/>
          </a:prstGeom>
        </p:spPr>
      </p:pic>
      <p:sp>
        <p:nvSpPr>
          <p:cNvPr id="38" name="Text 27"/>
          <p:cNvSpPr txBox="1"/>
          <p:nvPr/>
        </p:nvSpPr>
        <p:spPr>
          <a:xfrm>
            <a:off x="6675120" y="3200400"/>
            <a:ext cx="4572000" cy="274320"/>
          </a:xfrm>
          <a:prstGeom prst="rect">
            <a:avLst/>
          </a:prstGeom>
          <a:noFill/>
          <a:ln/>
        </p:spPr>
        <p:txBody>
          <a:bodyPr wrap="square" lIns="0" tIns="0" rIns="0" bIns="0" rtlCol="0" anchor="t"/>
          <a:lstStyle/>
          <a:p>
            <a:pPr indent="0" marL="0">
              <a:buNone/>
            </a:pPr>
            <a:r>
              <a:rPr lang="en-US" sz="1200" b="1" spc="200" kern="0" dirty="0">
                <a:solidFill>
                  <a:srgbClr val="3FD0C9"/>
                </a:solidFill>
              </a:rPr>
              <a:t>THE CHALLENGE</a:t>
            </a:r>
            <a:endParaRPr lang="en-US" sz="1200" dirty="0"/>
          </a:p>
        </p:txBody>
      </p:sp>
      <p:sp>
        <p:nvSpPr>
          <p:cNvPr id="39" name="Text 28"/>
          <p:cNvSpPr txBox="1"/>
          <p:nvPr/>
        </p:nvSpPr>
        <p:spPr>
          <a:xfrm>
            <a:off x="6675120" y="3566160"/>
            <a:ext cx="4572000" cy="2011680"/>
          </a:xfrm>
          <a:prstGeom prst="rect">
            <a:avLst/>
          </a:prstGeom>
          <a:noFill/>
          <a:ln/>
        </p:spPr>
        <p:txBody>
          <a:bodyPr wrap="square" lIns="0" tIns="0" rIns="0" bIns="0" rtlCol="0" anchor="t"/>
          <a:lstStyle/>
          <a:p>
            <a:pPr indent="0" marL="0">
              <a:buNone/>
            </a:pPr>
            <a:r>
              <a:rPr lang="en-US" sz="2200" dirty="0">
                <a:solidFill>
                  <a:schemeClr val="bg1"/>
                </a:solidFill>
              </a:rPr>
              <a:t>Convert disconnected student information into meaningful insights that help administrators improve student success.</a:t>
            </a:r>
            <a:endParaRPr lang="en-US" sz="22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THE PROBLEM</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Why traditional student reporting is not enough</a:t>
            </a:r>
            <a:endParaRPr lang="en-US" sz="3000" dirty="0"/>
          </a:p>
        </p:txBody>
      </p:sp>
      <p:sp>
        <p:nvSpPr>
          <p:cNvPr id="5" name="Card"/>
          <p:cNvSpPr/>
          <p:nvPr/>
        </p:nvSpPr>
        <p:spPr>
          <a:xfrm>
            <a:off x="548640" y="1508760"/>
            <a:ext cx="3566160" cy="1554480"/>
          </a:xfrm>
          <a:prstGeom prst="roundRect">
            <a:avLst>
              <a:gd name="adj" fmla="val 4706"/>
            </a:avLst>
          </a:prstGeom>
          <a:solidFill>
            <a:schemeClr val="bg2"/>
          </a:solidFill>
          <a:ln/>
        </p:spPr>
      </p:sp>
      <p:sp>
        <p:nvSpPr>
          <p:cNvPr id="6" name="Icon circle"/>
          <p:cNvSpPr/>
          <p:nvPr/>
        </p:nvSpPr>
        <p:spPr>
          <a:xfrm>
            <a:off x="777240" y="1737360"/>
            <a:ext cx="566928" cy="566928"/>
          </a:xfrm>
          <a:prstGeom prst="ellipse">
            <a:avLst/>
          </a:prstGeom>
          <a:solidFill>
            <a:schemeClr val="accent2"/>
          </a:solidFill>
          <a:ln/>
        </p:spPr>
      </p:sp>
      <p:pic>
        <p:nvPicPr>
          <p:cNvPr id="7" name="Image 0" descr="Database icon">    </p:cNvPr>
          <p:cNvPicPr>
            <a:picLocks noChangeAspect="1"/>
          </p:cNvPicPr>
          <p:nvPr/>
        </p:nvPicPr>
        <p:blipFill>
          <a:blip r:embed="rId1"/>
          <a:stretch>
            <a:fillRect/>
          </a:stretch>
        </p:blipFill>
        <p:spPr>
          <a:xfrm>
            <a:off x="924641" y="1884761"/>
            <a:ext cx="272125" cy="272125"/>
          </a:xfrm>
          <a:prstGeom prst="rect">
            <a:avLst/>
          </a:prstGeom>
        </p:spPr>
      </p:pic>
      <p:sp>
        <p:nvSpPr>
          <p:cNvPr id="8" name="Text 4"/>
          <p:cNvSpPr txBox="1"/>
          <p:nvPr/>
        </p:nvSpPr>
        <p:spPr>
          <a:xfrm>
            <a:off x="777240" y="2423160"/>
            <a:ext cx="3108960" cy="548640"/>
          </a:xfrm>
          <a:prstGeom prst="rect">
            <a:avLst/>
          </a:prstGeom>
          <a:noFill/>
          <a:ln/>
        </p:spPr>
        <p:txBody>
          <a:bodyPr wrap="square" lIns="0" tIns="0" rIns="0" bIns="0" rtlCol="0" anchor="t"/>
          <a:lstStyle/>
          <a:p>
            <a:pPr indent="0" marL="0">
              <a:buNone/>
            </a:pPr>
            <a:r>
              <a:rPr lang="en-US" sz="1500" b="1" dirty="0">
                <a:solidFill>
                  <a:schemeClr val="tx2"/>
                </a:solidFill>
              </a:rPr>
              <a:t>Student data sits in separate files and systems</a:t>
            </a:r>
            <a:endParaRPr lang="en-US" sz="1500" dirty="0"/>
          </a:p>
        </p:txBody>
      </p:sp>
      <p:sp>
        <p:nvSpPr>
          <p:cNvPr id="9" name="Card"/>
          <p:cNvSpPr/>
          <p:nvPr/>
        </p:nvSpPr>
        <p:spPr>
          <a:xfrm>
            <a:off x="4311396" y="1508760"/>
            <a:ext cx="3566160" cy="1554480"/>
          </a:xfrm>
          <a:prstGeom prst="roundRect">
            <a:avLst>
              <a:gd name="adj" fmla="val 4706"/>
            </a:avLst>
          </a:prstGeom>
          <a:solidFill>
            <a:schemeClr val="bg2"/>
          </a:solidFill>
          <a:ln/>
        </p:spPr>
      </p:sp>
      <p:sp>
        <p:nvSpPr>
          <p:cNvPr id="10" name="Icon circle"/>
          <p:cNvSpPr/>
          <p:nvPr/>
        </p:nvSpPr>
        <p:spPr>
          <a:xfrm>
            <a:off x="4539996" y="1737360"/>
            <a:ext cx="566928" cy="566928"/>
          </a:xfrm>
          <a:prstGeom prst="ellipse">
            <a:avLst/>
          </a:prstGeom>
          <a:solidFill>
            <a:schemeClr val="accent2"/>
          </a:solidFill>
          <a:ln/>
        </p:spPr>
      </p:sp>
      <p:pic>
        <p:nvPicPr>
          <p:cNvPr id="11" name="Image 1" descr="Briefcase icon">    </p:cNvPr>
          <p:cNvPicPr>
            <a:picLocks noChangeAspect="1"/>
          </p:cNvPicPr>
          <p:nvPr/>
        </p:nvPicPr>
        <p:blipFill>
          <a:blip r:embed="rId2"/>
          <a:stretch>
            <a:fillRect/>
          </a:stretch>
        </p:blipFill>
        <p:spPr>
          <a:xfrm>
            <a:off x="4687397" y="1884761"/>
            <a:ext cx="272125" cy="272125"/>
          </a:xfrm>
          <a:prstGeom prst="rect">
            <a:avLst/>
          </a:prstGeom>
        </p:spPr>
      </p:pic>
      <p:sp>
        <p:nvSpPr>
          <p:cNvPr id="12" name="Text 7"/>
          <p:cNvSpPr txBox="1"/>
          <p:nvPr/>
        </p:nvSpPr>
        <p:spPr>
          <a:xfrm>
            <a:off x="4539996" y="2423160"/>
            <a:ext cx="3108960" cy="548640"/>
          </a:xfrm>
          <a:prstGeom prst="rect">
            <a:avLst/>
          </a:prstGeom>
          <a:noFill/>
          <a:ln/>
        </p:spPr>
        <p:txBody>
          <a:bodyPr wrap="square" lIns="0" tIns="0" rIns="0" bIns="0" rtlCol="0" anchor="t"/>
          <a:lstStyle/>
          <a:p>
            <a:pPr indent="0" marL="0">
              <a:buNone/>
            </a:pPr>
            <a:r>
              <a:rPr lang="en-US" sz="1500" b="1" dirty="0">
                <a:solidFill>
                  <a:schemeClr val="tx2"/>
                </a:solidFill>
              </a:rPr>
              <a:t>Academic marks alone do not show placement readiness</a:t>
            </a:r>
            <a:endParaRPr lang="en-US" sz="1500" dirty="0"/>
          </a:p>
        </p:txBody>
      </p:sp>
      <p:sp>
        <p:nvSpPr>
          <p:cNvPr id="13" name="Card"/>
          <p:cNvSpPr/>
          <p:nvPr/>
        </p:nvSpPr>
        <p:spPr>
          <a:xfrm>
            <a:off x="8074152" y="1508760"/>
            <a:ext cx="3566160" cy="1554480"/>
          </a:xfrm>
          <a:prstGeom prst="roundRect">
            <a:avLst>
              <a:gd name="adj" fmla="val 4706"/>
            </a:avLst>
          </a:prstGeom>
          <a:solidFill>
            <a:schemeClr val="bg2"/>
          </a:solidFill>
          <a:ln/>
        </p:spPr>
      </p:sp>
      <p:sp>
        <p:nvSpPr>
          <p:cNvPr id="14" name="Icon circle"/>
          <p:cNvSpPr/>
          <p:nvPr/>
        </p:nvSpPr>
        <p:spPr>
          <a:xfrm>
            <a:off x="8302752" y="1737360"/>
            <a:ext cx="566928" cy="566928"/>
          </a:xfrm>
          <a:prstGeom prst="ellipse">
            <a:avLst/>
          </a:prstGeom>
          <a:solidFill>
            <a:schemeClr val="accent2"/>
          </a:solidFill>
          <a:ln/>
        </p:spPr>
      </p:sp>
      <p:pic>
        <p:nvPicPr>
          <p:cNvPr id="15" name="Image 2" descr="Clock icon">    </p:cNvPr>
          <p:cNvPicPr>
            <a:picLocks noChangeAspect="1"/>
          </p:cNvPicPr>
          <p:nvPr/>
        </p:nvPicPr>
        <p:blipFill>
          <a:blip r:embed="rId3"/>
          <a:stretch>
            <a:fillRect/>
          </a:stretch>
        </p:blipFill>
        <p:spPr>
          <a:xfrm>
            <a:off x="8450153" y="1884761"/>
            <a:ext cx="272125" cy="272125"/>
          </a:xfrm>
          <a:prstGeom prst="rect">
            <a:avLst/>
          </a:prstGeom>
        </p:spPr>
      </p:pic>
      <p:sp>
        <p:nvSpPr>
          <p:cNvPr id="16" name="Text 10"/>
          <p:cNvSpPr txBox="1"/>
          <p:nvPr/>
        </p:nvSpPr>
        <p:spPr>
          <a:xfrm>
            <a:off x="8302752" y="2423160"/>
            <a:ext cx="3108960" cy="548640"/>
          </a:xfrm>
          <a:prstGeom prst="rect">
            <a:avLst/>
          </a:prstGeom>
          <a:noFill/>
          <a:ln/>
        </p:spPr>
        <p:txBody>
          <a:bodyPr wrap="square" lIns="0" tIns="0" rIns="0" bIns="0" rtlCol="0" anchor="t"/>
          <a:lstStyle/>
          <a:p>
            <a:pPr indent="0" marL="0">
              <a:buNone/>
            </a:pPr>
            <a:r>
              <a:rPr lang="en-US" sz="1500" b="1" dirty="0">
                <a:solidFill>
                  <a:schemeClr val="tx2"/>
                </a:solidFill>
              </a:rPr>
              <a:t>Warning signs may not surface early enough</a:t>
            </a:r>
            <a:endParaRPr lang="en-US" sz="1500" dirty="0"/>
          </a:p>
        </p:txBody>
      </p:sp>
      <p:sp>
        <p:nvSpPr>
          <p:cNvPr id="17" name="Card"/>
          <p:cNvSpPr/>
          <p:nvPr/>
        </p:nvSpPr>
        <p:spPr>
          <a:xfrm>
            <a:off x="548640" y="3246120"/>
            <a:ext cx="3566160" cy="1554480"/>
          </a:xfrm>
          <a:prstGeom prst="roundRect">
            <a:avLst>
              <a:gd name="adj" fmla="val 4706"/>
            </a:avLst>
          </a:prstGeom>
          <a:solidFill>
            <a:schemeClr val="bg2"/>
          </a:solidFill>
          <a:ln/>
        </p:spPr>
      </p:sp>
      <p:sp>
        <p:nvSpPr>
          <p:cNvPr id="18" name="Icon circle"/>
          <p:cNvSpPr/>
          <p:nvPr/>
        </p:nvSpPr>
        <p:spPr>
          <a:xfrm>
            <a:off x="777240" y="3474720"/>
            <a:ext cx="566928" cy="566928"/>
          </a:xfrm>
          <a:prstGeom prst="ellipse">
            <a:avLst/>
          </a:prstGeom>
          <a:solidFill>
            <a:schemeClr val="accent2"/>
          </a:solidFill>
          <a:ln/>
        </p:spPr>
      </p:sp>
      <p:pic>
        <p:nvPicPr>
          <p:cNvPr id="19" name="Image 3" descr="SortAmountDown icon">    </p:cNvPr>
          <p:cNvPicPr>
            <a:picLocks noChangeAspect="1"/>
          </p:cNvPicPr>
          <p:nvPr/>
        </p:nvPicPr>
        <p:blipFill>
          <a:blip r:embed="rId4"/>
          <a:stretch>
            <a:fillRect/>
          </a:stretch>
        </p:blipFill>
        <p:spPr>
          <a:xfrm>
            <a:off x="924641" y="3622121"/>
            <a:ext cx="272125" cy="272125"/>
          </a:xfrm>
          <a:prstGeom prst="rect">
            <a:avLst/>
          </a:prstGeom>
        </p:spPr>
      </p:pic>
      <p:sp>
        <p:nvSpPr>
          <p:cNvPr id="20" name="Text 13"/>
          <p:cNvSpPr txBox="1"/>
          <p:nvPr/>
        </p:nvSpPr>
        <p:spPr>
          <a:xfrm>
            <a:off x="777240" y="4160520"/>
            <a:ext cx="3108960" cy="548640"/>
          </a:xfrm>
          <a:prstGeom prst="rect">
            <a:avLst/>
          </a:prstGeom>
          <a:noFill/>
          <a:ln/>
        </p:spPr>
        <p:txBody>
          <a:bodyPr wrap="square" lIns="0" tIns="0" rIns="0" bIns="0" rtlCol="0" anchor="t"/>
          <a:lstStyle/>
          <a:p>
            <a:pPr indent="0" marL="0">
              <a:buNone/>
            </a:pPr>
            <a:r>
              <a:rPr lang="en-US" sz="1500" b="1" dirty="0">
                <a:solidFill>
                  <a:schemeClr val="tx2"/>
                </a:solidFill>
              </a:rPr>
              <a:t>Hard to prioritize who needs which kind of support</a:t>
            </a:r>
            <a:endParaRPr lang="en-US" sz="1500" dirty="0"/>
          </a:p>
        </p:txBody>
      </p:sp>
      <p:sp>
        <p:nvSpPr>
          <p:cNvPr id="21" name="Card"/>
          <p:cNvSpPr/>
          <p:nvPr/>
        </p:nvSpPr>
        <p:spPr>
          <a:xfrm>
            <a:off x="4311396" y="3246120"/>
            <a:ext cx="3566160" cy="1554480"/>
          </a:xfrm>
          <a:prstGeom prst="roundRect">
            <a:avLst>
              <a:gd name="adj" fmla="val 4706"/>
            </a:avLst>
          </a:prstGeom>
          <a:solidFill>
            <a:schemeClr val="bg2"/>
          </a:solidFill>
          <a:ln/>
        </p:spPr>
      </p:sp>
      <p:sp>
        <p:nvSpPr>
          <p:cNvPr id="22" name="Icon circle"/>
          <p:cNvSpPr/>
          <p:nvPr/>
        </p:nvSpPr>
        <p:spPr>
          <a:xfrm>
            <a:off x="4539996" y="3474720"/>
            <a:ext cx="566928" cy="566928"/>
          </a:xfrm>
          <a:prstGeom prst="ellipse">
            <a:avLst/>
          </a:prstGeom>
          <a:solidFill>
            <a:schemeClr val="accent2"/>
          </a:solidFill>
          <a:ln/>
        </p:spPr>
      </p:sp>
      <p:pic>
        <p:nvPicPr>
          <p:cNvPr id="23" name="Image 4" descr="Users icon">    </p:cNvPr>
          <p:cNvPicPr>
            <a:picLocks noChangeAspect="1"/>
          </p:cNvPicPr>
          <p:nvPr/>
        </p:nvPicPr>
        <p:blipFill>
          <a:blip r:embed="rId5"/>
          <a:stretch>
            <a:fillRect/>
          </a:stretch>
        </p:blipFill>
        <p:spPr>
          <a:xfrm>
            <a:off x="4687397" y="3622121"/>
            <a:ext cx="272125" cy="272125"/>
          </a:xfrm>
          <a:prstGeom prst="rect">
            <a:avLst/>
          </a:prstGeom>
        </p:spPr>
      </p:pic>
      <p:sp>
        <p:nvSpPr>
          <p:cNvPr id="24" name="Text 16"/>
          <p:cNvSpPr txBox="1"/>
          <p:nvPr/>
        </p:nvSpPr>
        <p:spPr>
          <a:xfrm>
            <a:off x="4539996" y="4160520"/>
            <a:ext cx="3108960" cy="548640"/>
          </a:xfrm>
          <a:prstGeom prst="rect">
            <a:avLst/>
          </a:prstGeom>
          <a:noFill/>
          <a:ln/>
        </p:spPr>
        <p:txBody>
          <a:bodyPr wrap="square" lIns="0" tIns="0" rIns="0" bIns="0" rtlCol="0" anchor="t"/>
          <a:lstStyle/>
          <a:p>
            <a:pPr indent="0" marL="0">
              <a:buNone/>
            </a:pPr>
            <a:r>
              <a:rPr lang="en-US" sz="1500" b="1" dirty="0">
                <a:solidFill>
                  <a:schemeClr val="tx2"/>
                </a:solidFill>
              </a:rPr>
              <a:t>Generic interventions miss individual needs</a:t>
            </a:r>
            <a:endParaRPr lang="en-US" sz="1500" dirty="0"/>
          </a:p>
        </p:txBody>
      </p:sp>
      <p:sp>
        <p:nvSpPr>
          <p:cNvPr id="25" name="Card"/>
          <p:cNvSpPr/>
          <p:nvPr/>
        </p:nvSpPr>
        <p:spPr>
          <a:xfrm>
            <a:off x="8074152" y="3246120"/>
            <a:ext cx="3566160" cy="1554480"/>
          </a:xfrm>
          <a:prstGeom prst="roundRect">
            <a:avLst>
              <a:gd name="adj" fmla="val 4706"/>
            </a:avLst>
          </a:prstGeom>
          <a:solidFill>
            <a:schemeClr val="bg2"/>
          </a:solidFill>
          <a:ln/>
        </p:spPr>
      </p:sp>
      <p:sp>
        <p:nvSpPr>
          <p:cNvPr id="26" name="Icon circle"/>
          <p:cNvSpPr/>
          <p:nvPr/>
        </p:nvSpPr>
        <p:spPr>
          <a:xfrm>
            <a:off x="8302752" y="3474720"/>
            <a:ext cx="566928" cy="566928"/>
          </a:xfrm>
          <a:prstGeom prst="ellipse">
            <a:avLst/>
          </a:prstGeom>
          <a:solidFill>
            <a:schemeClr val="accent2"/>
          </a:solidFill>
          <a:ln/>
        </p:spPr>
      </p:sp>
      <p:pic>
        <p:nvPicPr>
          <p:cNvPr id="27" name="Image 5" descr="ChartBar icon">    </p:cNvPr>
          <p:cNvPicPr>
            <a:picLocks noChangeAspect="1"/>
          </p:cNvPicPr>
          <p:nvPr/>
        </p:nvPicPr>
        <p:blipFill>
          <a:blip r:embed="rId6"/>
          <a:stretch>
            <a:fillRect/>
          </a:stretch>
        </p:blipFill>
        <p:spPr>
          <a:xfrm>
            <a:off x="8450153" y="3622121"/>
            <a:ext cx="272125" cy="272125"/>
          </a:xfrm>
          <a:prstGeom prst="rect">
            <a:avLst/>
          </a:prstGeom>
        </p:spPr>
      </p:pic>
      <p:sp>
        <p:nvSpPr>
          <p:cNvPr id="28" name="Text 19"/>
          <p:cNvSpPr txBox="1"/>
          <p:nvPr/>
        </p:nvSpPr>
        <p:spPr>
          <a:xfrm>
            <a:off x="8302752" y="4160520"/>
            <a:ext cx="3108960" cy="548640"/>
          </a:xfrm>
          <a:prstGeom prst="rect">
            <a:avLst/>
          </a:prstGeom>
          <a:noFill/>
          <a:ln/>
        </p:spPr>
        <p:txBody>
          <a:bodyPr wrap="square" lIns="0" tIns="0" rIns="0" bIns="0" rtlCol="0" anchor="t"/>
          <a:lstStyle/>
          <a:p>
            <a:pPr indent="0" marL="0">
              <a:buNone/>
            </a:pPr>
            <a:r>
              <a:rPr lang="en-US" sz="1500" b="1" dirty="0">
                <a:solidFill>
                  <a:schemeClr val="tx2"/>
                </a:solidFill>
              </a:rPr>
              <a:t>Dashboards show history, not what action should follow</a:t>
            </a:r>
            <a:endParaRPr lang="en-US" sz="1500" dirty="0"/>
          </a:p>
        </p:txBody>
      </p:sp>
      <p:sp>
        <p:nvSpPr>
          <p:cNvPr id="29" name="Card"/>
          <p:cNvSpPr/>
          <p:nvPr/>
        </p:nvSpPr>
        <p:spPr>
          <a:xfrm>
            <a:off x="548640" y="5074920"/>
            <a:ext cx="11091672" cy="960120"/>
          </a:xfrm>
          <a:prstGeom prst="roundRect">
            <a:avLst>
              <a:gd name="adj" fmla="val 7619"/>
            </a:avLst>
          </a:prstGeom>
          <a:solidFill>
            <a:schemeClr val="tx2"/>
          </a:solidFill>
          <a:ln/>
        </p:spPr>
      </p:sp>
      <p:sp>
        <p:nvSpPr>
          <p:cNvPr id="30" name="Text 21"/>
          <p:cNvSpPr txBox="1"/>
          <p:nvPr/>
        </p:nvSpPr>
        <p:spPr>
          <a:xfrm>
            <a:off x="822960" y="5166360"/>
            <a:ext cx="3657600" cy="256032"/>
          </a:xfrm>
          <a:prstGeom prst="rect">
            <a:avLst/>
          </a:prstGeom>
          <a:noFill/>
          <a:ln/>
        </p:spPr>
        <p:txBody>
          <a:bodyPr wrap="square" lIns="0" tIns="0" rIns="0" bIns="0" rtlCol="0" anchor="t"/>
          <a:lstStyle/>
          <a:p>
            <a:pPr indent="0" marL="0">
              <a:buNone/>
            </a:pPr>
            <a:r>
              <a:rPr lang="en-US" sz="1100" b="1" spc="200" kern="0" dirty="0">
                <a:solidFill>
                  <a:srgbClr val="3FD0C9"/>
                </a:solidFill>
              </a:rPr>
              <a:t>PROBLEM STATEMENT</a:t>
            </a:r>
            <a:endParaRPr lang="en-US" sz="1100" dirty="0"/>
          </a:p>
        </p:txBody>
      </p:sp>
      <p:sp>
        <p:nvSpPr>
          <p:cNvPr id="31" name="Text 22"/>
          <p:cNvSpPr txBox="1"/>
          <p:nvPr/>
        </p:nvSpPr>
        <p:spPr>
          <a:xfrm>
            <a:off x="822960" y="5440680"/>
            <a:ext cx="10515600" cy="548640"/>
          </a:xfrm>
          <a:prstGeom prst="rect">
            <a:avLst/>
          </a:prstGeom>
          <a:noFill/>
          <a:ln/>
        </p:spPr>
        <p:txBody>
          <a:bodyPr wrap="square" lIns="0" tIns="0" rIns="0" bIns="0" rtlCol="0" anchor="t"/>
          <a:lstStyle/>
          <a:p>
            <a:pPr indent="0" marL="0">
              <a:buNone/>
            </a:pPr>
            <a:r>
              <a:rPr lang="en-US" sz="1600" dirty="0">
                <a:solidFill>
                  <a:schemeClr val="bg1"/>
                </a:solidFill>
              </a:rPr>
              <a:t>How can institutions identify students who need support, understand the reasons, and determine appropriate next actions?</a:t>
            </a:r>
            <a:endParaRPr lang="en-US" sz="16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OBJECTIVES</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What EduPulse AI aims to achieve</a:t>
            </a:r>
            <a:endParaRPr lang="en-US" sz="3000" dirty="0"/>
          </a:p>
        </p:txBody>
      </p:sp>
      <p:sp>
        <p:nvSpPr>
          <p:cNvPr id="5" name="Card"/>
          <p:cNvSpPr/>
          <p:nvPr/>
        </p:nvSpPr>
        <p:spPr>
          <a:xfrm>
            <a:off x="548640" y="1508760"/>
            <a:ext cx="2606040" cy="1828800"/>
          </a:xfrm>
          <a:prstGeom prst="roundRect">
            <a:avLst>
              <a:gd name="adj" fmla="val 4000"/>
            </a:avLst>
          </a:prstGeom>
          <a:solidFill>
            <a:schemeClr val="bg2"/>
          </a:solidFill>
          <a:ln/>
        </p:spPr>
      </p:sp>
      <p:sp>
        <p:nvSpPr>
          <p:cNvPr id="6" name="Text 3"/>
          <p:cNvSpPr txBox="1"/>
          <p:nvPr/>
        </p:nvSpPr>
        <p:spPr>
          <a:xfrm>
            <a:off x="777240" y="17373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777240" y="2423160"/>
            <a:ext cx="2194560" cy="822960"/>
          </a:xfrm>
          <a:prstGeom prst="rect">
            <a:avLst/>
          </a:prstGeom>
          <a:noFill/>
          <a:ln/>
        </p:spPr>
        <p:txBody>
          <a:bodyPr wrap="square" lIns="0" tIns="0" rIns="0" bIns="0" rtlCol="0" anchor="t"/>
          <a:lstStyle/>
          <a:p>
            <a:pPr indent="0" marL="0">
              <a:buNone/>
            </a:pPr>
            <a:r>
              <a:rPr lang="en-US" sz="1500" b="1" dirty="0">
                <a:solidFill>
                  <a:schemeClr val="tx2"/>
                </a:solidFill>
              </a:rPr>
              <a:t>Integrate student data from multiple categories</a:t>
            </a:r>
            <a:endParaRPr lang="en-US" sz="1500" dirty="0"/>
          </a:p>
        </p:txBody>
      </p:sp>
      <p:sp>
        <p:nvSpPr>
          <p:cNvPr id="8" name="Card"/>
          <p:cNvSpPr/>
          <p:nvPr/>
        </p:nvSpPr>
        <p:spPr>
          <a:xfrm>
            <a:off x="3376879" y="1508760"/>
            <a:ext cx="2606040" cy="1828800"/>
          </a:xfrm>
          <a:prstGeom prst="roundRect">
            <a:avLst>
              <a:gd name="adj" fmla="val 4000"/>
            </a:avLst>
          </a:prstGeom>
          <a:solidFill>
            <a:schemeClr val="bg2"/>
          </a:solidFill>
          <a:ln/>
        </p:spPr>
      </p:sp>
      <p:sp>
        <p:nvSpPr>
          <p:cNvPr id="9" name="Text 6"/>
          <p:cNvSpPr txBox="1"/>
          <p:nvPr/>
        </p:nvSpPr>
        <p:spPr>
          <a:xfrm>
            <a:off x="3605479" y="17373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3605479" y="2423160"/>
            <a:ext cx="2194560" cy="822960"/>
          </a:xfrm>
          <a:prstGeom prst="rect">
            <a:avLst/>
          </a:prstGeom>
          <a:noFill/>
          <a:ln/>
        </p:spPr>
        <p:txBody>
          <a:bodyPr wrap="square" lIns="0" tIns="0" rIns="0" bIns="0" rtlCol="0" anchor="t"/>
          <a:lstStyle/>
          <a:p>
            <a:pPr indent="0" marL="0">
              <a:buNone/>
            </a:pPr>
            <a:r>
              <a:rPr lang="en-US" sz="1500" b="1" dirty="0">
                <a:solidFill>
                  <a:schemeClr val="tx2"/>
                </a:solidFill>
              </a:rPr>
              <a:t>Build a unified Student 360° profile</a:t>
            </a:r>
            <a:endParaRPr lang="en-US" sz="1500" dirty="0"/>
          </a:p>
        </p:txBody>
      </p:sp>
      <p:sp>
        <p:nvSpPr>
          <p:cNvPr id="11" name="Card"/>
          <p:cNvSpPr/>
          <p:nvPr/>
        </p:nvSpPr>
        <p:spPr>
          <a:xfrm>
            <a:off x="6205118" y="1508760"/>
            <a:ext cx="2606040" cy="1828800"/>
          </a:xfrm>
          <a:prstGeom prst="roundRect">
            <a:avLst>
              <a:gd name="adj" fmla="val 4000"/>
            </a:avLst>
          </a:prstGeom>
          <a:solidFill>
            <a:schemeClr val="bg2"/>
          </a:solidFill>
          <a:ln/>
        </p:spPr>
      </p:sp>
      <p:sp>
        <p:nvSpPr>
          <p:cNvPr id="12" name="Text 9"/>
          <p:cNvSpPr txBox="1"/>
          <p:nvPr/>
        </p:nvSpPr>
        <p:spPr>
          <a:xfrm>
            <a:off x="6433718" y="17373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0"/>
          <p:cNvSpPr txBox="1"/>
          <p:nvPr/>
        </p:nvSpPr>
        <p:spPr>
          <a:xfrm>
            <a:off x="6433718" y="2423160"/>
            <a:ext cx="2194560" cy="822960"/>
          </a:xfrm>
          <a:prstGeom prst="rect">
            <a:avLst/>
          </a:prstGeom>
          <a:noFill/>
          <a:ln/>
        </p:spPr>
        <p:txBody>
          <a:bodyPr wrap="square" lIns="0" tIns="0" rIns="0" bIns="0" rtlCol="0" anchor="t"/>
          <a:lstStyle/>
          <a:p>
            <a:pPr indent="0" marL="0">
              <a:buNone/>
            </a:pPr>
            <a:r>
              <a:rPr lang="en-US" sz="1500" b="1" dirty="0">
                <a:solidFill>
                  <a:schemeClr val="tx2"/>
                </a:solidFill>
              </a:rPr>
              <a:t>Calculate a transparent, weighted Success Score</a:t>
            </a:r>
            <a:endParaRPr lang="en-US" sz="1500" dirty="0"/>
          </a:p>
        </p:txBody>
      </p:sp>
      <p:sp>
        <p:nvSpPr>
          <p:cNvPr id="14" name="Card"/>
          <p:cNvSpPr/>
          <p:nvPr/>
        </p:nvSpPr>
        <p:spPr>
          <a:xfrm>
            <a:off x="9033358" y="1508760"/>
            <a:ext cx="2606040" cy="1828800"/>
          </a:xfrm>
          <a:prstGeom prst="roundRect">
            <a:avLst>
              <a:gd name="adj" fmla="val 4000"/>
            </a:avLst>
          </a:prstGeom>
          <a:solidFill>
            <a:schemeClr val="bg2"/>
          </a:solidFill>
          <a:ln/>
        </p:spPr>
      </p:sp>
      <p:sp>
        <p:nvSpPr>
          <p:cNvPr id="15" name="Text 12"/>
          <p:cNvSpPr txBox="1"/>
          <p:nvPr/>
        </p:nvSpPr>
        <p:spPr>
          <a:xfrm>
            <a:off x="9261958" y="17373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Text 13"/>
          <p:cNvSpPr txBox="1"/>
          <p:nvPr/>
        </p:nvSpPr>
        <p:spPr>
          <a:xfrm>
            <a:off x="9261958" y="2423160"/>
            <a:ext cx="2194560" cy="822960"/>
          </a:xfrm>
          <a:prstGeom prst="rect">
            <a:avLst/>
          </a:prstGeom>
          <a:noFill/>
          <a:ln/>
        </p:spPr>
        <p:txBody>
          <a:bodyPr wrap="square" lIns="0" tIns="0" rIns="0" bIns="0" rtlCol="0" anchor="t"/>
          <a:lstStyle/>
          <a:p>
            <a:pPr indent="0" marL="0">
              <a:buNone/>
            </a:pPr>
            <a:r>
              <a:rPr lang="en-US" sz="1500" b="1" dirty="0">
                <a:solidFill>
                  <a:schemeClr val="tx2"/>
                </a:solidFill>
              </a:rPr>
              <a:t>Identify academic, placement and engagement risks</a:t>
            </a:r>
            <a:endParaRPr lang="en-US" sz="1500" dirty="0"/>
          </a:p>
        </p:txBody>
      </p:sp>
      <p:sp>
        <p:nvSpPr>
          <p:cNvPr id="17" name="Card"/>
          <p:cNvSpPr/>
          <p:nvPr/>
        </p:nvSpPr>
        <p:spPr>
          <a:xfrm>
            <a:off x="548640" y="3520440"/>
            <a:ext cx="2606040" cy="1828800"/>
          </a:xfrm>
          <a:prstGeom prst="roundRect">
            <a:avLst>
              <a:gd name="adj" fmla="val 4000"/>
            </a:avLst>
          </a:prstGeom>
          <a:solidFill>
            <a:schemeClr val="bg2"/>
          </a:solidFill>
          <a:ln/>
        </p:spPr>
      </p:sp>
      <p:sp>
        <p:nvSpPr>
          <p:cNvPr id="18" name="Text 15"/>
          <p:cNvSpPr txBox="1"/>
          <p:nvPr/>
        </p:nvSpPr>
        <p:spPr>
          <a:xfrm>
            <a:off x="777240" y="3749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Text 16"/>
          <p:cNvSpPr txBox="1"/>
          <p:nvPr/>
        </p:nvSpPr>
        <p:spPr>
          <a:xfrm>
            <a:off x="777240" y="4434840"/>
            <a:ext cx="2194560" cy="822960"/>
          </a:xfrm>
          <a:prstGeom prst="rect">
            <a:avLst/>
          </a:prstGeom>
          <a:noFill/>
          <a:ln/>
        </p:spPr>
        <p:txBody>
          <a:bodyPr wrap="square" lIns="0" tIns="0" rIns="0" bIns="0" rtlCol="0" anchor="t"/>
          <a:lstStyle/>
          <a:p>
            <a:pPr indent="0" marL="0">
              <a:buNone/>
            </a:pPr>
            <a:r>
              <a:rPr lang="en-US" sz="1500" b="1" dirty="0">
                <a:solidFill>
                  <a:schemeClr val="tx2"/>
                </a:solidFill>
              </a:rPr>
              <a:t>Explain risk drivers for each student</a:t>
            </a:r>
            <a:endParaRPr lang="en-US" sz="1500" dirty="0"/>
          </a:p>
        </p:txBody>
      </p:sp>
      <p:sp>
        <p:nvSpPr>
          <p:cNvPr id="20" name="Card"/>
          <p:cNvSpPr/>
          <p:nvPr/>
        </p:nvSpPr>
        <p:spPr>
          <a:xfrm>
            <a:off x="3376879" y="3520440"/>
            <a:ext cx="2606040" cy="1828800"/>
          </a:xfrm>
          <a:prstGeom prst="roundRect">
            <a:avLst>
              <a:gd name="adj" fmla="val 4000"/>
            </a:avLst>
          </a:prstGeom>
          <a:solidFill>
            <a:schemeClr val="bg2"/>
          </a:solidFill>
          <a:ln/>
        </p:spPr>
      </p:sp>
      <p:sp>
        <p:nvSpPr>
          <p:cNvPr id="21" name="Text 18"/>
          <p:cNvSpPr txBox="1"/>
          <p:nvPr/>
        </p:nvSpPr>
        <p:spPr>
          <a:xfrm>
            <a:off x="3605479" y="3749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2" name="Text 19"/>
          <p:cNvSpPr txBox="1"/>
          <p:nvPr/>
        </p:nvSpPr>
        <p:spPr>
          <a:xfrm>
            <a:off x="3605479" y="4434840"/>
            <a:ext cx="2194560" cy="822960"/>
          </a:xfrm>
          <a:prstGeom prst="rect">
            <a:avLst/>
          </a:prstGeom>
          <a:noFill/>
          <a:ln/>
        </p:spPr>
        <p:txBody>
          <a:bodyPr wrap="square" lIns="0" tIns="0" rIns="0" bIns="0" rtlCol="0" anchor="t"/>
          <a:lstStyle/>
          <a:p>
            <a:pPr indent="0" marL="0">
              <a:buNone/>
            </a:pPr>
            <a:r>
              <a:rPr lang="en-US" sz="1500" b="1" dirty="0">
                <a:solidFill>
                  <a:schemeClr val="tx2"/>
                </a:solidFill>
              </a:rPr>
              <a:t>Segment students for targeted support</a:t>
            </a:r>
            <a:endParaRPr lang="en-US" sz="1500" dirty="0"/>
          </a:p>
        </p:txBody>
      </p:sp>
      <p:sp>
        <p:nvSpPr>
          <p:cNvPr id="23" name="Card"/>
          <p:cNvSpPr/>
          <p:nvPr/>
        </p:nvSpPr>
        <p:spPr>
          <a:xfrm>
            <a:off x="6205118" y="3520440"/>
            <a:ext cx="2606040" cy="1828800"/>
          </a:xfrm>
          <a:prstGeom prst="roundRect">
            <a:avLst>
              <a:gd name="adj" fmla="val 4000"/>
            </a:avLst>
          </a:prstGeom>
          <a:solidFill>
            <a:schemeClr val="bg2"/>
          </a:solidFill>
          <a:ln/>
        </p:spPr>
      </p:sp>
      <p:sp>
        <p:nvSpPr>
          <p:cNvPr id="24" name="Text 21"/>
          <p:cNvSpPr txBox="1"/>
          <p:nvPr/>
        </p:nvSpPr>
        <p:spPr>
          <a:xfrm>
            <a:off x="6433718" y="3749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25" name="Text 22"/>
          <p:cNvSpPr txBox="1"/>
          <p:nvPr/>
        </p:nvSpPr>
        <p:spPr>
          <a:xfrm>
            <a:off x="6433718" y="4434840"/>
            <a:ext cx="2194560" cy="822960"/>
          </a:xfrm>
          <a:prstGeom prst="rect">
            <a:avLst/>
          </a:prstGeom>
          <a:noFill/>
          <a:ln/>
        </p:spPr>
        <p:txBody>
          <a:bodyPr wrap="square" lIns="0" tIns="0" rIns="0" bIns="0" rtlCol="0" anchor="t"/>
          <a:lstStyle/>
          <a:p>
            <a:pPr indent="0" marL="0">
              <a:buNone/>
            </a:pPr>
            <a:r>
              <a:rPr lang="en-US" sz="1500" b="1" dirty="0">
                <a:solidFill>
                  <a:schemeClr val="tx2"/>
                </a:solidFill>
              </a:rPr>
              <a:t>Recommend practical interventions</a:t>
            </a:r>
            <a:endParaRPr lang="en-US" sz="1500" dirty="0"/>
          </a:p>
        </p:txBody>
      </p:sp>
      <p:sp>
        <p:nvSpPr>
          <p:cNvPr id="26" name="Card"/>
          <p:cNvSpPr/>
          <p:nvPr/>
        </p:nvSpPr>
        <p:spPr>
          <a:xfrm>
            <a:off x="9033358" y="3520440"/>
            <a:ext cx="2606040" cy="1828800"/>
          </a:xfrm>
          <a:prstGeom prst="roundRect">
            <a:avLst>
              <a:gd name="adj" fmla="val 4000"/>
            </a:avLst>
          </a:prstGeom>
          <a:solidFill>
            <a:schemeClr val="bg2"/>
          </a:solidFill>
          <a:ln/>
        </p:spPr>
      </p:sp>
      <p:sp>
        <p:nvSpPr>
          <p:cNvPr id="27" name="Text 24"/>
          <p:cNvSpPr txBox="1"/>
          <p:nvPr/>
        </p:nvSpPr>
        <p:spPr>
          <a:xfrm>
            <a:off x="9261958" y="374904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28" name="Text 25"/>
          <p:cNvSpPr txBox="1"/>
          <p:nvPr/>
        </p:nvSpPr>
        <p:spPr>
          <a:xfrm>
            <a:off x="9261958" y="4434840"/>
            <a:ext cx="2194560" cy="822960"/>
          </a:xfrm>
          <a:prstGeom prst="rect">
            <a:avLst/>
          </a:prstGeom>
          <a:noFill/>
          <a:ln/>
        </p:spPr>
        <p:txBody>
          <a:bodyPr wrap="square" lIns="0" tIns="0" rIns="0" bIns="0" rtlCol="0" anchor="t"/>
          <a:lstStyle/>
          <a:p>
            <a:pPr indent="0" marL="0">
              <a:buNone/>
            </a:pPr>
            <a:r>
              <a:rPr lang="en-US" sz="1500" b="1" dirty="0">
                <a:solidFill>
                  <a:schemeClr val="tx2"/>
                </a:solidFill>
              </a:rPr>
              <a:t>Present results in an interactive dashboard</a:t>
            </a:r>
            <a:endParaRPr lang="en-US" sz="1500" dirty="0"/>
          </a:p>
        </p:txBody>
      </p:sp>
      <p:sp>
        <p:nvSpPr>
          <p:cNvPr id="29" name="Text 26"/>
          <p:cNvSpPr txBox="1"/>
          <p:nvPr/>
        </p:nvSpPr>
        <p:spPr>
          <a:xfrm>
            <a:off x="548640" y="5669280"/>
            <a:ext cx="11091672" cy="365760"/>
          </a:xfrm>
          <a:prstGeom prst="rect">
            <a:avLst/>
          </a:prstGeom>
          <a:noFill/>
          <a:ln/>
        </p:spPr>
        <p:txBody>
          <a:bodyPr wrap="square" lIns="0" tIns="0" rIns="0" bIns="0" rtlCol="0" anchor="t"/>
          <a:lstStyle/>
          <a:p>
            <a:pPr indent="0" marL="0">
              <a:buNone/>
            </a:pPr>
            <a:r>
              <a:rPr lang="en-US" sz="1500" b="1" dirty="0">
                <a:solidFill>
                  <a:schemeClr val="tx2"/>
                </a:solidFill>
              </a:rPr>
              <a:t>Design principle: </a:t>
            </a:r>
            <a:pPr indent="0" marL="0">
              <a:buNone/>
            </a:pPr>
            <a:r>
              <a:rPr lang="en-US" sz="1500" i="1" dirty="0">
                <a:solidFill>
                  <a:schemeClr val="accent6"/>
                </a:solidFill>
              </a:rPr>
              <a:t>every insight should help answer a decision-making question.</a:t>
            </a:r>
            <a:endParaRPr lang="en-US" sz="15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OUR SOLUTION</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One platform, one student view, actionable insights</a:t>
            </a:r>
            <a:endParaRPr lang="en-US" sz="3000" dirty="0"/>
          </a:p>
        </p:txBody>
      </p:sp>
      <p:sp>
        <p:nvSpPr>
          <p:cNvPr id="5" name="Card"/>
          <p:cNvSpPr/>
          <p:nvPr/>
        </p:nvSpPr>
        <p:spPr>
          <a:xfrm>
            <a:off x="548640" y="1737360"/>
            <a:ext cx="1417320" cy="2286000"/>
          </a:xfrm>
          <a:prstGeom prst="roundRect">
            <a:avLst>
              <a:gd name="adj" fmla="val 6452"/>
            </a:avLst>
          </a:prstGeom>
          <a:solidFill>
            <a:schemeClr val="tx2"/>
          </a:solidFill>
          <a:ln/>
        </p:spPr>
      </p:sp>
      <p:sp>
        <p:nvSpPr>
          <p:cNvPr id="6" name="Text 3"/>
          <p:cNvSpPr txBox="1"/>
          <p:nvPr/>
        </p:nvSpPr>
        <p:spPr>
          <a:xfrm>
            <a:off x="640080"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7" name="Icon circle"/>
          <p:cNvSpPr/>
          <p:nvPr/>
        </p:nvSpPr>
        <p:spPr>
          <a:xfrm>
            <a:off x="891540" y="2240280"/>
            <a:ext cx="731520" cy="731520"/>
          </a:xfrm>
          <a:prstGeom prst="ellipse">
            <a:avLst/>
          </a:prstGeom>
          <a:solidFill>
            <a:schemeClr val="accent1"/>
          </a:solidFill>
          <a:ln/>
        </p:spPr>
      </p:sp>
      <p:pic>
        <p:nvPicPr>
          <p:cNvPr id="8" name="Image 0" descr="Database icon">    </p:cNvPr>
          <p:cNvPicPr>
            <a:picLocks noChangeAspect="1"/>
          </p:cNvPicPr>
          <p:nvPr/>
        </p:nvPicPr>
        <p:blipFill>
          <a:blip r:embed="rId1"/>
          <a:stretch>
            <a:fillRect/>
          </a:stretch>
        </p:blipFill>
        <p:spPr>
          <a:xfrm>
            <a:off x="1081735" y="2430475"/>
            <a:ext cx="351130" cy="351130"/>
          </a:xfrm>
          <a:prstGeom prst="rect">
            <a:avLst/>
          </a:prstGeom>
        </p:spPr>
      </p:pic>
      <p:sp>
        <p:nvSpPr>
          <p:cNvPr id="9" name="Text 5"/>
          <p:cNvSpPr txBox="1"/>
          <p:nvPr/>
        </p:nvSpPr>
        <p:spPr>
          <a:xfrm>
            <a:off x="640080"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Data Integration</a:t>
            </a:r>
            <a:endParaRPr lang="en-US" sz="1500" dirty="0"/>
          </a:p>
        </p:txBody>
      </p:sp>
      <p:sp>
        <p:nvSpPr>
          <p:cNvPr id="10" name="Arrow"/>
          <p:cNvSpPr/>
          <p:nvPr/>
        </p:nvSpPr>
        <p:spPr>
          <a:xfrm rot="5400000">
            <a:off x="1972056" y="2816352"/>
            <a:ext cx="182880" cy="128016"/>
          </a:xfrm>
          <a:prstGeom prst="triangle">
            <a:avLst/>
          </a:prstGeom>
          <a:solidFill>
            <a:schemeClr val="accent6"/>
          </a:solidFill>
          <a:ln/>
        </p:spPr>
      </p:sp>
      <p:sp>
        <p:nvSpPr>
          <p:cNvPr id="11" name="Card"/>
          <p:cNvSpPr/>
          <p:nvPr/>
        </p:nvSpPr>
        <p:spPr>
          <a:xfrm>
            <a:off x="2161032" y="1737360"/>
            <a:ext cx="1417320" cy="2286000"/>
          </a:xfrm>
          <a:prstGeom prst="roundRect">
            <a:avLst>
              <a:gd name="adj" fmla="val 6452"/>
            </a:avLst>
          </a:prstGeom>
          <a:solidFill>
            <a:schemeClr val="tx2"/>
          </a:solidFill>
          <a:ln/>
        </p:spPr>
      </p:sp>
      <p:sp>
        <p:nvSpPr>
          <p:cNvPr id="12" name="Text 8"/>
          <p:cNvSpPr txBox="1"/>
          <p:nvPr/>
        </p:nvSpPr>
        <p:spPr>
          <a:xfrm>
            <a:off x="2252472"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3" name="Icon circle"/>
          <p:cNvSpPr/>
          <p:nvPr/>
        </p:nvSpPr>
        <p:spPr>
          <a:xfrm>
            <a:off x="2503932" y="2240280"/>
            <a:ext cx="731520" cy="731520"/>
          </a:xfrm>
          <a:prstGeom prst="ellipse">
            <a:avLst/>
          </a:prstGeom>
          <a:solidFill>
            <a:schemeClr val="accent1"/>
          </a:solidFill>
          <a:ln/>
        </p:spPr>
      </p:sp>
      <p:pic>
        <p:nvPicPr>
          <p:cNvPr id="14" name="Image 1" descr="Cogs icon">    </p:cNvPr>
          <p:cNvPicPr>
            <a:picLocks noChangeAspect="1"/>
          </p:cNvPicPr>
          <p:nvPr/>
        </p:nvPicPr>
        <p:blipFill>
          <a:blip r:embed="rId2"/>
          <a:stretch>
            <a:fillRect/>
          </a:stretch>
        </p:blipFill>
        <p:spPr>
          <a:xfrm>
            <a:off x="2694127" y="2430475"/>
            <a:ext cx="351130" cy="351130"/>
          </a:xfrm>
          <a:prstGeom prst="rect">
            <a:avLst/>
          </a:prstGeom>
        </p:spPr>
      </p:pic>
      <p:sp>
        <p:nvSpPr>
          <p:cNvPr id="15" name="Text 10"/>
          <p:cNvSpPr txBox="1"/>
          <p:nvPr/>
        </p:nvSpPr>
        <p:spPr>
          <a:xfrm>
            <a:off x="2252472"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Processing &amp; Features</a:t>
            </a:r>
            <a:endParaRPr lang="en-US" sz="1500" dirty="0"/>
          </a:p>
        </p:txBody>
      </p:sp>
      <p:sp>
        <p:nvSpPr>
          <p:cNvPr id="16" name="Arrow"/>
          <p:cNvSpPr/>
          <p:nvPr/>
        </p:nvSpPr>
        <p:spPr>
          <a:xfrm rot="5400000">
            <a:off x="3584448" y="2816352"/>
            <a:ext cx="182880" cy="128016"/>
          </a:xfrm>
          <a:prstGeom prst="triangle">
            <a:avLst/>
          </a:prstGeom>
          <a:solidFill>
            <a:schemeClr val="accent6"/>
          </a:solidFill>
          <a:ln/>
        </p:spPr>
      </p:sp>
      <p:sp>
        <p:nvSpPr>
          <p:cNvPr id="17" name="Card"/>
          <p:cNvSpPr/>
          <p:nvPr/>
        </p:nvSpPr>
        <p:spPr>
          <a:xfrm>
            <a:off x="3773424" y="1737360"/>
            <a:ext cx="1417320" cy="2286000"/>
          </a:xfrm>
          <a:prstGeom prst="roundRect">
            <a:avLst>
              <a:gd name="adj" fmla="val 6452"/>
            </a:avLst>
          </a:prstGeom>
          <a:solidFill>
            <a:schemeClr val="accent1"/>
          </a:solidFill>
          <a:ln/>
        </p:spPr>
      </p:sp>
      <p:sp>
        <p:nvSpPr>
          <p:cNvPr id="18" name="Text 13"/>
          <p:cNvSpPr txBox="1"/>
          <p:nvPr/>
        </p:nvSpPr>
        <p:spPr>
          <a:xfrm>
            <a:off x="3864864"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9" name="Icon circle"/>
          <p:cNvSpPr/>
          <p:nvPr/>
        </p:nvSpPr>
        <p:spPr>
          <a:xfrm>
            <a:off x="4116324" y="2240280"/>
            <a:ext cx="731520" cy="731520"/>
          </a:xfrm>
          <a:prstGeom prst="ellipse">
            <a:avLst/>
          </a:prstGeom>
          <a:solidFill>
            <a:schemeClr val="tx2"/>
          </a:solidFill>
          <a:ln/>
        </p:spPr>
      </p:sp>
      <p:pic>
        <p:nvPicPr>
          <p:cNvPr id="20" name="Image 2" descr="Bullseye icon">    </p:cNvPr>
          <p:cNvPicPr>
            <a:picLocks noChangeAspect="1"/>
          </p:cNvPicPr>
          <p:nvPr/>
        </p:nvPicPr>
        <p:blipFill>
          <a:blip r:embed="rId3"/>
          <a:stretch>
            <a:fillRect/>
          </a:stretch>
        </p:blipFill>
        <p:spPr>
          <a:xfrm>
            <a:off x="4306519" y="2430475"/>
            <a:ext cx="351130" cy="351130"/>
          </a:xfrm>
          <a:prstGeom prst="rect">
            <a:avLst/>
          </a:prstGeom>
        </p:spPr>
      </p:pic>
      <p:sp>
        <p:nvSpPr>
          <p:cNvPr id="21" name="Text 15"/>
          <p:cNvSpPr txBox="1"/>
          <p:nvPr/>
        </p:nvSpPr>
        <p:spPr>
          <a:xfrm>
            <a:off x="3864864"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Success Score</a:t>
            </a:r>
            <a:endParaRPr lang="en-US" sz="1500" dirty="0"/>
          </a:p>
        </p:txBody>
      </p:sp>
      <p:sp>
        <p:nvSpPr>
          <p:cNvPr id="22" name="Arrow"/>
          <p:cNvSpPr/>
          <p:nvPr/>
        </p:nvSpPr>
        <p:spPr>
          <a:xfrm rot="5400000">
            <a:off x="5196840" y="2816352"/>
            <a:ext cx="182880" cy="128016"/>
          </a:xfrm>
          <a:prstGeom prst="triangle">
            <a:avLst/>
          </a:prstGeom>
          <a:solidFill>
            <a:schemeClr val="accent6"/>
          </a:solidFill>
          <a:ln/>
        </p:spPr>
      </p:sp>
      <p:sp>
        <p:nvSpPr>
          <p:cNvPr id="23" name="Card"/>
          <p:cNvSpPr/>
          <p:nvPr/>
        </p:nvSpPr>
        <p:spPr>
          <a:xfrm>
            <a:off x="5385816" y="1737360"/>
            <a:ext cx="1417320" cy="2286000"/>
          </a:xfrm>
          <a:prstGeom prst="roundRect">
            <a:avLst>
              <a:gd name="adj" fmla="val 6452"/>
            </a:avLst>
          </a:prstGeom>
          <a:solidFill>
            <a:schemeClr val="accent1"/>
          </a:solidFill>
          <a:ln/>
        </p:spPr>
      </p:sp>
      <p:sp>
        <p:nvSpPr>
          <p:cNvPr id="24" name="Text 18"/>
          <p:cNvSpPr txBox="1"/>
          <p:nvPr/>
        </p:nvSpPr>
        <p:spPr>
          <a:xfrm>
            <a:off x="5477256"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5" name="Icon circle"/>
          <p:cNvSpPr/>
          <p:nvPr/>
        </p:nvSpPr>
        <p:spPr>
          <a:xfrm>
            <a:off x="5728716" y="2240280"/>
            <a:ext cx="731520" cy="731520"/>
          </a:xfrm>
          <a:prstGeom prst="ellipse">
            <a:avLst/>
          </a:prstGeom>
          <a:solidFill>
            <a:schemeClr val="tx2"/>
          </a:solidFill>
          <a:ln/>
        </p:spPr>
      </p:sp>
      <p:pic>
        <p:nvPicPr>
          <p:cNvPr id="26" name="Image 3" descr="ExclamationTriangle icon">    </p:cNvPr>
          <p:cNvPicPr>
            <a:picLocks noChangeAspect="1"/>
          </p:cNvPicPr>
          <p:nvPr/>
        </p:nvPicPr>
        <p:blipFill>
          <a:blip r:embed="rId4"/>
          <a:stretch>
            <a:fillRect/>
          </a:stretch>
        </p:blipFill>
        <p:spPr>
          <a:xfrm>
            <a:off x="5918911" y="2430475"/>
            <a:ext cx="351130" cy="351130"/>
          </a:xfrm>
          <a:prstGeom prst="rect">
            <a:avLst/>
          </a:prstGeom>
        </p:spPr>
      </p:pic>
      <p:sp>
        <p:nvSpPr>
          <p:cNvPr id="27" name="Text 20"/>
          <p:cNvSpPr txBox="1"/>
          <p:nvPr/>
        </p:nvSpPr>
        <p:spPr>
          <a:xfrm>
            <a:off x="5477256"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Risk Identification</a:t>
            </a:r>
            <a:endParaRPr lang="en-US" sz="1500" dirty="0"/>
          </a:p>
        </p:txBody>
      </p:sp>
      <p:sp>
        <p:nvSpPr>
          <p:cNvPr id="28" name="Arrow"/>
          <p:cNvSpPr/>
          <p:nvPr/>
        </p:nvSpPr>
        <p:spPr>
          <a:xfrm rot="5400000">
            <a:off x="6809232" y="2816352"/>
            <a:ext cx="182880" cy="128016"/>
          </a:xfrm>
          <a:prstGeom prst="triangle">
            <a:avLst/>
          </a:prstGeom>
          <a:solidFill>
            <a:schemeClr val="accent6"/>
          </a:solidFill>
          <a:ln/>
        </p:spPr>
      </p:sp>
      <p:sp>
        <p:nvSpPr>
          <p:cNvPr id="29" name="Card"/>
          <p:cNvSpPr/>
          <p:nvPr/>
        </p:nvSpPr>
        <p:spPr>
          <a:xfrm>
            <a:off x="6998208" y="1737360"/>
            <a:ext cx="1417320" cy="2286000"/>
          </a:xfrm>
          <a:prstGeom prst="roundRect">
            <a:avLst>
              <a:gd name="adj" fmla="val 6452"/>
            </a:avLst>
          </a:prstGeom>
          <a:solidFill>
            <a:schemeClr val="accent1"/>
          </a:solidFill>
          <a:ln/>
        </p:spPr>
      </p:sp>
      <p:sp>
        <p:nvSpPr>
          <p:cNvPr id="30" name="Text 23"/>
          <p:cNvSpPr txBox="1"/>
          <p:nvPr/>
        </p:nvSpPr>
        <p:spPr>
          <a:xfrm>
            <a:off x="7089648"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31" name="Icon circle"/>
          <p:cNvSpPr/>
          <p:nvPr/>
        </p:nvSpPr>
        <p:spPr>
          <a:xfrm>
            <a:off x="7341108" y="2240280"/>
            <a:ext cx="731520" cy="731520"/>
          </a:xfrm>
          <a:prstGeom prst="ellipse">
            <a:avLst/>
          </a:prstGeom>
          <a:solidFill>
            <a:schemeClr val="tx2"/>
          </a:solidFill>
          <a:ln/>
        </p:spPr>
      </p:sp>
      <p:pic>
        <p:nvPicPr>
          <p:cNvPr id="32" name="Image 4" descr="ProjectDiagram icon">    </p:cNvPr>
          <p:cNvPicPr>
            <a:picLocks noChangeAspect="1"/>
          </p:cNvPicPr>
          <p:nvPr/>
        </p:nvPicPr>
        <p:blipFill>
          <a:blip r:embed="rId5"/>
          <a:stretch>
            <a:fillRect/>
          </a:stretch>
        </p:blipFill>
        <p:spPr>
          <a:xfrm>
            <a:off x="7531303" y="2430475"/>
            <a:ext cx="351130" cy="351130"/>
          </a:xfrm>
          <a:prstGeom prst="rect">
            <a:avLst/>
          </a:prstGeom>
        </p:spPr>
      </p:pic>
      <p:sp>
        <p:nvSpPr>
          <p:cNvPr id="33" name="Text 25"/>
          <p:cNvSpPr txBox="1"/>
          <p:nvPr/>
        </p:nvSpPr>
        <p:spPr>
          <a:xfrm>
            <a:off x="7089648"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Explain &amp; Segment</a:t>
            </a:r>
            <a:endParaRPr lang="en-US" sz="1500" dirty="0"/>
          </a:p>
        </p:txBody>
      </p:sp>
      <p:sp>
        <p:nvSpPr>
          <p:cNvPr id="34" name="Arrow"/>
          <p:cNvSpPr/>
          <p:nvPr/>
        </p:nvSpPr>
        <p:spPr>
          <a:xfrm rot="5400000">
            <a:off x="8421624" y="2816352"/>
            <a:ext cx="182880" cy="128016"/>
          </a:xfrm>
          <a:prstGeom prst="triangle">
            <a:avLst/>
          </a:prstGeom>
          <a:solidFill>
            <a:schemeClr val="accent6"/>
          </a:solidFill>
          <a:ln/>
        </p:spPr>
      </p:sp>
      <p:sp>
        <p:nvSpPr>
          <p:cNvPr id="35" name="Card"/>
          <p:cNvSpPr/>
          <p:nvPr/>
        </p:nvSpPr>
        <p:spPr>
          <a:xfrm>
            <a:off x="8610600" y="1737360"/>
            <a:ext cx="1417320" cy="2286000"/>
          </a:xfrm>
          <a:prstGeom prst="roundRect">
            <a:avLst>
              <a:gd name="adj" fmla="val 6452"/>
            </a:avLst>
          </a:prstGeom>
          <a:solidFill>
            <a:schemeClr val="accent2"/>
          </a:solidFill>
          <a:ln/>
        </p:spPr>
      </p:sp>
      <p:sp>
        <p:nvSpPr>
          <p:cNvPr id="36" name="Text 28"/>
          <p:cNvSpPr txBox="1"/>
          <p:nvPr/>
        </p:nvSpPr>
        <p:spPr>
          <a:xfrm>
            <a:off x="8702040"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6</a:t>
            </a:r>
            <a:endParaRPr lang="en-US" sz="1200" dirty="0"/>
          </a:p>
        </p:txBody>
      </p:sp>
      <p:sp>
        <p:nvSpPr>
          <p:cNvPr id="37" name="Icon circle"/>
          <p:cNvSpPr/>
          <p:nvPr/>
        </p:nvSpPr>
        <p:spPr>
          <a:xfrm>
            <a:off x="8953500" y="2240280"/>
            <a:ext cx="731520" cy="731520"/>
          </a:xfrm>
          <a:prstGeom prst="ellipse">
            <a:avLst/>
          </a:prstGeom>
          <a:solidFill>
            <a:schemeClr val="tx2"/>
          </a:solidFill>
          <a:ln/>
        </p:spPr>
      </p:sp>
      <p:pic>
        <p:nvPicPr>
          <p:cNvPr id="38" name="Image 5" descr="Lightbulb icon">    </p:cNvPr>
          <p:cNvPicPr>
            <a:picLocks noChangeAspect="1"/>
          </p:cNvPicPr>
          <p:nvPr/>
        </p:nvPicPr>
        <p:blipFill>
          <a:blip r:embed="rId6"/>
          <a:stretch>
            <a:fillRect/>
          </a:stretch>
        </p:blipFill>
        <p:spPr>
          <a:xfrm>
            <a:off x="9143695" y="2430475"/>
            <a:ext cx="351130" cy="351130"/>
          </a:xfrm>
          <a:prstGeom prst="rect">
            <a:avLst/>
          </a:prstGeom>
        </p:spPr>
      </p:pic>
      <p:sp>
        <p:nvSpPr>
          <p:cNvPr id="39" name="Text 30"/>
          <p:cNvSpPr txBox="1"/>
          <p:nvPr/>
        </p:nvSpPr>
        <p:spPr>
          <a:xfrm>
            <a:off x="8702040"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Recommend Actions</a:t>
            </a:r>
            <a:endParaRPr lang="en-US" sz="1500" dirty="0"/>
          </a:p>
        </p:txBody>
      </p:sp>
      <p:sp>
        <p:nvSpPr>
          <p:cNvPr id="40" name="Arrow"/>
          <p:cNvSpPr/>
          <p:nvPr/>
        </p:nvSpPr>
        <p:spPr>
          <a:xfrm rot="5400000">
            <a:off x="10034016" y="2816352"/>
            <a:ext cx="182880" cy="128016"/>
          </a:xfrm>
          <a:prstGeom prst="triangle">
            <a:avLst/>
          </a:prstGeom>
          <a:solidFill>
            <a:schemeClr val="accent6"/>
          </a:solidFill>
          <a:ln/>
        </p:spPr>
      </p:sp>
      <p:sp>
        <p:nvSpPr>
          <p:cNvPr id="41" name="Card"/>
          <p:cNvSpPr/>
          <p:nvPr/>
        </p:nvSpPr>
        <p:spPr>
          <a:xfrm>
            <a:off x="10222992" y="1737360"/>
            <a:ext cx="1417320" cy="2286000"/>
          </a:xfrm>
          <a:prstGeom prst="roundRect">
            <a:avLst>
              <a:gd name="adj" fmla="val 6452"/>
            </a:avLst>
          </a:prstGeom>
          <a:solidFill>
            <a:schemeClr val="accent2"/>
          </a:solidFill>
          <a:ln/>
        </p:spPr>
      </p:sp>
      <p:sp>
        <p:nvSpPr>
          <p:cNvPr id="42" name="Text 33"/>
          <p:cNvSpPr txBox="1"/>
          <p:nvPr/>
        </p:nvSpPr>
        <p:spPr>
          <a:xfrm>
            <a:off x="10314432" y="1828800"/>
            <a:ext cx="310896" cy="310896"/>
          </a:xfrm>
          <a:prstGeom prst="ellipse">
            <a:avLst/>
          </a:prstGeom>
          <a:solidFill>
            <a:schemeClr val="bg1"/>
          </a:solidFill>
          <a:ln/>
        </p:spPr>
        <p:txBody>
          <a:bodyPr wrap="square" lIns="0" tIns="0" rIns="0" bIns="0" rtlCol="0" anchor="ctr"/>
          <a:lstStyle/>
          <a:p>
            <a:pPr algn="ctr" indent="0" marL="0">
              <a:buNone/>
            </a:pPr>
            <a:r>
              <a:rPr lang="en-US" sz="1200" b="1" dirty="0">
                <a:solidFill>
                  <a:schemeClr val="tx2"/>
                </a:solidFill>
              </a:rPr>
              <a:t>7</a:t>
            </a:r>
            <a:endParaRPr lang="en-US" sz="1200" dirty="0"/>
          </a:p>
        </p:txBody>
      </p:sp>
      <p:sp>
        <p:nvSpPr>
          <p:cNvPr id="43" name="Icon circle"/>
          <p:cNvSpPr/>
          <p:nvPr/>
        </p:nvSpPr>
        <p:spPr>
          <a:xfrm>
            <a:off x="10565892" y="2240280"/>
            <a:ext cx="731520" cy="731520"/>
          </a:xfrm>
          <a:prstGeom prst="ellipse">
            <a:avLst/>
          </a:prstGeom>
          <a:solidFill>
            <a:schemeClr val="tx2"/>
          </a:solidFill>
          <a:ln/>
        </p:spPr>
      </p:sp>
      <p:pic>
        <p:nvPicPr>
          <p:cNvPr id="44" name="Image 6" descr="TachometerAlt icon">    </p:cNvPr>
          <p:cNvPicPr>
            <a:picLocks noChangeAspect="1"/>
          </p:cNvPicPr>
          <p:nvPr/>
        </p:nvPicPr>
        <p:blipFill>
          <a:blip r:embed="rId7"/>
          <a:stretch>
            <a:fillRect/>
          </a:stretch>
        </p:blipFill>
        <p:spPr>
          <a:xfrm>
            <a:off x="10756087" y="2430475"/>
            <a:ext cx="351130" cy="351130"/>
          </a:xfrm>
          <a:prstGeom prst="rect">
            <a:avLst/>
          </a:prstGeom>
        </p:spPr>
      </p:pic>
      <p:sp>
        <p:nvSpPr>
          <p:cNvPr id="45" name="Text 35"/>
          <p:cNvSpPr txBox="1"/>
          <p:nvPr/>
        </p:nvSpPr>
        <p:spPr>
          <a:xfrm>
            <a:off x="10314432" y="3108960"/>
            <a:ext cx="1234440" cy="822960"/>
          </a:xfrm>
          <a:prstGeom prst="rect">
            <a:avLst/>
          </a:prstGeom>
          <a:noFill/>
          <a:ln/>
        </p:spPr>
        <p:txBody>
          <a:bodyPr wrap="square" lIns="0" tIns="0" rIns="0" bIns="0" rtlCol="0" anchor="ctr"/>
          <a:lstStyle/>
          <a:p>
            <a:pPr algn="ctr" indent="0" marL="0">
              <a:buNone/>
            </a:pPr>
            <a:r>
              <a:rPr lang="en-US" sz="1500" b="1" dirty="0">
                <a:solidFill>
                  <a:schemeClr val="bg1"/>
                </a:solidFill>
              </a:rPr>
              <a:t>Interactive Dashboard</a:t>
            </a:r>
            <a:endParaRPr lang="en-US" sz="1500" dirty="0"/>
          </a:p>
        </p:txBody>
      </p:sp>
      <p:sp>
        <p:nvSpPr>
          <p:cNvPr id="46" name="Text 36"/>
          <p:cNvSpPr txBox="1"/>
          <p:nvPr/>
        </p:nvSpPr>
        <p:spPr>
          <a:xfrm>
            <a:off x="548640" y="4206240"/>
            <a:ext cx="3029712" cy="274320"/>
          </a:xfrm>
          <a:prstGeom prst="rect">
            <a:avLst/>
          </a:prstGeom>
          <a:noFill/>
          <a:ln/>
        </p:spPr>
        <p:txBody>
          <a:bodyPr wrap="square" lIns="0" tIns="0" rIns="0" bIns="0" rtlCol="0" anchor="t"/>
          <a:lstStyle/>
          <a:p>
            <a:pPr algn="ctr" indent="0" marL="0">
              <a:buNone/>
            </a:pPr>
            <a:r>
              <a:rPr lang="en-US" sz="1200" b="1" spc="300" kern="0" dirty="0">
                <a:solidFill>
                  <a:schemeClr val="tx2"/>
                </a:solidFill>
              </a:rPr>
              <a:t>PREPARE</a:t>
            </a:r>
            <a:endParaRPr lang="en-US" sz="1200" dirty="0"/>
          </a:p>
        </p:txBody>
      </p:sp>
      <p:sp>
        <p:nvSpPr>
          <p:cNvPr id="47" name="Text 37"/>
          <p:cNvSpPr txBox="1"/>
          <p:nvPr/>
        </p:nvSpPr>
        <p:spPr>
          <a:xfrm>
            <a:off x="3773424" y="4206240"/>
            <a:ext cx="4642104" cy="274320"/>
          </a:xfrm>
          <a:prstGeom prst="rect">
            <a:avLst/>
          </a:prstGeom>
          <a:noFill/>
          <a:ln/>
        </p:spPr>
        <p:txBody>
          <a:bodyPr wrap="square" lIns="0" tIns="0" rIns="0" bIns="0" rtlCol="0" anchor="t"/>
          <a:lstStyle/>
          <a:p>
            <a:pPr algn="ctr" indent="0" marL="0">
              <a:buNone/>
            </a:pPr>
            <a:r>
              <a:rPr lang="en-US" sz="1200" b="1" spc="300" kern="0" dirty="0">
                <a:solidFill>
                  <a:schemeClr val="accent1"/>
                </a:solidFill>
              </a:rPr>
              <a:t>ANALYZE</a:t>
            </a:r>
            <a:endParaRPr lang="en-US" sz="1200" dirty="0"/>
          </a:p>
        </p:txBody>
      </p:sp>
      <p:sp>
        <p:nvSpPr>
          <p:cNvPr id="48" name="Text 38"/>
          <p:cNvSpPr txBox="1"/>
          <p:nvPr/>
        </p:nvSpPr>
        <p:spPr>
          <a:xfrm>
            <a:off x="8610600" y="4206240"/>
            <a:ext cx="3029712" cy="274320"/>
          </a:xfrm>
          <a:prstGeom prst="rect">
            <a:avLst/>
          </a:prstGeom>
          <a:noFill/>
          <a:ln/>
        </p:spPr>
        <p:txBody>
          <a:bodyPr wrap="square" lIns="0" tIns="0" rIns="0" bIns="0" rtlCol="0" anchor="t"/>
          <a:lstStyle/>
          <a:p>
            <a:pPr algn="ctr" indent="0" marL="0">
              <a:buNone/>
            </a:pPr>
            <a:r>
              <a:rPr lang="en-US" sz="1200" b="1" spc="300" kern="0" dirty="0">
                <a:solidFill>
                  <a:schemeClr val="accent2"/>
                </a:solidFill>
              </a:rPr>
              <a:t>ACT</a:t>
            </a:r>
            <a:endParaRPr lang="en-US" sz="1200" dirty="0"/>
          </a:p>
        </p:txBody>
      </p:sp>
      <p:sp>
        <p:nvSpPr>
          <p:cNvPr id="49" name="Card"/>
          <p:cNvSpPr/>
          <p:nvPr/>
        </p:nvSpPr>
        <p:spPr>
          <a:xfrm>
            <a:off x="548640" y="4892040"/>
            <a:ext cx="11091672" cy="914400"/>
          </a:xfrm>
          <a:prstGeom prst="roundRect">
            <a:avLst>
              <a:gd name="adj" fmla="val 8000"/>
            </a:avLst>
          </a:prstGeom>
          <a:solidFill>
            <a:schemeClr val="bg2"/>
          </a:solidFill>
          <a:ln/>
        </p:spPr>
      </p:sp>
      <p:sp>
        <p:nvSpPr>
          <p:cNvPr id="50" name="Text 40"/>
          <p:cNvSpPr txBox="1"/>
          <p:nvPr/>
        </p:nvSpPr>
        <p:spPr>
          <a:xfrm>
            <a:off x="822960" y="4892040"/>
            <a:ext cx="10515600" cy="914400"/>
          </a:xfrm>
          <a:prstGeom prst="rect">
            <a:avLst/>
          </a:prstGeom>
          <a:noFill/>
          <a:ln/>
        </p:spPr>
        <p:txBody>
          <a:bodyPr wrap="square" lIns="0" tIns="0" rIns="0" bIns="0" rtlCol="0" anchor="ctr"/>
          <a:lstStyle/>
          <a:p>
            <a:pPr indent="0" marL="0">
              <a:buNone/>
            </a:pPr>
            <a:r>
              <a:rPr lang="en-US" sz="1700" b="1" dirty="0">
                <a:solidFill>
                  <a:schemeClr val="tx2"/>
                </a:solidFill>
              </a:rPr>
              <a:t>Outcome: </a:t>
            </a:r>
            <a:pPr indent="0" marL="0">
              <a:buNone/>
            </a:pPr>
            <a:r>
              <a:rPr lang="en-US" sz="1700" dirty="0">
                <a:solidFill>
                  <a:schemeClr val="tx1"/>
                </a:solidFill>
              </a:rPr>
              <a:t>a unified decision-support prototype that connects student indicators to potential actions.</a:t>
            </a:r>
            <a:endParaRPr lang="en-US" sz="17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DATA INTEGRATION</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Building the unified Student 360° dataset</a:t>
            </a:r>
            <a:endParaRPr lang="en-US" sz="3000" dirty="0"/>
          </a:p>
        </p:txBody>
      </p:sp>
      <p:sp>
        <p:nvSpPr>
          <p:cNvPr id="5" name="Connector"/>
          <p:cNvSpPr/>
          <p:nvPr/>
        </p:nvSpPr>
        <p:spPr>
          <a:xfrm>
            <a:off x="5120640" y="1691640"/>
            <a:ext cx="822960" cy="1920240"/>
          </a:xfrm>
          <a:prstGeom prst="line">
            <a:avLst/>
          </a:prstGeom>
          <a:noFill/>
          <a:ln w="15875">
            <a:solidFill>
              <a:schemeClr val="accent6"/>
            </a:solidFill>
            <a:prstDash val="solid"/>
          </a:ln>
        </p:spPr>
      </p:sp>
      <p:sp>
        <p:nvSpPr>
          <p:cNvPr id="6" name="Connector"/>
          <p:cNvSpPr/>
          <p:nvPr/>
        </p:nvSpPr>
        <p:spPr>
          <a:xfrm>
            <a:off x="5120640" y="2240280"/>
            <a:ext cx="822960" cy="1371600"/>
          </a:xfrm>
          <a:prstGeom prst="line">
            <a:avLst/>
          </a:prstGeom>
          <a:noFill/>
          <a:ln w="15875">
            <a:solidFill>
              <a:schemeClr val="accent6"/>
            </a:solidFill>
            <a:prstDash val="solid"/>
          </a:ln>
        </p:spPr>
      </p:sp>
      <p:sp>
        <p:nvSpPr>
          <p:cNvPr id="7" name="Connector"/>
          <p:cNvSpPr/>
          <p:nvPr/>
        </p:nvSpPr>
        <p:spPr>
          <a:xfrm>
            <a:off x="5120640" y="2788920"/>
            <a:ext cx="822960" cy="822960"/>
          </a:xfrm>
          <a:prstGeom prst="line">
            <a:avLst/>
          </a:prstGeom>
          <a:noFill/>
          <a:ln w="15875">
            <a:solidFill>
              <a:schemeClr val="accent6"/>
            </a:solidFill>
            <a:prstDash val="solid"/>
          </a:ln>
        </p:spPr>
      </p:sp>
      <p:sp>
        <p:nvSpPr>
          <p:cNvPr id="8" name="Connector"/>
          <p:cNvSpPr/>
          <p:nvPr/>
        </p:nvSpPr>
        <p:spPr>
          <a:xfrm>
            <a:off x="5120640" y="3337560"/>
            <a:ext cx="822960" cy="274320"/>
          </a:xfrm>
          <a:prstGeom prst="line">
            <a:avLst/>
          </a:prstGeom>
          <a:noFill/>
          <a:ln w="15875">
            <a:solidFill>
              <a:schemeClr val="accent6"/>
            </a:solidFill>
            <a:prstDash val="solid"/>
          </a:ln>
        </p:spPr>
      </p:sp>
      <p:sp>
        <p:nvSpPr>
          <p:cNvPr id="9" name="Connector"/>
          <p:cNvSpPr/>
          <p:nvPr/>
        </p:nvSpPr>
        <p:spPr>
          <a:xfrm flipV="1">
            <a:off x="5120640" y="3611880"/>
            <a:ext cx="822960" cy="274320"/>
          </a:xfrm>
          <a:prstGeom prst="line">
            <a:avLst/>
          </a:prstGeom>
          <a:noFill/>
          <a:ln w="15875">
            <a:solidFill>
              <a:schemeClr val="accent6"/>
            </a:solidFill>
            <a:prstDash val="solid"/>
          </a:ln>
        </p:spPr>
      </p:sp>
      <p:sp>
        <p:nvSpPr>
          <p:cNvPr id="10" name="Connector"/>
          <p:cNvSpPr/>
          <p:nvPr/>
        </p:nvSpPr>
        <p:spPr>
          <a:xfrm flipV="1">
            <a:off x="5120640" y="3611880"/>
            <a:ext cx="822960" cy="822960"/>
          </a:xfrm>
          <a:prstGeom prst="line">
            <a:avLst/>
          </a:prstGeom>
          <a:noFill/>
          <a:ln w="15875">
            <a:solidFill>
              <a:schemeClr val="accent6"/>
            </a:solidFill>
            <a:prstDash val="solid"/>
          </a:ln>
        </p:spPr>
      </p:sp>
      <p:sp>
        <p:nvSpPr>
          <p:cNvPr id="11" name="Connector"/>
          <p:cNvSpPr/>
          <p:nvPr/>
        </p:nvSpPr>
        <p:spPr>
          <a:xfrm flipV="1">
            <a:off x="5120640" y="3611880"/>
            <a:ext cx="822960" cy="1371600"/>
          </a:xfrm>
          <a:prstGeom prst="line">
            <a:avLst/>
          </a:prstGeom>
          <a:noFill/>
          <a:ln w="15875">
            <a:solidFill>
              <a:schemeClr val="accent6"/>
            </a:solidFill>
            <a:prstDash val="solid"/>
          </a:ln>
        </p:spPr>
      </p:sp>
      <p:sp>
        <p:nvSpPr>
          <p:cNvPr id="12" name="Connector"/>
          <p:cNvSpPr/>
          <p:nvPr/>
        </p:nvSpPr>
        <p:spPr>
          <a:xfrm flipV="1">
            <a:off x="5120640" y="3611880"/>
            <a:ext cx="822960" cy="1920240"/>
          </a:xfrm>
          <a:prstGeom prst="line">
            <a:avLst/>
          </a:prstGeom>
          <a:noFill/>
          <a:ln w="15875">
            <a:solidFill>
              <a:schemeClr val="accent6"/>
            </a:solidFill>
            <a:prstDash val="solid"/>
          </a:ln>
        </p:spPr>
      </p:sp>
      <p:sp>
        <p:nvSpPr>
          <p:cNvPr id="13" name="Card"/>
          <p:cNvSpPr/>
          <p:nvPr/>
        </p:nvSpPr>
        <p:spPr>
          <a:xfrm>
            <a:off x="548640" y="1463040"/>
            <a:ext cx="4572000" cy="457200"/>
          </a:xfrm>
          <a:prstGeom prst="roundRect">
            <a:avLst>
              <a:gd name="adj" fmla="val 16000"/>
            </a:avLst>
          </a:prstGeom>
          <a:solidFill>
            <a:schemeClr val="bg2"/>
          </a:solidFill>
          <a:ln/>
        </p:spPr>
      </p:sp>
      <p:sp>
        <p:nvSpPr>
          <p:cNvPr id="14" name="Text 11"/>
          <p:cNvSpPr txBox="1"/>
          <p:nvPr/>
        </p:nvSpPr>
        <p:spPr>
          <a:xfrm>
            <a:off x="731520" y="146304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Student profile</a:t>
            </a:r>
            <a:pPr indent="0" marL="0">
              <a:buNone/>
            </a:pPr>
            <a:r>
              <a:rPr lang="en-US" sz="1300" dirty="0">
                <a:solidFill>
                  <a:schemeClr val="accent6"/>
                </a:solidFill>
              </a:rPr>
              <a:t>  ·  Student ID, department, semester</a:t>
            </a:r>
            <a:endParaRPr lang="en-US" sz="1300" dirty="0"/>
          </a:p>
        </p:txBody>
      </p:sp>
      <p:sp>
        <p:nvSpPr>
          <p:cNvPr id="15" name="Card"/>
          <p:cNvSpPr/>
          <p:nvPr/>
        </p:nvSpPr>
        <p:spPr>
          <a:xfrm>
            <a:off x="548640" y="2011680"/>
            <a:ext cx="4572000" cy="457200"/>
          </a:xfrm>
          <a:prstGeom prst="roundRect">
            <a:avLst>
              <a:gd name="adj" fmla="val 16000"/>
            </a:avLst>
          </a:prstGeom>
          <a:solidFill>
            <a:schemeClr val="bg2"/>
          </a:solidFill>
          <a:ln/>
        </p:spPr>
      </p:sp>
      <p:sp>
        <p:nvSpPr>
          <p:cNvPr id="16" name="Text 13"/>
          <p:cNvSpPr txBox="1"/>
          <p:nvPr/>
        </p:nvSpPr>
        <p:spPr>
          <a:xfrm>
            <a:off x="731520" y="201168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Academic</a:t>
            </a:r>
            <a:pPr indent="0" marL="0">
              <a:buNone/>
            </a:pPr>
            <a:r>
              <a:rPr lang="en-US" sz="1300" dirty="0">
                <a:solidFill>
                  <a:schemeClr val="accent6"/>
                </a:solidFill>
              </a:rPr>
              <a:t>  ·  CGPA, internal marks, backlogs</a:t>
            </a:r>
            <a:endParaRPr lang="en-US" sz="1300" dirty="0"/>
          </a:p>
        </p:txBody>
      </p:sp>
      <p:sp>
        <p:nvSpPr>
          <p:cNvPr id="17" name="Card"/>
          <p:cNvSpPr/>
          <p:nvPr/>
        </p:nvSpPr>
        <p:spPr>
          <a:xfrm>
            <a:off x="548640" y="2560320"/>
            <a:ext cx="4572000" cy="457200"/>
          </a:xfrm>
          <a:prstGeom prst="roundRect">
            <a:avLst>
              <a:gd name="adj" fmla="val 16000"/>
            </a:avLst>
          </a:prstGeom>
          <a:solidFill>
            <a:schemeClr val="bg2"/>
          </a:solidFill>
          <a:ln/>
        </p:spPr>
      </p:sp>
      <p:sp>
        <p:nvSpPr>
          <p:cNvPr id="18" name="Text 15"/>
          <p:cNvSpPr txBox="1"/>
          <p:nvPr/>
        </p:nvSpPr>
        <p:spPr>
          <a:xfrm>
            <a:off x="731520" y="256032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Attendance</a:t>
            </a:r>
            <a:pPr indent="0" marL="0">
              <a:buNone/>
            </a:pPr>
            <a:r>
              <a:rPr lang="en-US" sz="1300" dirty="0">
                <a:solidFill>
                  <a:schemeClr val="accent6"/>
                </a:solidFill>
              </a:rPr>
              <a:t>  ·  Attendance percentage</a:t>
            </a:r>
            <a:endParaRPr lang="en-US" sz="1300" dirty="0"/>
          </a:p>
        </p:txBody>
      </p:sp>
      <p:sp>
        <p:nvSpPr>
          <p:cNvPr id="19" name="Card"/>
          <p:cNvSpPr/>
          <p:nvPr/>
        </p:nvSpPr>
        <p:spPr>
          <a:xfrm>
            <a:off x="548640" y="3108960"/>
            <a:ext cx="4572000" cy="457200"/>
          </a:xfrm>
          <a:prstGeom prst="roundRect">
            <a:avLst>
              <a:gd name="adj" fmla="val 16000"/>
            </a:avLst>
          </a:prstGeom>
          <a:solidFill>
            <a:schemeClr val="bg2"/>
          </a:solidFill>
          <a:ln/>
        </p:spPr>
      </p:sp>
      <p:sp>
        <p:nvSpPr>
          <p:cNvPr id="20" name="Text 17"/>
          <p:cNvSpPr txBox="1"/>
          <p:nvPr/>
        </p:nvSpPr>
        <p:spPr>
          <a:xfrm>
            <a:off x="731520" y="310896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LMS</a:t>
            </a:r>
            <a:pPr indent="0" marL="0">
              <a:buNone/>
            </a:pPr>
            <a:r>
              <a:rPr lang="en-US" sz="1300" dirty="0">
                <a:solidFill>
                  <a:schemeClr val="accent6"/>
                </a:solidFill>
              </a:rPr>
              <a:t>  ·  Login frequency, assignment completion</a:t>
            </a:r>
            <a:endParaRPr lang="en-US" sz="1300" dirty="0"/>
          </a:p>
        </p:txBody>
      </p:sp>
      <p:sp>
        <p:nvSpPr>
          <p:cNvPr id="21" name="Card"/>
          <p:cNvSpPr/>
          <p:nvPr/>
        </p:nvSpPr>
        <p:spPr>
          <a:xfrm>
            <a:off x="548640" y="3657600"/>
            <a:ext cx="4572000" cy="457200"/>
          </a:xfrm>
          <a:prstGeom prst="roundRect">
            <a:avLst>
              <a:gd name="adj" fmla="val 16000"/>
            </a:avLst>
          </a:prstGeom>
          <a:solidFill>
            <a:schemeClr val="bg2"/>
          </a:solidFill>
          <a:ln/>
        </p:spPr>
      </p:sp>
      <p:sp>
        <p:nvSpPr>
          <p:cNvPr id="22" name="Text 19"/>
          <p:cNvSpPr txBox="1"/>
          <p:nvPr/>
        </p:nvSpPr>
        <p:spPr>
          <a:xfrm>
            <a:off x="731520" y="365760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Engagement</a:t>
            </a:r>
            <a:pPr indent="0" marL="0">
              <a:buNone/>
            </a:pPr>
            <a:r>
              <a:rPr lang="en-US" sz="1300" dirty="0">
                <a:solidFill>
                  <a:schemeClr val="accent6"/>
                </a:solidFill>
              </a:rPr>
              <a:t>  ·  Events, clubs, hackathons</a:t>
            </a:r>
            <a:endParaRPr lang="en-US" sz="1300" dirty="0"/>
          </a:p>
        </p:txBody>
      </p:sp>
      <p:sp>
        <p:nvSpPr>
          <p:cNvPr id="23" name="Card"/>
          <p:cNvSpPr/>
          <p:nvPr/>
        </p:nvSpPr>
        <p:spPr>
          <a:xfrm>
            <a:off x="548640" y="4206240"/>
            <a:ext cx="4572000" cy="457200"/>
          </a:xfrm>
          <a:prstGeom prst="roundRect">
            <a:avLst>
              <a:gd name="adj" fmla="val 16000"/>
            </a:avLst>
          </a:prstGeom>
          <a:solidFill>
            <a:schemeClr val="bg2"/>
          </a:solidFill>
          <a:ln/>
        </p:spPr>
      </p:sp>
      <p:sp>
        <p:nvSpPr>
          <p:cNvPr id="24" name="Text 21"/>
          <p:cNvSpPr txBox="1"/>
          <p:nvPr/>
        </p:nvSpPr>
        <p:spPr>
          <a:xfrm>
            <a:off x="731520" y="420624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Placement</a:t>
            </a:r>
            <a:pPr indent="0" marL="0">
              <a:buNone/>
            </a:pPr>
            <a:r>
              <a:rPr lang="en-US" sz="1300" dirty="0">
                <a:solidFill>
                  <a:schemeClr val="accent6"/>
                </a:solidFill>
              </a:rPr>
              <a:t>  ·  Aptitude, coding, mock interview</a:t>
            </a:r>
            <a:endParaRPr lang="en-US" sz="1300" dirty="0"/>
          </a:p>
        </p:txBody>
      </p:sp>
      <p:sp>
        <p:nvSpPr>
          <p:cNvPr id="25" name="Card"/>
          <p:cNvSpPr/>
          <p:nvPr/>
        </p:nvSpPr>
        <p:spPr>
          <a:xfrm>
            <a:off x="548640" y="4754880"/>
            <a:ext cx="4572000" cy="457200"/>
          </a:xfrm>
          <a:prstGeom prst="roundRect">
            <a:avLst>
              <a:gd name="adj" fmla="val 16000"/>
            </a:avLst>
          </a:prstGeom>
          <a:solidFill>
            <a:schemeClr val="bg2"/>
          </a:solidFill>
          <a:ln/>
        </p:spPr>
      </p:sp>
      <p:sp>
        <p:nvSpPr>
          <p:cNvPr id="26" name="Text 23"/>
          <p:cNvSpPr txBox="1"/>
          <p:nvPr/>
        </p:nvSpPr>
        <p:spPr>
          <a:xfrm>
            <a:off x="731520" y="475488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Skills</a:t>
            </a:r>
            <a:pPr indent="0" marL="0">
              <a:buNone/>
            </a:pPr>
            <a:r>
              <a:rPr lang="en-US" sz="1300" dirty="0">
                <a:solidFill>
                  <a:schemeClr val="accent6"/>
                </a:solidFill>
              </a:rPr>
              <a:t>  ·  Technical skills, soft skills</a:t>
            </a:r>
            <a:endParaRPr lang="en-US" sz="1300" dirty="0"/>
          </a:p>
        </p:txBody>
      </p:sp>
      <p:sp>
        <p:nvSpPr>
          <p:cNvPr id="27" name="Card"/>
          <p:cNvSpPr/>
          <p:nvPr/>
        </p:nvSpPr>
        <p:spPr>
          <a:xfrm>
            <a:off x="548640" y="5303520"/>
            <a:ext cx="4572000" cy="457200"/>
          </a:xfrm>
          <a:prstGeom prst="roundRect">
            <a:avLst>
              <a:gd name="adj" fmla="val 16000"/>
            </a:avLst>
          </a:prstGeom>
          <a:solidFill>
            <a:schemeClr val="bg2"/>
          </a:solidFill>
          <a:ln/>
        </p:spPr>
      </p:sp>
      <p:sp>
        <p:nvSpPr>
          <p:cNvPr id="28" name="Text 25"/>
          <p:cNvSpPr txBox="1"/>
          <p:nvPr/>
        </p:nvSpPr>
        <p:spPr>
          <a:xfrm>
            <a:off x="731520" y="5303520"/>
            <a:ext cx="4297680" cy="457200"/>
          </a:xfrm>
          <a:prstGeom prst="rect">
            <a:avLst/>
          </a:prstGeom>
          <a:noFill/>
          <a:ln/>
        </p:spPr>
        <p:txBody>
          <a:bodyPr wrap="square" lIns="0" tIns="0" rIns="0" bIns="0" rtlCol="0" anchor="ctr"/>
          <a:lstStyle/>
          <a:p>
            <a:pPr indent="0" marL="0">
              <a:buNone/>
            </a:pPr>
            <a:r>
              <a:rPr lang="en-US" sz="1300" b="1" dirty="0">
                <a:solidFill>
                  <a:schemeClr val="tx2"/>
                </a:solidFill>
              </a:rPr>
              <a:t>Feedback</a:t>
            </a:r>
            <a:pPr indent="0" marL="0">
              <a:buNone/>
            </a:pPr>
            <a:r>
              <a:rPr lang="en-US" sz="1300" dirty="0">
                <a:solidFill>
                  <a:schemeClr val="accent6"/>
                </a:solidFill>
              </a:rPr>
              <a:t>  ·  Satisfaction, faculty feedback</a:t>
            </a:r>
            <a:endParaRPr lang="en-US" sz="1300" dirty="0"/>
          </a:p>
        </p:txBody>
      </p:sp>
      <p:sp>
        <p:nvSpPr>
          <p:cNvPr id="29" name="Card"/>
          <p:cNvSpPr/>
          <p:nvPr/>
        </p:nvSpPr>
        <p:spPr>
          <a:xfrm>
            <a:off x="5943600" y="2286000"/>
            <a:ext cx="2286000" cy="2651760"/>
          </a:xfrm>
          <a:prstGeom prst="roundRect">
            <a:avLst>
              <a:gd name="adj" fmla="val 4800"/>
            </a:avLst>
          </a:prstGeom>
          <a:solidFill>
            <a:schemeClr val="tx2"/>
          </a:solidFill>
          <a:ln/>
        </p:spPr>
      </p:sp>
      <p:sp>
        <p:nvSpPr>
          <p:cNvPr id="30" name="Icon circle"/>
          <p:cNvSpPr/>
          <p:nvPr/>
        </p:nvSpPr>
        <p:spPr>
          <a:xfrm>
            <a:off x="6675120" y="2468880"/>
            <a:ext cx="822960" cy="822960"/>
          </a:xfrm>
          <a:prstGeom prst="ellipse">
            <a:avLst/>
          </a:prstGeom>
          <a:solidFill>
            <a:schemeClr val="accent1"/>
          </a:solidFill>
          <a:ln/>
        </p:spPr>
      </p:sp>
      <p:pic>
        <p:nvPicPr>
          <p:cNvPr id="31" name="Image 0" descr="ProjectDiagram icon">    </p:cNvPr>
          <p:cNvPicPr>
            <a:picLocks noChangeAspect="1"/>
          </p:cNvPicPr>
          <p:nvPr/>
        </p:nvPicPr>
        <p:blipFill>
          <a:blip r:embed="rId1"/>
          <a:stretch>
            <a:fillRect/>
          </a:stretch>
        </p:blipFill>
        <p:spPr>
          <a:xfrm>
            <a:off x="6889090" y="2682850"/>
            <a:ext cx="395021" cy="395021"/>
          </a:xfrm>
          <a:prstGeom prst="rect">
            <a:avLst/>
          </a:prstGeom>
        </p:spPr>
      </p:pic>
      <p:sp>
        <p:nvSpPr>
          <p:cNvPr id="32" name="Text 28"/>
          <p:cNvSpPr txBox="1"/>
          <p:nvPr/>
        </p:nvSpPr>
        <p:spPr>
          <a:xfrm>
            <a:off x="6080760" y="3429000"/>
            <a:ext cx="2011680" cy="320040"/>
          </a:xfrm>
          <a:prstGeom prst="rect">
            <a:avLst/>
          </a:prstGeom>
          <a:noFill/>
          <a:ln/>
        </p:spPr>
        <p:txBody>
          <a:bodyPr wrap="square" lIns="0" tIns="0" rIns="0" bIns="0" rtlCol="0" anchor="t"/>
          <a:lstStyle/>
          <a:p>
            <a:pPr algn="ctr" indent="0" marL="0">
              <a:buNone/>
            </a:pPr>
            <a:r>
              <a:rPr lang="en-US" sz="1600" b="1" dirty="0">
                <a:solidFill>
                  <a:schemeClr val="bg1"/>
                </a:solidFill>
              </a:rPr>
              <a:t>Merge on Student ID</a:t>
            </a:r>
            <a:endParaRPr lang="en-US" sz="1600" dirty="0"/>
          </a:p>
        </p:txBody>
      </p:sp>
      <p:sp>
        <p:nvSpPr>
          <p:cNvPr id="33" name="Text 29"/>
          <p:cNvSpPr txBox="1"/>
          <p:nvPr/>
        </p:nvSpPr>
        <p:spPr>
          <a:xfrm>
            <a:off x="6080760" y="3840480"/>
            <a:ext cx="2011680" cy="914400"/>
          </a:xfrm>
          <a:prstGeom prst="rect">
            <a:avLst/>
          </a:prstGeom>
          <a:noFill/>
          <a:ln/>
        </p:spPr>
        <p:txBody>
          <a:bodyPr wrap="square" lIns="0" tIns="0" rIns="0" bIns="0" rtlCol="0" anchor="t"/>
          <a:lstStyle/>
          <a:p>
            <a:pPr algn="ctr" indent="0" marL="0">
              <a:buNone/>
            </a:pPr>
            <a:r>
              <a:rPr lang="en-US" sz="1300" dirty="0">
                <a:solidFill>
                  <a:srgbClr val="B8C4D6"/>
                </a:solidFill>
              </a:rPr>
              <a:t>Load CSV files with Pandas, then calculate analytical indicators</a:t>
            </a:r>
            <a:endParaRPr lang="en-US" sz="1300" dirty="0"/>
          </a:p>
        </p:txBody>
      </p:sp>
      <p:sp>
        <p:nvSpPr>
          <p:cNvPr id="34" name="Connector"/>
          <p:cNvSpPr/>
          <p:nvPr/>
        </p:nvSpPr>
        <p:spPr>
          <a:xfrm>
            <a:off x="8229600" y="3611880"/>
            <a:ext cx="685800" cy="0"/>
          </a:xfrm>
          <a:prstGeom prst="line">
            <a:avLst/>
          </a:prstGeom>
          <a:noFill/>
          <a:ln w="31750">
            <a:solidFill>
              <a:schemeClr val="accent6"/>
            </a:solidFill>
            <a:prstDash val="solid"/>
            <a:tailEnd type="triangle"/>
          </a:ln>
        </p:spPr>
      </p:sp>
      <p:sp>
        <p:nvSpPr>
          <p:cNvPr id="35" name="Card"/>
          <p:cNvSpPr/>
          <p:nvPr/>
        </p:nvSpPr>
        <p:spPr>
          <a:xfrm>
            <a:off x="8915400" y="2286000"/>
            <a:ext cx="2724912" cy="2651760"/>
          </a:xfrm>
          <a:prstGeom prst="roundRect">
            <a:avLst>
              <a:gd name="adj" fmla="val 4138"/>
            </a:avLst>
          </a:prstGeom>
          <a:solidFill>
            <a:schemeClr val="bg2"/>
          </a:solidFill>
          <a:ln/>
        </p:spPr>
      </p:sp>
      <p:sp>
        <p:nvSpPr>
          <p:cNvPr id="36" name="Text 32"/>
          <p:cNvSpPr txBox="1"/>
          <p:nvPr/>
        </p:nvSpPr>
        <p:spPr>
          <a:xfrm>
            <a:off x="9098280" y="2468880"/>
            <a:ext cx="2377440" cy="365760"/>
          </a:xfrm>
          <a:prstGeom prst="rect">
            <a:avLst/>
          </a:prstGeom>
          <a:noFill/>
          <a:ln/>
        </p:spPr>
        <p:txBody>
          <a:bodyPr wrap="square" lIns="0" tIns="0" rIns="0" bIns="0" rtlCol="0" anchor="t"/>
          <a:lstStyle/>
          <a:p>
            <a:pPr algn="ctr" indent="0" marL="0">
              <a:buNone/>
            </a:pPr>
            <a:r>
              <a:rPr lang="en-US" sz="1600" b="1" dirty="0">
                <a:solidFill>
                  <a:schemeClr val="tx2"/>
                </a:solidFill>
              </a:rPr>
              <a:t>Student 360° dataset</a:t>
            </a:r>
            <a:endParaRPr lang="en-US" sz="1600" dirty="0"/>
          </a:p>
        </p:txBody>
      </p:sp>
      <p:sp>
        <p:nvSpPr>
          <p:cNvPr id="37" name="Text 33"/>
          <p:cNvSpPr txBox="1"/>
          <p:nvPr/>
        </p:nvSpPr>
        <p:spPr>
          <a:xfrm>
            <a:off x="9098280" y="3017520"/>
            <a:ext cx="2377440" cy="914400"/>
          </a:xfrm>
          <a:prstGeom prst="rect">
            <a:avLst/>
          </a:prstGeom>
          <a:noFill/>
          <a:ln/>
        </p:spPr>
        <p:txBody>
          <a:bodyPr wrap="square" lIns="0" tIns="0" rIns="0" bIns="0" rtlCol="0" anchor="ctr"/>
          <a:lstStyle/>
          <a:p>
            <a:pPr algn="ctr" indent="0" marL="0">
              <a:buNone/>
            </a:pPr>
            <a:r>
              <a:rPr lang="en-US" sz="6000" b="1" dirty="0">
                <a:solidFill>
                  <a:schemeClr val="accent1"/>
                </a:solidFill>
              </a:rPr>
              <a:t>500</a:t>
            </a:r>
            <a:endParaRPr lang="en-US" sz="6000" dirty="0"/>
          </a:p>
        </p:txBody>
      </p:sp>
      <p:sp>
        <p:nvSpPr>
          <p:cNvPr id="38" name="Text 34"/>
          <p:cNvSpPr txBox="1"/>
          <p:nvPr/>
        </p:nvSpPr>
        <p:spPr>
          <a:xfrm>
            <a:off x="9098280" y="4023360"/>
            <a:ext cx="2377440" cy="365760"/>
          </a:xfrm>
          <a:prstGeom prst="rect">
            <a:avLst/>
          </a:prstGeom>
          <a:noFill/>
          <a:ln/>
        </p:spPr>
        <p:txBody>
          <a:bodyPr wrap="square" lIns="0" tIns="0" rIns="0" bIns="0" rtlCol="0" anchor="t"/>
          <a:lstStyle/>
          <a:p>
            <a:pPr algn="ctr" indent="0" marL="0">
              <a:buNone/>
            </a:pPr>
            <a:r>
              <a:rPr lang="en-US" sz="1400" dirty="0">
                <a:solidFill>
                  <a:schemeClr val="tx1"/>
                </a:solidFill>
              </a:rPr>
              <a:t>synthetic student profiles</a:t>
            </a:r>
            <a:endParaRPr lang="en-US" sz="1400" dirty="0"/>
          </a:p>
        </p:txBody>
      </p:sp>
      <p:sp>
        <p:nvSpPr>
          <p:cNvPr id="39" name="Text 35"/>
          <p:cNvSpPr txBox="1"/>
          <p:nvPr/>
        </p:nvSpPr>
        <p:spPr>
          <a:xfrm>
            <a:off x="8915400" y="5120640"/>
            <a:ext cx="2724912" cy="502920"/>
          </a:xfrm>
          <a:prstGeom prst="roundRect">
            <a:avLst>
              <a:gd name="adj" fmla="val 18182"/>
            </a:avLst>
          </a:prstGeom>
          <a:solidFill>
            <a:schemeClr val="accent2">
              <a:alpha val="15000"/>
            </a:schemeClr>
          </a:solidFill>
          <a:ln/>
        </p:spPr>
        <p:txBody>
          <a:bodyPr wrap="square" lIns="508" tIns="508" rIns="508" bIns="508" rtlCol="0" anchor="ctr"/>
          <a:lstStyle/>
          <a:p>
            <a:pPr algn="ctr" indent="0" marL="0">
              <a:buNone/>
            </a:pPr>
            <a:r>
              <a:rPr lang="en-US" sz="1200" b="1" dirty="0">
                <a:solidFill>
                  <a:schemeClr val="tx2"/>
                </a:solidFill>
              </a:rPr>
              <a:t>Synthetic data: no real student records</a:t>
            </a:r>
            <a:endParaRPr lang="en-US" sz="12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STUDENT 360° VIEW</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Understanding each student beyond academic marks</a:t>
            </a:r>
            <a:endParaRPr lang="en-US" sz="3000" dirty="0"/>
          </a:p>
        </p:txBody>
      </p:sp>
      <p:sp>
        <p:nvSpPr>
          <p:cNvPr id="5" name="Text 2"/>
          <p:cNvSpPr txBox="1"/>
          <p:nvPr/>
        </p:nvSpPr>
        <p:spPr>
          <a:xfrm>
            <a:off x="548640" y="1463040"/>
            <a:ext cx="38404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DATA DIMENSIONS</a:t>
            </a:r>
            <a:endParaRPr lang="en-US" sz="1200" dirty="0"/>
          </a:p>
        </p:txBody>
      </p:sp>
      <p:sp>
        <p:nvSpPr>
          <p:cNvPr id="6" name="Text 3"/>
          <p:cNvSpPr txBox="1"/>
          <p:nvPr/>
        </p:nvSpPr>
        <p:spPr>
          <a:xfrm>
            <a:off x="7799832" y="1463040"/>
            <a:ext cx="38404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GENERATED INSIGHTS</a:t>
            </a:r>
            <a:endParaRPr lang="en-US" sz="1200" dirty="0"/>
          </a:p>
        </p:txBody>
      </p:sp>
      <p:sp>
        <p:nvSpPr>
          <p:cNvPr id="7" name="Connector"/>
          <p:cNvSpPr/>
          <p:nvPr/>
        </p:nvSpPr>
        <p:spPr>
          <a:xfrm>
            <a:off x="4389120" y="2048256"/>
            <a:ext cx="1707185" cy="1609344"/>
          </a:xfrm>
          <a:prstGeom prst="line">
            <a:avLst/>
          </a:prstGeom>
          <a:noFill/>
          <a:ln w="15875">
            <a:solidFill>
              <a:schemeClr val="accent6"/>
            </a:solidFill>
            <a:prstDash val="solid"/>
          </a:ln>
        </p:spPr>
      </p:sp>
      <p:sp>
        <p:nvSpPr>
          <p:cNvPr id="8" name="Connector"/>
          <p:cNvSpPr/>
          <p:nvPr/>
        </p:nvSpPr>
        <p:spPr>
          <a:xfrm>
            <a:off x="4389120" y="2688336"/>
            <a:ext cx="1707185" cy="969264"/>
          </a:xfrm>
          <a:prstGeom prst="line">
            <a:avLst/>
          </a:prstGeom>
          <a:noFill/>
          <a:ln w="15875">
            <a:solidFill>
              <a:schemeClr val="accent6"/>
            </a:solidFill>
            <a:prstDash val="solid"/>
          </a:ln>
        </p:spPr>
      </p:sp>
      <p:sp>
        <p:nvSpPr>
          <p:cNvPr id="9" name="Connector"/>
          <p:cNvSpPr/>
          <p:nvPr/>
        </p:nvSpPr>
        <p:spPr>
          <a:xfrm>
            <a:off x="4389120" y="3328416"/>
            <a:ext cx="1707185" cy="329184"/>
          </a:xfrm>
          <a:prstGeom prst="line">
            <a:avLst/>
          </a:prstGeom>
          <a:noFill/>
          <a:ln w="15875">
            <a:solidFill>
              <a:schemeClr val="accent6"/>
            </a:solidFill>
            <a:prstDash val="solid"/>
          </a:ln>
        </p:spPr>
      </p:sp>
      <p:sp>
        <p:nvSpPr>
          <p:cNvPr id="10" name="Connector"/>
          <p:cNvSpPr/>
          <p:nvPr/>
        </p:nvSpPr>
        <p:spPr>
          <a:xfrm flipV="1">
            <a:off x="4389120" y="3657600"/>
            <a:ext cx="1707185" cy="310896"/>
          </a:xfrm>
          <a:prstGeom prst="line">
            <a:avLst/>
          </a:prstGeom>
          <a:noFill/>
          <a:ln w="15875">
            <a:solidFill>
              <a:schemeClr val="accent6"/>
            </a:solidFill>
            <a:prstDash val="solid"/>
          </a:ln>
        </p:spPr>
      </p:sp>
      <p:sp>
        <p:nvSpPr>
          <p:cNvPr id="11" name="Connector"/>
          <p:cNvSpPr/>
          <p:nvPr/>
        </p:nvSpPr>
        <p:spPr>
          <a:xfrm flipV="1">
            <a:off x="4389120" y="3657600"/>
            <a:ext cx="1707185" cy="950976"/>
          </a:xfrm>
          <a:prstGeom prst="line">
            <a:avLst/>
          </a:prstGeom>
          <a:noFill/>
          <a:ln w="15875">
            <a:solidFill>
              <a:schemeClr val="accent6"/>
            </a:solidFill>
            <a:prstDash val="solid"/>
          </a:ln>
        </p:spPr>
      </p:sp>
      <p:sp>
        <p:nvSpPr>
          <p:cNvPr id="12" name="Connector"/>
          <p:cNvSpPr/>
          <p:nvPr/>
        </p:nvSpPr>
        <p:spPr>
          <a:xfrm flipV="1">
            <a:off x="4389120" y="3657600"/>
            <a:ext cx="1707185" cy="1591056"/>
          </a:xfrm>
          <a:prstGeom prst="line">
            <a:avLst/>
          </a:prstGeom>
          <a:noFill/>
          <a:ln w="15875">
            <a:solidFill>
              <a:schemeClr val="accent6"/>
            </a:solidFill>
            <a:prstDash val="solid"/>
          </a:ln>
        </p:spPr>
      </p:sp>
      <p:sp>
        <p:nvSpPr>
          <p:cNvPr id="13" name="Connector"/>
          <p:cNvSpPr/>
          <p:nvPr/>
        </p:nvSpPr>
        <p:spPr>
          <a:xfrm flipV="1">
            <a:off x="6096305" y="2194560"/>
            <a:ext cx="1703527" cy="1463040"/>
          </a:xfrm>
          <a:prstGeom prst="line">
            <a:avLst/>
          </a:prstGeom>
          <a:noFill/>
          <a:ln w="15875">
            <a:solidFill>
              <a:schemeClr val="accent6"/>
            </a:solidFill>
            <a:prstDash val="solid"/>
          </a:ln>
        </p:spPr>
      </p:sp>
      <p:sp>
        <p:nvSpPr>
          <p:cNvPr id="14" name="Connector"/>
          <p:cNvSpPr/>
          <p:nvPr/>
        </p:nvSpPr>
        <p:spPr>
          <a:xfrm flipV="1">
            <a:off x="6096305" y="3154680"/>
            <a:ext cx="1703527" cy="502920"/>
          </a:xfrm>
          <a:prstGeom prst="line">
            <a:avLst/>
          </a:prstGeom>
          <a:noFill/>
          <a:ln w="15875">
            <a:solidFill>
              <a:schemeClr val="accent6"/>
            </a:solidFill>
            <a:prstDash val="solid"/>
          </a:ln>
        </p:spPr>
      </p:sp>
      <p:sp>
        <p:nvSpPr>
          <p:cNvPr id="15" name="Connector"/>
          <p:cNvSpPr/>
          <p:nvPr/>
        </p:nvSpPr>
        <p:spPr>
          <a:xfrm>
            <a:off x="6096305" y="3657600"/>
            <a:ext cx="1703527" cy="457200"/>
          </a:xfrm>
          <a:prstGeom prst="line">
            <a:avLst/>
          </a:prstGeom>
          <a:noFill/>
          <a:ln w="15875">
            <a:solidFill>
              <a:schemeClr val="accent6"/>
            </a:solidFill>
            <a:prstDash val="solid"/>
          </a:ln>
        </p:spPr>
      </p:sp>
      <p:sp>
        <p:nvSpPr>
          <p:cNvPr id="16" name="Connector"/>
          <p:cNvSpPr/>
          <p:nvPr/>
        </p:nvSpPr>
        <p:spPr>
          <a:xfrm>
            <a:off x="6096305" y="3657600"/>
            <a:ext cx="1703527" cy="1417320"/>
          </a:xfrm>
          <a:prstGeom prst="line">
            <a:avLst/>
          </a:prstGeom>
          <a:noFill/>
          <a:ln w="15875">
            <a:solidFill>
              <a:schemeClr val="accent6"/>
            </a:solidFill>
            <a:prstDash val="solid"/>
          </a:ln>
        </p:spPr>
      </p:sp>
      <p:sp>
        <p:nvSpPr>
          <p:cNvPr id="17" name="Card"/>
          <p:cNvSpPr/>
          <p:nvPr/>
        </p:nvSpPr>
        <p:spPr>
          <a:xfrm>
            <a:off x="548640" y="1783080"/>
            <a:ext cx="3840480" cy="530352"/>
          </a:xfrm>
          <a:prstGeom prst="roundRect">
            <a:avLst>
              <a:gd name="adj" fmla="val 13793"/>
            </a:avLst>
          </a:prstGeom>
          <a:solidFill>
            <a:schemeClr val="bg2"/>
          </a:solidFill>
          <a:ln/>
        </p:spPr>
      </p:sp>
      <p:sp>
        <p:nvSpPr>
          <p:cNvPr id="18" name="Text 15"/>
          <p:cNvSpPr txBox="1"/>
          <p:nvPr/>
        </p:nvSpPr>
        <p:spPr>
          <a:xfrm>
            <a:off x="777240" y="1783080"/>
            <a:ext cx="3474720" cy="530352"/>
          </a:xfrm>
          <a:prstGeom prst="rect">
            <a:avLst/>
          </a:prstGeom>
          <a:noFill/>
          <a:ln/>
        </p:spPr>
        <p:txBody>
          <a:bodyPr wrap="square" lIns="0" tIns="0" rIns="0" bIns="0" rtlCol="0" anchor="ctr"/>
          <a:lstStyle/>
          <a:p>
            <a:pPr indent="0" marL="0">
              <a:buNone/>
            </a:pPr>
            <a:r>
              <a:rPr lang="en-US" sz="1400" b="1" dirty="0">
                <a:solidFill>
                  <a:schemeClr val="tx2"/>
                </a:solidFill>
              </a:rPr>
              <a:t>Academic performance</a:t>
            </a:r>
            <a:endParaRPr lang="en-US" sz="1400" dirty="0"/>
          </a:p>
        </p:txBody>
      </p:sp>
      <p:sp>
        <p:nvSpPr>
          <p:cNvPr id="19" name="Card"/>
          <p:cNvSpPr/>
          <p:nvPr/>
        </p:nvSpPr>
        <p:spPr>
          <a:xfrm>
            <a:off x="548640" y="2423160"/>
            <a:ext cx="3840480" cy="530352"/>
          </a:xfrm>
          <a:prstGeom prst="roundRect">
            <a:avLst>
              <a:gd name="adj" fmla="val 13793"/>
            </a:avLst>
          </a:prstGeom>
          <a:solidFill>
            <a:schemeClr val="bg2"/>
          </a:solidFill>
          <a:ln/>
        </p:spPr>
      </p:sp>
      <p:sp>
        <p:nvSpPr>
          <p:cNvPr id="20" name="Text 17"/>
          <p:cNvSpPr txBox="1"/>
          <p:nvPr/>
        </p:nvSpPr>
        <p:spPr>
          <a:xfrm>
            <a:off x="777240" y="2423160"/>
            <a:ext cx="3474720" cy="530352"/>
          </a:xfrm>
          <a:prstGeom prst="rect">
            <a:avLst/>
          </a:prstGeom>
          <a:noFill/>
          <a:ln/>
        </p:spPr>
        <p:txBody>
          <a:bodyPr wrap="square" lIns="0" tIns="0" rIns="0" bIns="0" rtlCol="0" anchor="ctr"/>
          <a:lstStyle/>
          <a:p>
            <a:pPr indent="0" marL="0">
              <a:buNone/>
            </a:pPr>
            <a:r>
              <a:rPr lang="en-US" sz="1400" b="1" dirty="0">
                <a:solidFill>
                  <a:schemeClr val="tx2"/>
                </a:solidFill>
              </a:rPr>
              <a:t>Attendance and LMS engagement</a:t>
            </a:r>
            <a:endParaRPr lang="en-US" sz="1400" dirty="0"/>
          </a:p>
        </p:txBody>
      </p:sp>
      <p:sp>
        <p:nvSpPr>
          <p:cNvPr id="21" name="Card"/>
          <p:cNvSpPr/>
          <p:nvPr/>
        </p:nvSpPr>
        <p:spPr>
          <a:xfrm>
            <a:off x="548640" y="3063240"/>
            <a:ext cx="3840480" cy="530352"/>
          </a:xfrm>
          <a:prstGeom prst="roundRect">
            <a:avLst>
              <a:gd name="adj" fmla="val 13793"/>
            </a:avLst>
          </a:prstGeom>
          <a:solidFill>
            <a:schemeClr val="bg2"/>
          </a:solidFill>
          <a:ln/>
        </p:spPr>
      </p:sp>
      <p:sp>
        <p:nvSpPr>
          <p:cNvPr id="22" name="Text 19"/>
          <p:cNvSpPr txBox="1"/>
          <p:nvPr/>
        </p:nvSpPr>
        <p:spPr>
          <a:xfrm>
            <a:off x="777240" y="3063240"/>
            <a:ext cx="3474720" cy="530352"/>
          </a:xfrm>
          <a:prstGeom prst="rect">
            <a:avLst/>
          </a:prstGeom>
          <a:noFill/>
          <a:ln/>
        </p:spPr>
        <p:txBody>
          <a:bodyPr wrap="square" lIns="0" tIns="0" rIns="0" bIns="0" rtlCol="0" anchor="ctr"/>
          <a:lstStyle/>
          <a:p>
            <a:pPr indent="0" marL="0">
              <a:buNone/>
            </a:pPr>
            <a:r>
              <a:rPr lang="en-US" sz="1400" b="1" dirty="0">
                <a:solidFill>
                  <a:schemeClr val="tx2"/>
                </a:solidFill>
              </a:rPr>
              <a:t>Extracurricular participation</a:t>
            </a:r>
            <a:endParaRPr lang="en-US" sz="1400" dirty="0"/>
          </a:p>
        </p:txBody>
      </p:sp>
      <p:sp>
        <p:nvSpPr>
          <p:cNvPr id="23" name="Card"/>
          <p:cNvSpPr/>
          <p:nvPr/>
        </p:nvSpPr>
        <p:spPr>
          <a:xfrm>
            <a:off x="548640" y="3703320"/>
            <a:ext cx="3840480" cy="530352"/>
          </a:xfrm>
          <a:prstGeom prst="roundRect">
            <a:avLst>
              <a:gd name="adj" fmla="val 13793"/>
            </a:avLst>
          </a:prstGeom>
          <a:solidFill>
            <a:schemeClr val="bg2"/>
          </a:solidFill>
          <a:ln/>
        </p:spPr>
      </p:sp>
      <p:sp>
        <p:nvSpPr>
          <p:cNvPr id="24" name="Text 21"/>
          <p:cNvSpPr txBox="1"/>
          <p:nvPr/>
        </p:nvSpPr>
        <p:spPr>
          <a:xfrm>
            <a:off x="777240" y="3703320"/>
            <a:ext cx="3474720" cy="530352"/>
          </a:xfrm>
          <a:prstGeom prst="rect">
            <a:avLst/>
          </a:prstGeom>
          <a:noFill/>
          <a:ln/>
        </p:spPr>
        <p:txBody>
          <a:bodyPr wrap="square" lIns="0" tIns="0" rIns="0" bIns="0" rtlCol="0" anchor="ctr"/>
          <a:lstStyle/>
          <a:p>
            <a:pPr indent="0" marL="0">
              <a:buNone/>
            </a:pPr>
            <a:r>
              <a:rPr lang="en-US" sz="1400" b="1" dirty="0">
                <a:solidFill>
                  <a:schemeClr val="tx2"/>
                </a:solidFill>
              </a:rPr>
              <a:t>Placement readiness</a:t>
            </a:r>
            <a:endParaRPr lang="en-US" sz="1400" dirty="0"/>
          </a:p>
        </p:txBody>
      </p:sp>
      <p:sp>
        <p:nvSpPr>
          <p:cNvPr id="25" name="Card"/>
          <p:cNvSpPr/>
          <p:nvPr/>
        </p:nvSpPr>
        <p:spPr>
          <a:xfrm>
            <a:off x="548640" y="4343400"/>
            <a:ext cx="3840480" cy="530352"/>
          </a:xfrm>
          <a:prstGeom prst="roundRect">
            <a:avLst>
              <a:gd name="adj" fmla="val 13793"/>
            </a:avLst>
          </a:prstGeom>
          <a:solidFill>
            <a:schemeClr val="bg2"/>
          </a:solidFill>
          <a:ln/>
        </p:spPr>
      </p:sp>
      <p:sp>
        <p:nvSpPr>
          <p:cNvPr id="26" name="Text 23"/>
          <p:cNvSpPr txBox="1"/>
          <p:nvPr/>
        </p:nvSpPr>
        <p:spPr>
          <a:xfrm>
            <a:off x="777240" y="4343400"/>
            <a:ext cx="3474720" cy="530352"/>
          </a:xfrm>
          <a:prstGeom prst="rect">
            <a:avLst/>
          </a:prstGeom>
          <a:noFill/>
          <a:ln/>
        </p:spPr>
        <p:txBody>
          <a:bodyPr wrap="square" lIns="0" tIns="0" rIns="0" bIns="0" rtlCol="0" anchor="ctr"/>
          <a:lstStyle/>
          <a:p>
            <a:pPr indent="0" marL="0">
              <a:buNone/>
            </a:pPr>
            <a:r>
              <a:rPr lang="en-US" sz="1400" b="1" dirty="0">
                <a:solidFill>
                  <a:schemeClr val="tx2"/>
                </a:solidFill>
              </a:rPr>
              <a:t>Technical and soft skills</a:t>
            </a:r>
            <a:endParaRPr lang="en-US" sz="1400" dirty="0"/>
          </a:p>
        </p:txBody>
      </p:sp>
      <p:sp>
        <p:nvSpPr>
          <p:cNvPr id="27" name="Card"/>
          <p:cNvSpPr/>
          <p:nvPr/>
        </p:nvSpPr>
        <p:spPr>
          <a:xfrm>
            <a:off x="548640" y="4983480"/>
            <a:ext cx="3840480" cy="530352"/>
          </a:xfrm>
          <a:prstGeom prst="roundRect">
            <a:avLst>
              <a:gd name="adj" fmla="val 13793"/>
            </a:avLst>
          </a:prstGeom>
          <a:solidFill>
            <a:schemeClr val="bg2"/>
          </a:solidFill>
          <a:ln/>
        </p:spPr>
      </p:sp>
      <p:sp>
        <p:nvSpPr>
          <p:cNvPr id="28" name="Text 25"/>
          <p:cNvSpPr txBox="1"/>
          <p:nvPr/>
        </p:nvSpPr>
        <p:spPr>
          <a:xfrm>
            <a:off x="777240" y="4983480"/>
            <a:ext cx="3474720" cy="530352"/>
          </a:xfrm>
          <a:prstGeom prst="rect">
            <a:avLst/>
          </a:prstGeom>
          <a:noFill/>
          <a:ln/>
        </p:spPr>
        <p:txBody>
          <a:bodyPr wrap="square" lIns="0" tIns="0" rIns="0" bIns="0" rtlCol="0" anchor="ctr"/>
          <a:lstStyle/>
          <a:p>
            <a:pPr indent="0" marL="0">
              <a:buNone/>
            </a:pPr>
            <a:r>
              <a:rPr lang="en-US" sz="1400" b="1" dirty="0">
                <a:solidFill>
                  <a:schemeClr val="tx2"/>
                </a:solidFill>
              </a:rPr>
              <a:t>Feedback indicators</a:t>
            </a:r>
            <a:endParaRPr lang="en-US" sz="1400" dirty="0"/>
          </a:p>
        </p:txBody>
      </p:sp>
      <p:sp>
        <p:nvSpPr>
          <p:cNvPr id="29" name="Card"/>
          <p:cNvSpPr/>
          <p:nvPr/>
        </p:nvSpPr>
        <p:spPr>
          <a:xfrm>
            <a:off x="7799832" y="1783080"/>
            <a:ext cx="3840480" cy="822960"/>
          </a:xfrm>
          <a:prstGeom prst="roundRect">
            <a:avLst>
              <a:gd name="adj" fmla="val 8889"/>
            </a:avLst>
          </a:prstGeom>
          <a:solidFill>
            <a:schemeClr val="accent2">
              <a:alpha val="12000"/>
            </a:schemeClr>
          </a:solidFill>
          <a:ln/>
        </p:spPr>
      </p:sp>
      <p:sp>
        <p:nvSpPr>
          <p:cNvPr id="30" name="Text 27"/>
          <p:cNvSpPr txBox="1"/>
          <p:nvPr/>
        </p:nvSpPr>
        <p:spPr>
          <a:xfrm>
            <a:off x="8028432" y="1783080"/>
            <a:ext cx="3474720" cy="822960"/>
          </a:xfrm>
          <a:prstGeom prst="rect">
            <a:avLst/>
          </a:prstGeom>
          <a:noFill/>
          <a:ln/>
        </p:spPr>
        <p:txBody>
          <a:bodyPr wrap="square" lIns="0" tIns="0" rIns="0" bIns="0" rtlCol="0" anchor="ctr"/>
          <a:lstStyle/>
          <a:p>
            <a:pPr indent="0" marL="0">
              <a:buNone/>
            </a:pPr>
            <a:r>
              <a:rPr lang="en-US" sz="1400" b="1" dirty="0">
                <a:solidFill>
                  <a:schemeClr val="tx2"/>
                </a:solidFill>
              </a:rPr>
              <a:t>Student Success Score</a:t>
            </a:r>
            <a:endParaRPr lang="en-US" sz="1400" dirty="0"/>
          </a:p>
        </p:txBody>
      </p:sp>
      <p:sp>
        <p:nvSpPr>
          <p:cNvPr id="31" name="Card"/>
          <p:cNvSpPr/>
          <p:nvPr/>
        </p:nvSpPr>
        <p:spPr>
          <a:xfrm>
            <a:off x="7799832" y="2743200"/>
            <a:ext cx="3840480" cy="822960"/>
          </a:xfrm>
          <a:prstGeom prst="roundRect">
            <a:avLst>
              <a:gd name="adj" fmla="val 8889"/>
            </a:avLst>
          </a:prstGeom>
          <a:solidFill>
            <a:schemeClr val="accent2">
              <a:alpha val="12000"/>
            </a:schemeClr>
          </a:solidFill>
          <a:ln/>
        </p:spPr>
      </p:sp>
      <p:sp>
        <p:nvSpPr>
          <p:cNvPr id="32" name="Text 29"/>
          <p:cNvSpPr txBox="1"/>
          <p:nvPr/>
        </p:nvSpPr>
        <p:spPr>
          <a:xfrm>
            <a:off x="8028432" y="2743200"/>
            <a:ext cx="3474720" cy="822960"/>
          </a:xfrm>
          <a:prstGeom prst="rect">
            <a:avLst/>
          </a:prstGeom>
          <a:noFill/>
          <a:ln/>
        </p:spPr>
        <p:txBody>
          <a:bodyPr wrap="square" lIns="0" tIns="0" rIns="0" bIns="0" rtlCol="0" anchor="ctr"/>
          <a:lstStyle/>
          <a:p>
            <a:pPr indent="0" marL="0">
              <a:buNone/>
            </a:pPr>
            <a:r>
              <a:rPr lang="en-US" sz="1400" b="1" dirty="0">
                <a:solidFill>
                  <a:schemeClr val="tx2"/>
                </a:solidFill>
              </a:rPr>
              <a:t>Risk category and primary risk type</a:t>
            </a:r>
            <a:endParaRPr lang="en-US" sz="1400" dirty="0"/>
          </a:p>
        </p:txBody>
      </p:sp>
      <p:sp>
        <p:nvSpPr>
          <p:cNvPr id="33" name="Card"/>
          <p:cNvSpPr/>
          <p:nvPr/>
        </p:nvSpPr>
        <p:spPr>
          <a:xfrm>
            <a:off x="7799832" y="3703320"/>
            <a:ext cx="3840480" cy="822960"/>
          </a:xfrm>
          <a:prstGeom prst="roundRect">
            <a:avLst>
              <a:gd name="adj" fmla="val 8889"/>
            </a:avLst>
          </a:prstGeom>
          <a:solidFill>
            <a:schemeClr val="accent2">
              <a:alpha val="12000"/>
            </a:schemeClr>
          </a:solidFill>
          <a:ln/>
        </p:spPr>
      </p:sp>
      <p:sp>
        <p:nvSpPr>
          <p:cNvPr id="34" name="Text 31"/>
          <p:cNvSpPr txBox="1"/>
          <p:nvPr/>
        </p:nvSpPr>
        <p:spPr>
          <a:xfrm>
            <a:off x="8028432" y="3703320"/>
            <a:ext cx="3474720" cy="822960"/>
          </a:xfrm>
          <a:prstGeom prst="rect">
            <a:avLst/>
          </a:prstGeom>
          <a:noFill/>
          <a:ln/>
        </p:spPr>
        <p:txBody>
          <a:bodyPr wrap="square" lIns="0" tIns="0" rIns="0" bIns="0" rtlCol="0" anchor="ctr"/>
          <a:lstStyle/>
          <a:p>
            <a:pPr indent="0" marL="0">
              <a:buNone/>
            </a:pPr>
            <a:r>
              <a:rPr lang="en-US" sz="1400" b="1" dirty="0">
                <a:solidFill>
                  <a:schemeClr val="tx2"/>
                </a:solidFill>
              </a:rPr>
              <a:t>Risk drivers and strengths</a:t>
            </a:r>
            <a:endParaRPr lang="en-US" sz="1400" dirty="0"/>
          </a:p>
        </p:txBody>
      </p:sp>
      <p:sp>
        <p:nvSpPr>
          <p:cNvPr id="35" name="Card"/>
          <p:cNvSpPr/>
          <p:nvPr/>
        </p:nvSpPr>
        <p:spPr>
          <a:xfrm>
            <a:off x="7799832" y="4663440"/>
            <a:ext cx="3840480" cy="822960"/>
          </a:xfrm>
          <a:prstGeom prst="roundRect">
            <a:avLst>
              <a:gd name="adj" fmla="val 8889"/>
            </a:avLst>
          </a:prstGeom>
          <a:solidFill>
            <a:schemeClr val="accent2">
              <a:alpha val="12000"/>
            </a:schemeClr>
          </a:solidFill>
          <a:ln/>
        </p:spPr>
      </p:sp>
      <p:sp>
        <p:nvSpPr>
          <p:cNvPr id="36" name="Text 33"/>
          <p:cNvSpPr txBox="1"/>
          <p:nvPr/>
        </p:nvSpPr>
        <p:spPr>
          <a:xfrm>
            <a:off x="8028432" y="4663440"/>
            <a:ext cx="3474720" cy="822960"/>
          </a:xfrm>
          <a:prstGeom prst="rect">
            <a:avLst/>
          </a:prstGeom>
          <a:noFill/>
          <a:ln/>
        </p:spPr>
        <p:txBody>
          <a:bodyPr wrap="square" lIns="0" tIns="0" rIns="0" bIns="0" rtlCol="0" anchor="ctr"/>
          <a:lstStyle/>
          <a:p>
            <a:pPr indent="0" marL="0">
              <a:buNone/>
            </a:pPr>
            <a:r>
              <a:rPr lang="en-US" sz="1400" b="1" dirty="0">
                <a:solidFill>
                  <a:schemeClr val="tx2"/>
                </a:solidFill>
              </a:rPr>
              <a:t>Recommended interventions</a:t>
            </a:r>
            <a:endParaRPr lang="en-US" sz="1400" dirty="0"/>
          </a:p>
        </p:txBody>
      </p:sp>
      <p:sp>
        <p:nvSpPr>
          <p:cNvPr id="37" name="Hub"/>
          <p:cNvSpPr/>
          <p:nvPr/>
        </p:nvSpPr>
        <p:spPr>
          <a:xfrm>
            <a:off x="5090465" y="2651760"/>
            <a:ext cx="2011680" cy="2011680"/>
          </a:xfrm>
          <a:prstGeom prst="ellipse">
            <a:avLst/>
          </a:prstGeom>
          <a:solidFill>
            <a:schemeClr val="tx2"/>
          </a:solidFill>
          <a:ln/>
        </p:spPr>
      </p:sp>
      <p:sp>
        <p:nvSpPr>
          <p:cNvPr id="38" name="Text 35"/>
          <p:cNvSpPr txBox="1"/>
          <p:nvPr/>
        </p:nvSpPr>
        <p:spPr>
          <a:xfrm>
            <a:off x="5181905" y="3200400"/>
            <a:ext cx="1828800" cy="914400"/>
          </a:xfrm>
          <a:prstGeom prst="rect">
            <a:avLst/>
          </a:prstGeom>
          <a:noFill/>
          <a:ln/>
        </p:spPr>
        <p:txBody>
          <a:bodyPr wrap="square" lIns="0" tIns="0" rIns="0" bIns="0" rtlCol="0" anchor="ctr"/>
          <a:lstStyle/>
          <a:p>
            <a:pPr algn="ctr" indent="0" marL="0">
              <a:buNone/>
            </a:pPr>
            <a:r>
              <a:rPr lang="en-US" sz="1900" b="1" dirty="0">
                <a:solidFill>
                  <a:schemeClr val="bg1"/>
                </a:solidFill>
              </a:rPr>
              <a:t>Student 360°</a:t>
            </a:r>
            <a:endParaRPr lang="en-US" sz="1400" dirty="0"/>
          </a:p>
          <a:p>
            <a:pPr algn="ctr" indent="0" marL="0">
              <a:buNone/>
            </a:pPr>
            <a:r>
              <a:rPr lang="en-US" sz="1400" dirty="0">
                <a:solidFill>
                  <a:srgbClr val="3FD0C9"/>
                </a:solidFill>
              </a:rPr>
              <a:t>profile</a:t>
            </a:r>
            <a:endParaRPr lang="en-US" sz="1400" dirty="0"/>
          </a:p>
        </p:txBody>
      </p:sp>
      <p:sp>
        <p:nvSpPr>
          <p:cNvPr id="39" name="Text 36"/>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1500" b="1" dirty="0">
                <a:solidFill>
                  <a:schemeClr val="tx2"/>
                </a:solidFill>
              </a:rPr>
              <a:t>Why it matters: </a:t>
            </a:r>
            <a:pPr indent="0" marL="0">
              <a:buNone/>
            </a:pPr>
            <a:r>
              <a:rPr lang="en-US" sz="1500" dirty="0">
                <a:solidFill>
                  <a:schemeClr val="tx1"/>
                </a:solidFill>
              </a:rPr>
              <a:t>faculty see strengths and support needs together, not isolated indicators.</a:t>
            </a:r>
            <a:endParaRPr lang="en-US" sz="15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STUDENT SUCCESS SCORE</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A weighted score across seven dimensions</a:t>
            </a:r>
            <a:endParaRPr lang="en-US" sz="3000" dirty="0"/>
          </a:p>
        </p:txBody>
      </p:sp>
      <p:graphicFrame>
        <p:nvGraphicFramePr>
          <p:cNvPr id="5" name="Chart 0" descr=""/>
          <p:cNvGraphicFramePr/>
          <p:nvPr/>
        </p:nvGraphicFramePr>
        <p:xfrm>
          <a:off x="457200" y="1417320"/>
          <a:ext cx="4114800" cy="34290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1600200" y="2743200"/>
            <a:ext cx="1828800" cy="868680"/>
          </a:xfrm>
          <a:prstGeom prst="rect">
            <a:avLst/>
          </a:prstGeom>
          <a:noFill/>
          <a:ln/>
        </p:spPr>
        <p:txBody>
          <a:bodyPr wrap="square" lIns="0" tIns="0" rIns="0" bIns="0" rtlCol="0" anchor="ctr"/>
          <a:lstStyle/>
          <a:p>
            <a:pPr algn="ctr" indent="0" marL="0">
              <a:buNone/>
            </a:pPr>
            <a:r>
              <a:rPr lang="en-US" sz="2800" b="1" dirty="0">
                <a:solidFill>
                  <a:schemeClr val="tx2"/>
                </a:solidFill>
              </a:rPr>
              <a:t>0–100</a:t>
            </a:r>
            <a:endParaRPr lang="en-US" sz="1400" dirty="0"/>
          </a:p>
          <a:p>
            <a:pPr algn="ctr" indent="0" marL="0">
              <a:buNone/>
            </a:pPr>
            <a:r>
              <a:rPr lang="en-US" sz="1300" dirty="0">
                <a:solidFill>
                  <a:schemeClr val="accent6"/>
                </a:solidFill>
              </a:rPr>
              <a:t>Success Score</a:t>
            </a:r>
            <a:endParaRPr lang="en-US" sz="1400" dirty="0"/>
          </a:p>
        </p:txBody>
      </p:sp>
      <p:sp>
        <p:nvSpPr>
          <p:cNvPr id="7" name="Text 3"/>
          <p:cNvSpPr txBox="1"/>
          <p:nvPr/>
        </p:nvSpPr>
        <p:spPr>
          <a:xfrm>
            <a:off x="4937760" y="1417320"/>
            <a:ext cx="6675120" cy="320040"/>
          </a:xfrm>
          <a:prstGeom prst="rect">
            <a:avLst/>
          </a:prstGeom>
          <a:noFill/>
          <a:ln/>
        </p:spPr>
        <p:txBody>
          <a:bodyPr wrap="square" lIns="0" tIns="0" rIns="0" bIns="0" rtlCol="0" anchor="t"/>
          <a:lstStyle/>
          <a:p>
            <a:pPr indent="0" marL="0">
              <a:buNone/>
            </a:pPr>
            <a:r>
              <a:rPr lang="en-US" sz="1400" dirty="0">
                <a:solidFill>
                  <a:schemeClr val="accent6"/>
                </a:solidFill>
              </a:rPr>
              <a:t>Score = Σ (weight × component score), reported on a 0–100 scale</a:t>
            </a:r>
            <a:endParaRPr lang="en-US" sz="1400" dirty="0"/>
          </a:p>
        </p:txBody>
      </p:sp>
      <p:sp>
        <p:nvSpPr>
          <p:cNvPr id="8" name="Key"/>
          <p:cNvSpPr/>
          <p:nvPr/>
        </p:nvSpPr>
        <p:spPr>
          <a:xfrm>
            <a:off x="4937760" y="1938528"/>
            <a:ext cx="201168" cy="201168"/>
          </a:xfrm>
          <a:prstGeom prst="rect">
            <a:avLst/>
          </a:prstGeom>
          <a:solidFill>
            <a:srgbClr val="0B1F3A"/>
          </a:solidFill>
          <a:ln/>
        </p:spPr>
      </p:sp>
      <p:sp>
        <p:nvSpPr>
          <p:cNvPr id="9" name="Text 5"/>
          <p:cNvSpPr txBox="1"/>
          <p:nvPr/>
        </p:nvSpPr>
        <p:spPr>
          <a:xfrm>
            <a:off x="5303520" y="1874520"/>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Academic performance</a:t>
            </a:r>
            <a:endParaRPr lang="en-US" sz="1400" dirty="0"/>
          </a:p>
        </p:txBody>
      </p:sp>
      <p:sp>
        <p:nvSpPr>
          <p:cNvPr id="10" name="Card"/>
          <p:cNvSpPr/>
          <p:nvPr/>
        </p:nvSpPr>
        <p:spPr>
          <a:xfrm>
            <a:off x="7498080" y="1929384"/>
            <a:ext cx="3383280" cy="219456"/>
          </a:xfrm>
          <a:prstGeom prst="roundRect">
            <a:avLst>
              <a:gd name="adj" fmla="val 16667"/>
            </a:avLst>
          </a:prstGeom>
          <a:solidFill>
            <a:schemeClr val="bg2"/>
          </a:solidFill>
          <a:ln/>
        </p:spPr>
      </p:sp>
      <p:sp>
        <p:nvSpPr>
          <p:cNvPr id="11" name="Card"/>
          <p:cNvSpPr/>
          <p:nvPr/>
        </p:nvSpPr>
        <p:spPr>
          <a:xfrm>
            <a:off x="7498080" y="1929384"/>
            <a:ext cx="3383280" cy="219456"/>
          </a:xfrm>
          <a:prstGeom prst="roundRect">
            <a:avLst>
              <a:gd name="adj" fmla="val 16667"/>
            </a:avLst>
          </a:prstGeom>
          <a:solidFill>
            <a:srgbClr val="0B1F3A"/>
          </a:solidFill>
          <a:ln/>
        </p:spPr>
      </p:sp>
      <p:sp>
        <p:nvSpPr>
          <p:cNvPr id="12" name="Text 8"/>
          <p:cNvSpPr txBox="1"/>
          <p:nvPr/>
        </p:nvSpPr>
        <p:spPr>
          <a:xfrm>
            <a:off x="10972800" y="1874520"/>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25%</a:t>
            </a:r>
            <a:endParaRPr lang="en-US" sz="1400" dirty="0"/>
          </a:p>
        </p:txBody>
      </p:sp>
      <p:sp>
        <p:nvSpPr>
          <p:cNvPr id="13" name="Key"/>
          <p:cNvSpPr/>
          <p:nvPr/>
        </p:nvSpPr>
        <p:spPr>
          <a:xfrm>
            <a:off x="4937760" y="2377440"/>
            <a:ext cx="201168" cy="201168"/>
          </a:xfrm>
          <a:prstGeom prst="rect">
            <a:avLst/>
          </a:prstGeom>
          <a:solidFill>
            <a:srgbClr val="00827E"/>
          </a:solidFill>
          <a:ln/>
        </p:spPr>
      </p:sp>
      <p:sp>
        <p:nvSpPr>
          <p:cNvPr id="14" name="Text 10"/>
          <p:cNvSpPr txBox="1"/>
          <p:nvPr/>
        </p:nvSpPr>
        <p:spPr>
          <a:xfrm>
            <a:off x="5303520" y="2313432"/>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Attendance</a:t>
            </a:r>
            <a:endParaRPr lang="en-US" sz="1400" dirty="0"/>
          </a:p>
        </p:txBody>
      </p:sp>
      <p:sp>
        <p:nvSpPr>
          <p:cNvPr id="15" name="Card"/>
          <p:cNvSpPr/>
          <p:nvPr/>
        </p:nvSpPr>
        <p:spPr>
          <a:xfrm>
            <a:off x="7498080" y="2368296"/>
            <a:ext cx="3383280" cy="219456"/>
          </a:xfrm>
          <a:prstGeom prst="roundRect">
            <a:avLst>
              <a:gd name="adj" fmla="val 16667"/>
            </a:avLst>
          </a:prstGeom>
          <a:solidFill>
            <a:schemeClr val="bg2"/>
          </a:solidFill>
          <a:ln/>
        </p:spPr>
      </p:sp>
      <p:sp>
        <p:nvSpPr>
          <p:cNvPr id="16" name="Card"/>
          <p:cNvSpPr/>
          <p:nvPr/>
        </p:nvSpPr>
        <p:spPr>
          <a:xfrm>
            <a:off x="7498080" y="2368296"/>
            <a:ext cx="2029968" cy="219456"/>
          </a:xfrm>
          <a:prstGeom prst="roundRect">
            <a:avLst>
              <a:gd name="adj" fmla="val 16667"/>
            </a:avLst>
          </a:prstGeom>
          <a:solidFill>
            <a:srgbClr val="00827E"/>
          </a:solidFill>
          <a:ln/>
        </p:spPr>
      </p:sp>
      <p:sp>
        <p:nvSpPr>
          <p:cNvPr id="17" name="Text 13"/>
          <p:cNvSpPr txBox="1"/>
          <p:nvPr/>
        </p:nvSpPr>
        <p:spPr>
          <a:xfrm>
            <a:off x="10972800" y="2313432"/>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15%</a:t>
            </a:r>
            <a:endParaRPr lang="en-US" sz="1400" dirty="0"/>
          </a:p>
        </p:txBody>
      </p:sp>
      <p:sp>
        <p:nvSpPr>
          <p:cNvPr id="18" name="Key"/>
          <p:cNvSpPr/>
          <p:nvPr/>
        </p:nvSpPr>
        <p:spPr>
          <a:xfrm>
            <a:off x="4937760" y="2816352"/>
            <a:ext cx="201168" cy="201168"/>
          </a:xfrm>
          <a:prstGeom prst="rect">
            <a:avLst/>
          </a:prstGeom>
          <a:solidFill>
            <a:srgbClr val="6B3FA0"/>
          </a:solidFill>
          <a:ln/>
        </p:spPr>
      </p:sp>
      <p:sp>
        <p:nvSpPr>
          <p:cNvPr id="19" name="Text 15"/>
          <p:cNvSpPr txBox="1"/>
          <p:nvPr/>
        </p:nvSpPr>
        <p:spPr>
          <a:xfrm>
            <a:off x="5303520" y="2752344"/>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LMS engagement</a:t>
            </a:r>
            <a:endParaRPr lang="en-US" sz="1400" dirty="0"/>
          </a:p>
        </p:txBody>
      </p:sp>
      <p:sp>
        <p:nvSpPr>
          <p:cNvPr id="20" name="Card"/>
          <p:cNvSpPr/>
          <p:nvPr/>
        </p:nvSpPr>
        <p:spPr>
          <a:xfrm>
            <a:off x="7498080" y="2807208"/>
            <a:ext cx="3383280" cy="219456"/>
          </a:xfrm>
          <a:prstGeom prst="roundRect">
            <a:avLst>
              <a:gd name="adj" fmla="val 16667"/>
            </a:avLst>
          </a:prstGeom>
          <a:solidFill>
            <a:schemeClr val="bg2"/>
          </a:solidFill>
          <a:ln/>
        </p:spPr>
      </p:sp>
      <p:sp>
        <p:nvSpPr>
          <p:cNvPr id="21" name="Card"/>
          <p:cNvSpPr/>
          <p:nvPr/>
        </p:nvSpPr>
        <p:spPr>
          <a:xfrm>
            <a:off x="7498080" y="2807208"/>
            <a:ext cx="2029968" cy="219456"/>
          </a:xfrm>
          <a:prstGeom prst="roundRect">
            <a:avLst>
              <a:gd name="adj" fmla="val 16667"/>
            </a:avLst>
          </a:prstGeom>
          <a:solidFill>
            <a:srgbClr val="6B3FA0"/>
          </a:solidFill>
          <a:ln/>
        </p:spPr>
      </p:sp>
      <p:sp>
        <p:nvSpPr>
          <p:cNvPr id="22" name="Text 18"/>
          <p:cNvSpPr txBox="1"/>
          <p:nvPr/>
        </p:nvSpPr>
        <p:spPr>
          <a:xfrm>
            <a:off x="10972800" y="2752344"/>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15%</a:t>
            </a:r>
            <a:endParaRPr lang="en-US" sz="1400" dirty="0"/>
          </a:p>
        </p:txBody>
      </p:sp>
      <p:sp>
        <p:nvSpPr>
          <p:cNvPr id="23" name="Key"/>
          <p:cNvSpPr/>
          <p:nvPr/>
        </p:nvSpPr>
        <p:spPr>
          <a:xfrm>
            <a:off x="4937760" y="3255264"/>
            <a:ext cx="201168" cy="201168"/>
          </a:xfrm>
          <a:prstGeom prst="rect">
            <a:avLst/>
          </a:prstGeom>
          <a:solidFill>
            <a:srgbClr val="9B7FD1"/>
          </a:solidFill>
          <a:ln/>
        </p:spPr>
      </p:sp>
      <p:sp>
        <p:nvSpPr>
          <p:cNvPr id="24" name="Text 20"/>
          <p:cNvSpPr txBox="1"/>
          <p:nvPr/>
        </p:nvSpPr>
        <p:spPr>
          <a:xfrm>
            <a:off x="5303520" y="3191256"/>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Student engagement</a:t>
            </a:r>
            <a:endParaRPr lang="en-US" sz="1400" dirty="0"/>
          </a:p>
        </p:txBody>
      </p:sp>
      <p:sp>
        <p:nvSpPr>
          <p:cNvPr id="25" name="Card"/>
          <p:cNvSpPr/>
          <p:nvPr/>
        </p:nvSpPr>
        <p:spPr>
          <a:xfrm>
            <a:off x="7498080" y="3246120"/>
            <a:ext cx="3383280" cy="219456"/>
          </a:xfrm>
          <a:prstGeom prst="roundRect">
            <a:avLst>
              <a:gd name="adj" fmla="val 16667"/>
            </a:avLst>
          </a:prstGeom>
          <a:solidFill>
            <a:schemeClr val="bg2"/>
          </a:solidFill>
          <a:ln/>
        </p:spPr>
      </p:sp>
      <p:sp>
        <p:nvSpPr>
          <p:cNvPr id="26" name="Card"/>
          <p:cNvSpPr/>
          <p:nvPr/>
        </p:nvSpPr>
        <p:spPr>
          <a:xfrm>
            <a:off x="7498080" y="3246120"/>
            <a:ext cx="1353312" cy="219456"/>
          </a:xfrm>
          <a:prstGeom prst="roundRect">
            <a:avLst>
              <a:gd name="adj" fmla="val 16667"/>
            </a:avLst>
          </a:prstGeom>
          <a:solidFill>
            <a:srgbClr val="9B7FD1"/>
          </a:solidFill>
          <a:ln/>
        </p:spPr>
      </p:sp>
      <p:sp>
        <p:nvSpPr>
          <p:cNvPr id="27" name="Text 23"/>
          <p:cNvSpPr txBox="1"/>
          <p:nvPr/>
        </p:nvSpPr>
        <p:spPr>
          <a:xfrm>
            <a:off x="10972800" y="3191256"/>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10%</a:t>
            </a:r>
            <a:endParaRPr lang="en-US" sz="1400" dirty="0"/>
          </a:p>
        </p:txBody>
      </p:sp>
      <p:sp>
        <p:nvSpPr>
          <p:cNvPr id="28" name="Key"/>
          <p:cNvSpPr/>
          <p:nvPr/>
        </p:nvSpPr>
        <p:spPr>
          <a:xfrm>
            <a:off x="4937760" y="3694176"/>
            <a:ext cx="201168" cy="201168"/>
          </a:xfrm>
          <a:prstGeom prst="rect">
            <a:avLst/>
          </a:prstGeom>
          <a:solidFill>
            <a:srgbClr val="2BB5AE"/>
          </a:solidFill>
          <a:ln/>
        </p:spPr>
      </p:sp>
      <p:sp>
        <p:nvSpPr>
          <p:cNvPr id="29" name="Text 25"/>
          <p:cNvSpPr txBox="1"/>
          <p:nvPr/>
        </p:nvSpPr>
        <p:spPr>
          <a:xfrm>
            <a:off x="5303520" y="3630168"/>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Placement readiness</a:t>
            </a:r>
            <a:endParaRPr lang="en-US" sz="1400" dirty="0"/>
          </a:p>
        </p:txBody>
      </p:sp>
      <p:sp>
        <p:nvSpPr>
          <p:cNvPr id="30" name="Card"/>
          <p:cNvSpPr/>
          <p:nvPr/>
        </p:nvSpPr>
        <p:spPr>
          <a:xfrm>
            <a:off x="7498080" y="3685032"/>
            <a:ext cx="3383280" cy="219456"/>
          </a:xfrm>
          <a:prstGeom prst="roundRect">
            <a:avLst>
              <a:gd name="adj" fmla="val 16667"/>
            </a:avLst>
          </a:prstGeom>
          <a:solidFill>
            <a:schemeClr val="bg2"/>
          </a:solidFill>
          <a:ln/>
        </p:spPr>
      </p:sp>
      <p:sp>
        <p:nvSpPr>
          <p:cNvPr id="31" name="Card"/>
          <p:cNvSpPr/>
          <p:nvPr/>
        </p:nvSpPr>
        <p:spPr>
          <a:xfrm>
            <a:off x="7498080" y="3685032"/>
            <a:ext cx="2706624" cy="219456"/>
          </a:xfrm>
          <a:prstGeom prst="roundRect">
            <a:avLst>
              <a:gd name="adj" fmla="val 16667"/>
            </a:avLst>
          </a:prstGeom>
          <a:solidFill>
            <a:srgbClr val="2BB5AE"/>
          </a:solidFill>
          <a:ln/>
        </p:spPr>
      </p:sp>
      <p:sp>
        <p:nvSpPr>
          <p:cNvPr id="32" name="Text 28"/>
          <p:cNvSpPr txBox="1"/>
          <p:nvPr/>
        </p:nvSpPr>
        <p:spPr>
          <a:xfrm>
            <a:off x="10972800" y="3630168"/>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20%</a:t>
            </a:r>
            <a:endParaRPr lang="en-US" sz="1400" dirty="0"/>
          </a:p>
        </p:txBody>
      </p:sp>
      <p:sp>
        <p:nvSpPr>
          <p:cNvPr id="33" name="Key"/>
          <p:cNvSpPr/>
          <p:nvPr/>
        </p:nvSpPr>
        <p:spPr>
          <a:xfrm>
            <a:off x="4937760" y="4133088"/>
            <a:ext cx="201168" cy="201168"/>
          </a:xfrm>
          <a:prstGeom prst="rect">
            <a:avLst/>
          </a:prstGeom>
          <a:solidFill>
            <a:srgbClr val="5B6B82"/>
          </a:solidFill>
          <a:ln/>
        </p:spPr>
      </p:sp>
      <p:sp>
        <p:nvSpPr>
          <p:cNvPr id="34" name="Text 30"/>
          <p:cNvSpPr txBox="1"/>
          <p:nvPr/>
        </p:nvSpPr>
        <p:spPr>
          <a:xfrm>
            <a:off x="5303520" y="4069080"/>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Skills</a:t>
            </a:r>
            <a:endParaRPr lang="en-US" sz="1400" dirty="0"/>
          </a:p>
        </p:txBody>
      </p:sp>
      <p:sp>
        <p:nvSpPr>
          <p:cNvPr id="35" name="Card"/>
          <p:cNvSpPr/>
          <p:nvPr/>
        </p:nvSpPr>
        <p:spPr>
          <a:xfrm>
            <a:off x="7498080" y="4123944"/>
            <a:ext cx="3383280" cy="219456"/>
          </a:xfrm>
          <a:prstGeom prst="roundRect">
            <a:avLst>
              <a:gd name="adj" fmla="val 16667"/>
            </a:avLst>
          </a:prstGeom>
          <a:solidFill>
            <a:schemeClr val="bg2"/>
          </a:solidFill>
          <a:ln/>
        </p:spPr>
      </p:sp>
      <p:sp>
        <p:nvSpPr>
          <p:cNvPr id="36" name="Card"/>
          <p:cNvSpPr/>
          <p:nvPr/>
        </p:nvSpPr>
        <p:spPr>
          <a:xfrm>
            <a:off x="7498080" y="4123944"/>
            <a:ext cx="1353312" cy="219456"/>
          </a:xfrm>
          <a:prstGeom prst="roundRect">
            <a:avLst>
              <a:gd name="adj" fmla="val 16667"/>
            </a:avLst>
          </a:prstGeom>
          <a:solidFill>
            <a:srgbClr val="5B6B82"/>
          </a:solidFill>
          <a:ln/>
        </p:spPr>
      </p:sp>
      <p:sp>
        <p:nvSpPr>
          <p:cNvPr id="37" name="Text 33"/>
          <p:cNvSpPr txBox="1"/>
          <p:nvPr/>
        </p:nvSpPr>
        <p:spPr>
          <a:xfrm>
            <a:off x="10972800" y="4069080"/>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10%</a:t>
            </a:r>
            <a:endParaRPr lang="en-US" sz="1400" dirty="0"/>
          </a:p>
        </p:txBody>
      </p:sp>
      <p:sp>
        <p:nvSpPr>
          <p:cNvPr id="38" name="Key"/>
          <p:cNvSpPr/>
          <p:nvPr/>
        </p:nvSpPr>
        <p:spPr>
          <a:xfrm>
            <a:off x="4937760" y="4572000"/>
            <a:ext cx="201168" cy="201168"/>
          </a:xfrm>
          <a:prstGeom prst="rect">
            <a:avLst/>
          </a:prstGeom>
          <a:solidFill>
            <a:srgbClr val="A9B6C8"/>
          </a:solidFill>
          <a:ln/>
        </p:spPr>
      </p:sp>
      <p:sp>
        <p:nvSpPr>
          <p:cNvPr id="39" name="Text 35"/>
          <p:cNvSpPr txBox="1"/>
          <p:nvPr/>
        </p:nvSpPr>
        <p:spPr>
          <a:xfrm>
            <a:off x="5303520" y="4507992"/>
            <a:ext cx="2103120" cy="329184"/>
          </a:xfrm>
          <a:prstGeom prst="rect">
            <a:avLst/>
          </a:prstGeom>
          <a:noFill/>
          <a:ln/>
        </p:spPr>
        <p:txBody>
          <a:bodyPr wrap="square" lIns="0" tIns="0" rIns="0" bIns="0" rtlCol="0" anchor="ctr"/>
          <a:lstStyle/>
          <a:p>
            <a:pPr indent="0" marL="0">
              <a:buNone/>
            </a:pPr>
            <a:r>
              <a:rPr lang="en-US" sz="1400" b="1" dirty="0">
                <a:solidFill>
                  <a:schemeClr val="tx2"/>
                </a:solidFill>
              </a:rPr>
              <a:t>Feedback</a:t>
            </a:r>
            <a:endParaRPr lang="en-US" sz="1400" dirty="0"/>
          </a:p>
        </p:txBody>
      </p:sp>
      <p:sp>
        <p:nvSpPr>
          <p:cNvPr id="40" name="Card"/>
          <p:cNvSpPr/>
          <p:nvPr/>
        </p:nvSpPr>
        <p:spPr>
          <a:xfrm>
            <a:off x="7498080" y="4562856"/>
            <a:ext cx="3383280" cy="219456"/>
          </a:xfrm>
          <a:prstGeom prst="roundRect">
            <a:avLst>
              <a:gd name="adj" fmla="val 16667"/>
            </a:avLst>
          </a:prstGeom>
          <a:solidFill>
            <a:schemeClr val="bg2"/>
          </a:solidFill>
          <a:ln/>
        </p:spPr>
      </p:sp>
      <p:sp>
        <p:nvSpPr>
          <p:cNvPr id="41" name="Card"/>
          <p:cNvSpPr/>
          <p:nvPr/>
        </p:nvSpPr>
        <p:spPr>
          <a:xfrm>
            <a:off x="7498080" y="4562856"/>
            <a:ext cx="676656" cy="219456"/>
          </a:xfrm>
          <a:prstGeom prst="roundRect">
            <a:avLst>
              <a:gd name="adj" fmla="val 16667"/>
            </a:avLst>
          </a:prstGeom>
          <a:solidFill>
            <a:srgbClr val="A9B6C8"/>
          </a:solidFill>
          <a:ln/>
        </p:spPr>
      </p:sp>
      <p:sp>
        <p:nvSpPr>
          <p:cNvPr id="42" name="Text 38"/>
          <p:cNvSpPr txBox="1"/>
          <p:nvPr/>
        </p:nvSpPr>
        <p:spPr>
          <a:xfrm>
            <a:off x="10972800" y="4507992"/>
            <a:ext cx="667512" cy="329184"/>
          </a:xfrm>
          <a:prstGeom prst="rect">
            <a:avLst/>
          </a:prstGeom>
          <a:noFill/>
          <a:ln/>
        </p:spPr>
        <p:txBody>
          <a:bodyPr wrap="square" lIns="0" tIns="0" rIns="0" bIns="0" rtlCol="0" anchor="ctr"/>
          <a:lstStyle/>
          <a:p>
            <a:pPr algn="r" indent="0" marL="0">
              <a:buNone/>
            </a:pPr>
            <a:r>
              <a:rPr lang="en-US" sz="1400" b="1" dirty="0">
                <a:solidFill>
                  <a:schemeClr val="tx2"/>
                </a:solidFill>
              </a:rPr>
              <a:t>5%</a:t>
            </a:r>
            <a:endParaRPr lang="en-US" sz="1400" dirty="0"/>
          </a:p>
        </p:txBody>
      </p:sp>
      <p:sp>
        <p:nvSpPr>
          <p:cNvPr id="43" name="Text 39"/>
          <p:cNvSpPr txBox="1"/>
          <p:nvPr/>
        </p:nvSpPr>
        <p:spPr>
          <a:xfrm>
            <a:off x="548640" y="5029200"/>
            <a:ext cx="4572000" cy="256032"/>
          </a:xfrm>
          <a:prstGeom prst="rect">
            <a:avLst/>
          </a:prstGeom>
          <a:noFill/>
          <a:ln/>
        </p:spPr>
        <p:txBody>
          <a:bodyPr wrap="square" lIns="0" tIns="0" rIns="0" bIns="0" rtlCol="0" anchor="t"/>
          <a:lstStyle/>
          <a:p>
            <a:pPr indent="0" marL="0">
              <a:buNone/>
            </a:pPr>
            <a:r>
              <a:rPr lang="en-US" sz="1200" b="1" spc="100" kern="0" dirty="0">
                <a:solidFill>
                  <a:schemeClr val="accent6"/>
                </a:solidFill>
              </a:rPr>
              <a:t>SCORE CATEGORIES</a:t>
            </a:r>
            <a:endParaRPr lang="en-US" sz="1200" dirty="0"/>
          </a:p>
        </p:txBody>
      </p:sp>
      <p:sp>
        <p:nvSpPr>
          <p:cNvPr id="44" name="Card"/>
          <p:cNvSpPr/>
          <p:nvPr/>
        </p:nvSpPr>
        <p:spPr>
          <a:xfrm>
            <a:off x="548640" y="5321808"/>
            <a:ext cx="2103120" cy="713232"/>
          </a:xfrm>
          <a:prstGeom prst="roundRect">
            <a:avLst>
              <a:gd name="adj" fmla="val 10256"/>
            </a:avLst>
          </a:prstGeom>
          <a:solidFill>
            <a:schemeClr val="accent4"/>
          </a:solidFill>
          <a:ln/>
        </p:spPr>
      </p:sp>
      <p:sp>
        <p:nvSpPr>
          <p:cNvPr id="45" name="Text 41"/>
          <p:cNvSpPr txBox="1"/>
          <p:nvPr/>
        </p:nvSpPr>
        <p:spPr>
          <a:xfrm>
            <a:off x="548640" y="5321808"/>
            <a:ext cx="2103120" cy="713232"/>
          </a:xfrm>
          <a:prstGeom prst="rect">
            <a:avLst/>
          </a:prstGeom>
          <a:noFill/>
          <a:ln/>
        </p:spPr>
        <p:txBody>
          <a:bodyPr wrap="square" lIns="0" tIns="0" rIns="0" bIns="0" rtlCol="0" anchor="ctr"/>
          <a:lstStyle/>
          <a:p>
            <a:pPr algn="ctr" indent="0" marL="0">
              <a:buNone/>
            </a:pPr>
            <a:r>
              <a:rPr lang="en-US" sz="1500" b="1" dirty="0">
                <a:solidFill>
                  <a:schemeClr val="bg1"/>
                </a:solidFill>
              </a:rPr>
              <a:t>Critical</a:t>
            </a:r>
            <a:endParaRPr lang="en-US" sz="1400" dirty="0"/>
          </a:p>
          <a:p>
            <a:pPr algn="ctr" indent="0" marL="0">
              <a:buNone/>
            </a:pPr>
            <a:r>
              <a:rPr lang="en-US" sz="1200" dirty="0">
                <a:solidFill>
                  <a:schemeClr val="bg1"/>
                </a:solidFill>
              </a:rPr>
              <a:t>Below 40</a:t>
            </a:r>
            <a:endParaRPr lang="en-US" sz="1400" dirty="0"/>
          </a:p>
        </p:txBody>
      </p:sp>
      <p:sp>
        <p:nvSpPr>
          <p:cNvPr id="46" name="Card"/>
          <p:cNvSpPr/>
          <p:nvPr/>
        </p:nvSpPr>
        <p:spPr>
          <a:xfrm>
            <a:off x="2795778" y="5321808"/>
            <a:ext cx="2103120" cy="713232"/>
          </a:xfrm>
          <a:prstGeom prst="roundRect">
            <a:avLst>
              <a:gd name="adj" fmla="val 10256"/>
            </a:avLst>
          </a:prstGeom>
          <a:solidFill>
            <a:schemeClr val="accent3"/>
          </a:solidFill>
          <a:ln/>
        </p:spPr>
      </p:sp>
      <p:sp>
        <p:nvSpPr>
          <p:cNvPr id="47" name="Text 43"/>
          <p:cNvSpPr txBox="1"/>
          <p:nvPr/>
        </p:nvSpPr>
        <p:spPr>
          <a:xfrm>
            <a:off x="2795778" y="5321808"/>
            <a:ext cx="2103120" cy="713232"/>
          </a:xfrm>
          <a:prstGeom prst="rect">
            <a:avLst/>
          </a:prstGeom>
          <a:noFill/>
          <a:ln/>
        </p:spPr>
        <p:txBody>
          <a:bodyPr wrap="square" lIns="0" tIns="0" rIns="0" bIns="0" rtlCol="0" anchor="ctr"/>
          <a:lstStyle/>
          <a:p>
            <a:pPr algn="ctr" indent="0" marL="0">
              <a:buNone/>
            </a:pPr>
            <a:r>
              <a:rPr lang="en-US" sz="1500" b="1" dirty="0">
                <a:solidFill>
                  <a:schemeClr val="tx1"/>
                </a:solidFill>
              </a:rPr>
              <a:t>At Risk</a:t>
            </a:r>
            <a:endParaRPr lang="en-US" sz="1400" dirty="0"/>
          </a:p>
          <a:p>
            <a:pPr algn="ctr" indent="0" marL="0">
              <a:buNone/>
            </a:pPr>
            <a:r>
              <a:rPr lang="en-US" sz="1200" dirty="0">
                <a:solidFill>
                  <a:schemeClr val="tx1"/>
                </a:solidFill>
              </a:rPr>
              <a:t>40 to below 60</a:t>
            </a:r>
            <a:endParaRPr lang="en-US" sz="1400" dirty="0"/>
          </a:p>
        </p:txBody>
      </p:sp>
      <p:sp>
        <p:nvSpPr>
          <p:cNvPr id="48" name="Card"/>
          <p:cNvSpPr/>
          <p:nvPr/>
        </p:nvSpPr>
        <p:spPr>
          <a:xfrm>
            <a:off x="5042916" y="5321808"/>
            <a:ext cx="2103120" cy="713232"/>
          </a:xfrm>
          <a:prstGeom prst="roundRect">
            <a:avLst>
              <a:gd name="adj" fmla="val 10256"/>
            </a:avLst>
          </a:prstGeom>
          <a:solidFill>
            <a:schemeClr val="accent2"/>
          </a:solidFill>
          <a:ln/>
        </p:spPr>
      </p:sp>
      <p:sp>
        <p:nvSpPr>
          <p:cNvPr id="49" name="Text 45"/>
          <p:cNvSpPr txBox="1"/>
          <p:nvPr/>
        </p:nvSpPr>
        <p:spPr>
          <a:xfrm>
            <a:off x="5042916" y="5321808"/>
            <a:ext cx="2103120" cy="713232"/>
          </a:xfrm>
          <a:prstGeom prst="rect">
            <a:avLst/>
          </a:prstGeom>
          <a:noFill/>
          <a:ln/>
        </p:spPr>
        <p:txBody>
          <a:bodyPr wrap="square" lIns="0" tIns="0" rIns="0" bIns="0" rtlCol="0" anchor="ctr"/>
          <a:lstStyle/>
          <a:p>
            <a:pPr algn="ctr" indent="0" marL="0">
              <a:buNone/>
            </a:pPr>
            <a:r>
              <a:rPr lang="en-US" sz="1500" b="1" dirty="0">
                <a:solidFill>
                  <a:schemeClr val="bg1"/>
                </a:solidFill>
              </a:rPr>
              <a:t>Moderate</a:t>
            </a:r>
            <a:endParaRPr lang="en-US" sz="1400" dirty="0"/>
          </a:p>
          <a:p>
            <a:pPr algn="ctr" indent="0" marL="0">
              <a:buNone/>
            </a:pPr>
            <a:r>
              <a:rPr lang="en-US" sz="1200" dirty="0">
                <a:solidFill>
                  <a:schemeClr val="bg1"/>
                </a:solidFill>
              </a:rPr>
              <a:t>60 to below 75</a:t>
            </a:r>
            <a:endParaRPr lang="en-US" sz="1400" dirty="0"/>
          </a:p>
        </p:txBody>
      </p:sp>
      <p:sp>
        <p:nvSpPr>
          <p:cNvPr id="50" name="Card"/>
          <p:cNvSpPr/>
          <p:nvPr/>
        </p:nvSpPr>
        <p:spPr>
          <a:xfrm>
            <a:off x="7290054" y="5321808"/>
            <a:ext cx="2103120" cy="713232"/>
          </a:xfrm>
          <a:prstGeom prst="roundRect">
            <a:avLst>
              <a:gd name="adj" fmla="val 10256"/>
            </a:avLst>
          </a:prstGeom>
          <a:solidFill>
            <a:schemeClr val="accent1"/>
          </a:solidFill>
          <a:ln/>
        </p:spPr>
      </p:sp>
      <p:sp>
        <p:nvSpPr>
          <p:cNvPr id="51" name="Text 47"/>
          <p:cNvSpPr txBox="1"/>
          <p:nvPr/>
        </p:nvSpPr>
        <p:spPr>
          <a:xfrm>
            <a:off x="7290054" y="5321808"/>
            <a:ext cx="2103120" cy="713232"/>
          </a:xfrm>
          <a:prstGeom prst="rect">
            <a:avLst/>
          </a:prstGeom>
          <a:noFill/>
          <a:ln/>
        </p:spPr>
        <p:txBody>
          <a:bodyPr wrap="square" lIns="0" tIns="0" rIns="0" bIns="0" rtlCol="0" anchor="ctr"/>
          <a:lstStyle/>
          <a:p>
            <a:pPr algn="ctr" indent="0" marL="0">
              <a:buNone/>
            </a:pPr>
            <a:r>
              <a:rPr lang="en-US" sz="1500" b="1" dirty="0">
                <a:solidFill>
                  <a:schemeClr val="bg1"/>
                </a:solidFill>
              </a:rPr>
              <a:t>Good</a:t>
            </a:r>
            <a:endParaRPr lang="en-US" sz="1400" dirty="0"/>
          </a:p>
          <a:p>
            <a:pPr algn="ctr" indent="0" marL="0">
              <a:buNone/>
            </a:pPr>
            <a:r>
              <a:rPr lang="en-US" sz="1200" dirty="0">
                <a:solidFill>
                  <a:schemeClr val="bg1"/>
                </a:solidFill>
              </a:rPr>
              <a:t>75 to below 90</a:t>
            </a:r>
            <a:endParaRPr lang="en-US" sz="1400" dirty="0"/>
          </a:p>
        </p:txBody>
      </p:sp>
      <p:sp>
        <p:nvSpPr>
          <p:cNvPr id="52" name="Card"/>
          <p:cNvSpPr/>
          <p:nvPr/>
        </p:nvSpPr>
        <p:spPr>
          <a:xfrm>
            <a:off x="9537192" y="5321808"/>
            <a:ext cx="2103120" cy="713232"/>
          </a:xfrm>
          <a:prstGeom prst="roundRect">
            <a:avLst>
              <a:gd name="adj" fmla="val 10256"/>
            </a:avLst>
          </a:prstGeom>
          <a:solidFill>
            <a:schemeClr val="accent5"/>
          </a:solidFill>
          <a:ln/>
        </p:spPr>
      </p:sp>
      <p:sp>
        <p:nvSpPr>
          <p:cNvPr id="53" name="Text 49"/>
          <p:cNvSpPr txBox="1"/>
          <p:nvPr/>
        </p:nvSpPr>
        <p:spPr>
          <a:xfrm>
            <a:off x="9537192" y="5321808"/>
            <a:ext cx="2103120" cy="713232"/>
          </a:xfrm>
          <a:prstGeom prst="rect">
            <a:avLst/>
          </a:prstGeom>
          <a:noFill/>
          <a:ln/>
        </p:spPr>
        <p:txBody>
          <a:bodyPr wrap="square" lIns="0" tIns="0" rIns="0" bIns="0" rtlCol="0" anchor="ctr"/>
          <a:lstStyle/>
          <a:p>
            <a:pPr algn="ctr" indent="0" marL="0">
              <a:buNone/>
            </a:pPr>
            <a:r>
              <a:rPr lang="en-US" sz="1500" b="1" dirty="0">
                <a:solidFill>
                  <a:schemeClr val="bg1"/>
                </a:solidFill>
              </a:rPr>
              <a:t>Excellent</a:t>
            </a:r>
            <a:endParaRPr lang="en-US" sz="1400" dirty="0"/>
          </a:p>
          <a:p>
            <a:pPr algn="ctr" indent="0" marL="0">
              <a:buNone/>
            </a:pPr>
            <a:r>
              <a:rPr lang="en-US" sz="1200" dirty="0">
                <a:solidFill>
                  <a:schemeClr val="bg1"/>
                </a:solidFill>
              </a:rPr>
              <a:t>90 to 100</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RISK IDENTIFICATION ENGINE</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Identifying three types of student risk</a:t>
            </a:r>
            <a:endParaRPr lang="en-US" sz="3000" dirty="0"/>
          </a:p>
        </p:txBody>
      </p:sp>
      <p:sp>
        <p:nvSpPr>
          <p:cNvPr id="5" name="Card"/>
          <p:cNvSpPr/>
          <p:nvPr/>
        </p:nvSpPr>
        <p:spPr>
          <a:xfrm>
            <a:off x="548640" y="1463040"/>
            <a:ext cx="3566160" cy="2057400"/>
          </a:xfrm>
          <a:prstGeom prst="roundRect">
            <a:avLst>
              <a:gd name="adj" fmla="val 3556"/>
            </a:avLst>
          </a:prstGeom>
          <a:solidFill>
            <a:schemeClr val="bg2"/>
          </a:solidFill>
          <a:ln/>
        </p:spPr>
      </p:sp>
      <p:sp>
        <p:nvSpPr>
          <p:cNvPr id="6" name="Icon circle"/>
          <p:cNvSpPr/>
          <p:nvPr/>
        </p:nvSpPr>
        <p:spPr>
          <a:xfrm>
            <a:off x="731520" y="1627632"/>
            <a:ext cx="502920" cy="502920"/>
          </a:xfrm>
          <a:prstGeom prst="ellipse">
            <a:avLst/>
          </a:prstGeom>
          <a:solidFill>
            <a:schemeClr val="accent2"/>
          </a:solidFill>
          <a:ln/>
        </p:spPr>
      </p:sp>
      <p:pic>
        <p:nvPicPr>
          <p:cNvPr id="7" name="Image 0" descr="GraduationCap icon">    </p:cNvPr>
          <p:cNvPicPr>
            <a:picLocks noChangeAspect="1"/>
          </p:cNvPicPr>
          <p:nvPr/>
        </p:nvPicPr>
        <p:blipFill>
          <a:blip r:embed="rId1"/>
          <a:stretch>
            <a:fillRect/>
          </a:stretch>
        </p:blipFill>
        <p:spPr>
          <a:xfrm>
            <a:off x="862279" y="1758391"/>
            <a:ext cx="241402" cy="241402"/>
          </a:xfrm>
          <a:prstGeom prst="rect">
            <a:avLst/>
          </a:prstGeom>
        </p:spPr>
      </p:pic>
      <p:sp>
        <p:nvSpPr>
          <p:cNvPr id="8" name="Text 4"/>
          <p:cNvSpPr txBox="1"/>
          <p:nvPr/>
        </p:nvSpPr>
        <p:spPr>
          <a:xfrm>
            <a:off x="1371600" y="1627632"/>
            <a:ext cx="2651760" cy="502920"/>
          </a:xfrm>
          <a:prstGeom prst="rect">
            <a:avLst/>
          </a:prstGeom>
          <a:noFill/>
          <a:ln/>
        </p:spPr>
        <p:txBody>
          <a:bodyPr wrap="square" lIns="0" tIns="0" rIns="0" bIns="0" rtlCol="0" anchor="ctr"/>
          <a:lstStyle/>
          <a:p>
            <a:pPr indent="0" marL="0">
              <a:buNone/>
            </a:pPr>
            <a:r>
              <a:rPr lang="en-US" sz="1700" b="1" dirty="0">
                <a:solidFill>
                  <a:schemeClr val="tx2"/>
                </a:solidFill>
              </a:rPr>
              <a:t>Academic risk</a:t>
            </a:r>
            <a:endParaRPr lang="en-US" sz="1700" dirty="0"/>
          </a:p>
        </p:txBody>
      </p:sp>
      <p:sp>
        <p:nvSpPr>
          <p:cNvPr id="9" name="Text 5"/>
          <p:cNvSpPr txBox="1"/>
          <p:nvPr/>
        </p:nvSpPr>
        <p:spPr>
          <a:xfrm>
            <a:off x="731520" y="2212848"/>
            <a:ext cx="3200400" cy="274320"/>
          </a:xfrm>
          <a:prstGeom prst="rect">
            <a:avLst/>
          </a:prstGeom>
          <a:noFill/>
          <a:ln/>
        </p:spPr>
        <p:txBody>
          <a:bodyPr wrap="square" lIns="0" tIns="0" rIns="0" bIns="0" rtlCol="0" anchor="t"/>
          <a:lstStyle/>
          <a:p>
            <a:pPr indent="0" marL="0">
              <a:buNone/>
            </a:pPr>
            <a:r>
              <a:rPr lang="en-US" sz="1200" dirty="0">
                <a:solidFill>
                  <a:schemeClr val="accent6"/>
                </a:solidFill>
              </a:rPr>
              <a:t>Inputs: academic score and attendance score</a:t>
            </a:r>
            <a:endParaRPr lang="en-US" sz="1200" dirty="0"/>
          </a:p>
        </p:txBody>
      </p:sp>
      <p:sp>
        <p:nvSpPr>
          <p:cNvPr id="10" name="Weight segment"/>
          <p:cNvSpPr/>
          <p:nvPr/>
        </p:nvSpPr>
        <p:spPr>
          <a:xfrm>
            <a:off x="731520" y="2560320"/>
            <a:ext cx="1920240" cy="731520"/>
          </a:xfrm>
          <a:prstGeom prst="rect">
            <a:avLst/>
          </a:prstGeom>
          <a:solidFill>
            <a:schemeClr val="accent2"/>
          </a:solidFill>
          <a:ln w="19050">
            <a:solidFill>
              <a:srgbClr val="FFFFFF"/>
            </a:solidFill>
            <a:prstDash val="solid"/>
          </a:ln>
        </p:spPr>
      </p:sp>
      <p:sp>
        <p:nvSpPr>
          <p:cNvPr id="11" name="Text 7"/>
          <p:cNvSpPr txBox="1"/>
          <p:nvPr/>
        </p:nvSpPr>
        <p:spPr>
          <a:xfrm>
            <a:off x="731520" y="2560320"/>
            <a:ext cx="1920240" cy="731520"/>
          </a:xfrm>
          <a:prstGeom prst="rect">
            <a:avLst/>
          </a:prstGeom>
          <a:noFill/>
          <a:ln/>
        </p:spPr>
        <p:txBody>
          <a:bodyPr wrap="square" lIns="0" tIns="0" rIns="0" bIns="0" rtlCol="0" anchor="ctr"/>
          <a:lstStyle/>
          <a:p>
            <a:pPr algn="ctr" indent="0" marL="0">
              <a:buNone/>
            </a:pPr>
            <a:r>
              <a:rPr lang="en-US" sz="1600" b="1" dirty="0">
                <a:solidFill>
                  <a:schemeClr val="bg1"/>
                </a:solidFill>
              </a:rPr>
              <a:t>60%</a:t>
            </a:r>
            <a:endParaRPr lang="en-US" sz="1400" dirty="0"/>
          </a:p>
          <a:p>
            <a:pPr algn="ctr" indent="0" marL="0">
              <a:buNone/>
            </a:pPr>
            <a:r>
              <a:rPr lang="en-US" sz="1100" dirty="0">
                <a:solidFill>
                  <a:schemeClr val="bg1"/>
                </a:solidFill>
              </a:rPr>
              <a:t>Academic deficit</a:t>
            </a:r>
            <a:endParaRPr lang="en-US" sz="1400" dirty="0"/>
          </a:p>
        </p:txBody>
      </p:sp>
      <p:sp>
        <p:nvSpPr>
          <p:cNvPr id="12" name="Weight segment"/>
          <p:cNvSpPr/>
          <p:nvPr/>
        </p:nvSpPr>
        <p:spPr>
          <a:xfrm>
            <a:off x="2651760" y="2560320"/>
            <a:ext cx="1280160" cy="731520"/>
          </a:xfrm>
          <a:prstGeom prst="rect">
            <a:avLst/>
          </a:prstGeom>
          <a:solidFill>
            <a:schemeClr val="accent6"/>
          </a:solidFill>
          <a:ln w="19050">
            <a:solidFill>
              <a:srgbClr val="FFFFFF"/>
            </a:solidFill>
            <a:prstDash val="solid"/>
          </a:ln>
        </p:spPr>
      </p:sp>
      <p:sp>
        <p:nvSpPr>
          <p:cNvPr id="13" name="Text 9"/>
          <p:cNvSpPr txBox="1"/>
          <p:nvPr/>
        </p:nvSpPr>
        <p:spPr>
          <a:xfrm>
            <a:off x="2651760" y="2560320"/>
            <a:ext cx="1280160" cy="731520"/>
          </a:xfrm>
          <a:prstGeom prst="rect">
            <a:avLst/>
          </a:prstGeom>
          <a:noFill/>
          <a:ln/>
        </p:spPr>
        <p:txBody>
          <a:bodyPr wrap="square" lIns="0" tIns="0" rIns="0" bIns="0" rtlCol="0" anchor="ctr"/>
          <a:lstStyle/>
          <a:p>
            <a:pPr algn="ctr" indent="0" marL="0">
              <a:buNone/>
            </a:pPr>
            <a:r>
              <a:rPr lang="en-US" sz="1600" b="1" dirty="0">
                <a:solidFill>
                  <a:schemeClr val="bg1"/>
                </a:solidFill>
              </a:rPr>
              <a:t>40%</a:t>
            </a:r>
            <a:endParaRPr lang="en-US" sz="1400" dirty="0"/>
          </a:p>
          <a:p>
            <a:pPr algn="ctr" indent="0" marL="0">
              <a:buNone/>
            </a:pPr>
            <a:r>
              <a:rPr lang="en-US" sz="1100" dirty="0">
                <a:solidFill>
                  <a:schemeClr val="bg1"/>
                </a:solidFill>
              </a:rPr>
              <a:t>Attendance deficit</a:t>
            </a:r>
            <a:endParaRPr lang="en-US" sz="1400" dirty="0"/>
          </a:p>
        </p:txBody>
      </p:sp>
      <p:sp>
        <p:nvSpPr>
          <p:cNvPr id="14" name="Card"/>
          <p:cNvSpPr/>
          <p:nvPr/>
        </p:nvSpPr>
        <p:spPr>
          <a:xfrm>
            <a:off x="4311396" y="1463040"/>
            <a:ext cx="3566160" cy="2057400"/>
          </a:xfrm>
          <a:prstGeom prst="roundRect">
            <a:avLst>
              <a:gd name="adj" fmla="val 3556"/>
            </a:avLst>
          </a:prstGeom>
          <a:solidFill>
            <a:schemeClr val="bg2"/>
          </a:solidFill>
          <a:ln/>
        </p:spPr>
      </p:sp>
      <p:sp>
        <p:nvSpPr>
          <p:cNvPr id="15" name="Icon circle"/>
          <p:cNvSpPr/>
          <p:nvPr/>
        </p:nvSpPr>
        <p:spPr>
          <a:xfrm>
            <a:off x="4494276" y="1627632"/>
            <a:ext cx="502920" cy="502920"/>
          </a:xfrm>
          <a:prstGeom prst="ellipse">
            <a:avLst/>
          </a:prstGeom>
          <a:solidFill>
            <a:schemeClr val="accent1"/>
          </a:solidFill>
          <a:ln/>
        </p:spPr>
      </p:sp>
      <p:pic>
        <p:nvPicPr>
          <p:cNvPr id="16" name="Image 1" descr="Briefcase icon">    </p:cNvPr>
          <p:cNvPicPr>
            <a:picLocks noChangeAspect="1"/>
          </p:cNvPicPr>
          <p:nvPr/>
        </p:nvPicPr>
        <p:blipFill>
          <a:blip r:embed="rId2"/>
          <a:stretch>
            <a:fillRect/>
          </a:stretch>
        </p:blipFill>
        <p:spPr>
          <a:xfrm>
            <a:off x="4625035" y="1758391"/>
            <a:ext cx="241402" cy="241402"/>
          </a:xfrm>
          <a:prstGeom prst="rect">
            <a:avLst/>
          </a:prstGeom>
        </p:spPr>
      </p:pic>
      <p:sp>
        <p:nvSpPr>
          <p:cNvPr id="17" name="Text 12"/>
          <p:cNvSpPr txBox="1"/>
          <p:nvPr/>
        </p:nvSpPr>
        <p:spPr>
          <a:xfrm>
            <a:off x="5134356" y="1627632"/>
            <a:ext cx="2651760" cy="502920"/>
          </a:xfrm>
          <a:prstGeom prst="rect">
            <a:avLst/>
          </a:prstGeom>
          <a:noFill/>
          <a:ln/>
        </p:spPr>
        <p:txBody>
          <a:bodyPr wrap="square" lIns="0" tIns="0" rIns="0" bIns="0" rtlCol="0" anchor="ctr"/>
          <a:lstStyle/>
          <a:p>
            <a:pPr indent="0" marL="0">
              <a:buNone/>
            </a:pPr>
            <a:r>
              <a:rPr lang="en-US" sz="1700" b="1" dirty="0">
                <a:solidFill>
                  <a:schemeClr val="tx2"/>
                </a:solidFill>
              </a:rPr>
              <a:t>Placement risk</a:t>
            </a:r>
            <a:endParaRPr lang="en-US" sz="1700" dirty="0"/>
          </a:p>
        </p:txBody>
      </p:sp>
      <p:sp>
        <p:nvSpPr>
          <p:cNvPr id="18" name="Text 13"/>
          <p:cNvSpPr txBox="1"/>
          <p:nvPr/>
        </p:nvSpPr>
        <p:spPr>
          <a:xfrm>
            <a:off x="4494276" y="2212848"/>
            <a:ext cx="3200400" cy="274320"/>
          </a:xfrm>
          <a:prstGeom prst="rect">
            <a:avLst/>
          </a:prstGeom>
          <a:noFill/>
          <a:ln/>
        </p:spPr>
        <p:txBody>
          <a:bodyPr wrap="square" lIns="0" tIns="0" rIns="0" bIns="0" rtlCol="0" anchor="t"/>
          <a:lstStyle/>
          <a:p>
            <a:pPr indent="0" marL="0">
              <a:buNone/>
            </a:pPr>
            <a:r>
              <a:rPr lang="en-US" sz="1200" dirty="0">
                <a:solidFill>
                  <a:schemeClr val="accent6"/>
                </a:solidFill>
              </a:rPr>
              <a:t>Inputs: placement readiness score and skills score</a:t>
            </a:r>
            <a:endParaRPr lang="en-US" sz="1200" dirty="0"/>
          </a:p>
        </p:txBody>
      </p:sp>
      <p:sp>
        <p:nvSpPr>
          <p:cNvPr id="19" name="Weight segment"/>
          <p:cNvSpPr/>
          <p:nvPr/>
        </p:nvSpPr>
        <p:spPr>
          <a:xfrm>
            <a:off x="4494276" y="2560320"/>
            <a:ext cx="2240280" cy="731520"/>
          </a:xfrm>
          <a:prstGeom prst="rect">
            <a:avLst/>
          </a:prstGeom>
          <a:solidFill>
            <a:schemeClr val="accent1"/>
          </a:solidFill>
          <a:ln w="19050">
            <a:solidFill>
              <a:srgbClr val="FFFFFF"/>
            </a:solidFill>
            <a:prstDash val="solid"/>
          </a:ln>
        </p:spPr>
      </p:sp>
      <p:sp>
        <p:nvSpPr>
          <p:cNvPr id="20" name="Text 15"/>
          <p:cNvSpPr txBox="1"/>
          <p:nvPr/>
        </p:nvSpPr>
        <p:spPr>
          <a:xfrm>
            <a:off x="4494276" y="2560320"/>
            <a:ext cx="2240280" cy="731520"/>
          </a:xfrm>
          <a:prstGeom prst="rect">
            <a:avLst/>
          </a:prstGeom>
          <a:noFill/>
          <a:ln/>
        </p:spPr>
        <p:txBody>
          <a:bodyPr wrap="square" lIns="0" tIns="0" rIns="0" bIns="0" rtlCol="0" anchor="ctr"/>
          <a:lstStyle/>
          <a:p>
            <a:pPr algn="ctr" indent="0" marL="0">
              <a:buNone/>
            </a:pPr>
            <a:r>
              <a:rPr lang="en-US" sz="1600" b="1" dirty="0">
                <a:solidFill>
                  <a:schemeClr val="bg1"/>
                </a:solidFill>
              </a:rPr>
              <a:t>70%</a:t>
            </a:r>
            <a:endParaRPr lang="en-US" sz="1400" dirty="0"/>
          </a:p>
          <a:p>
            <a:pPr algn="ctr" indent="0" marL="0">
              <a:buNone/>
            </a:pPr>
            <a:r>
              <a:rPr lang="en-US" sz="1100" dirty="0">
                <a:solidFill>
                  <a:schemeClr val="bg1"/>
                </a:solidFill>
              </a:rPr>
              <a:t>Placement deficit</a:t>
            </a:r>
            <a:endParaRPr lang="en-US" sz="1400" dirty="0"/>
          </a:p>
        </p:txBody>
      </p:sp>
      <p:sp>
        <p:nvSpPr>
          <p:cNvPr id="21" name="Weight segment"/>
          <p:cNvSpPr/>
          <p:nvPr/>
        </p:nvSpPr>
        <p:spPr>
          <a:xfrm>
            <a:off x="6734556" y="2560320"/>
            <a:ext cx="960120" cy="731520"/>
          </a:xfrm>
          <a:prstGeom prst="rect">
            <a:avLst/>
          </a:prstGeom>
          <a:solidFill>
            <a:schemeClr val="accent6"/>
          </a:solidFill>
          <a:ln w="19050">
            <a:solidFill>
              <a:srgbClr val="FFFFFF"/>
            </a:solidFill>
            <a:prstDash val="solid"/>
          </a:ln>
        </p:spPr>
      </p:sp>
      <p:sp>
        <p:nvSpPr>
          <p:cNvPr id="22" name="Text 17"/>
          <p:cNvSpPr txBox="1"/>
          <p:nvPr/>
        </p:nvSpPr>
        <p:spPr>
          <a:xfrm>
            <a:off x="6734556" y="2560320"/>
            <a:ext cx="960120" cy="731520"/>
          </a:xfrm>
          <a:prstGeom prst="rect">
            <a:avLst/>
          </a:prstGeom>
          <a:noFill/>
          <a:ln/>
        </p:spPr>
        <p:txBody>
          <a:bodyPr wrap="square" lIns="0" tIns="0" rIns="0" bIns="0" rtlCol="0" anchor="ctr"/>
          <a:lstStyle/>
          <a:p>
            <a:pPr algn="ctr" indent="0" marL="0">
              <a:buNone/>
            </a:pPr>
            <a:r>
              <a:rPr lang="en-US" sz="1600" b="1" dirty="0">
                <a:solidFill>
                  <a:schemeClr val="bg1"/>
                </a:solidFill>
              </a:rPr>
              <a:t>30%</a:t>
            </a:r>
            <a:endParaRPr lang="en-US" sz="1400" dirty="0"/>
          </a:p>
          <a:p>
            <a:pPr algn="ctr" indent="0" marL="0">
              <a:buNone/>
            </a:pPr>
            <a:r>
              <a:rPr lang="en-US" sz="1100" dirty="0">
                <a:solidFill>
                  <a:schemeClr val="bg1"/>
                </a:solidFill>
              </a:rPr>
              <a:t>Skills deficit</a:t>
            </a:r>
            <a:endParaRPr lang="en-US" sz="1400" dirty="0"/>
          </a:p>
        </p:txBody>
      </p:sp>
      <p:sp>
        <p:nvSpPr>
          <p:cNvPr id="23" name="Card"/>
          <p:cNvSpPr/>
          <p:nvPr/>
        </p:nvSpPr>
        <p:spPr>
          <a:xfrm>
            <a:off x="8074152" y="1463040"/>
            <a:ext cx="3566160" cy="2057400"/>
          </a:xfrm>
          <a:prstGeom prst="roundRect">
            <a:avLst>
              <a:gd name="adj" fmla="val 3556"/>
            </a:avLst>
          </a:prstGeom>
          <a:solidFill>
            <a:schemeClr val="bg2"/>
          </a:solidFill>
          <a:ln/>
        </p:spPr>
      </p:sp>
      <p:sp>
        <p:nvSpPr>
          <p:cNvPr id="24" name="Icon circle"/>
          <p:cNvSpPr/>
          <p:nvPr/>
        </p:nvSpPr>
        <p:spPr>
          <a:xfrm>
            <a:off x="8257032" y="1627632"/>
            <a:ext cx="502920" cy="502920"/>
          </a:xfrm>
          <a:prstGeom prst="ellipse">
            <a:avLst/>
          </a:prstGeom>
          <a:solidFill>
            <a:schemeClr val="tx2"/>
          </a:solidFill>
          <a:ln/>
        </p:spPr>
      </p:sp>
      <p:pic>
        <p:nvPicPr>
          <p:cNvPr id="25" name="Image 2" descr="Laptop icon">    </p:cNvPr>
          <p:cNvPicPr>
            <a:picLocks noChangeAspect="1"/>
          </p:cNvPicPr>
          <p:nvPr/>
        </p:nvPicPr>
        <p:blipFill>
          <a:blip r:embed="rId3"/>
          <a:stretch>
            <a:fillRect/>
          </a:stretch>
        </p:blipFill>
        <p:spPr>
          <a:xfrm>
            <a:off x="8387791" y="1758391"/>
            <a:ext cx="241402" cy="241402"/>
          </a:xfrm>
          <a:prstGeom prst="rect">
            <a:avLst/>
          </a:prstGeom>
        </p:spPr>
      </p:pic>
      <p:sp>
        <p:nvSpPr>
          <p:cNvPr id="26" name="Text 20"/>
          <p:cNvSpPr txBox="1"/>
          <p:nvPr/>
        </p:nvSpPr>
        <p:spPr>
          <a:xfrm>
            <a:off x="8897112" y="1627632"/>
            <a:ext cx="2651760" cy="502920"/>
          </a:xfrm>
          <a:prstGeom prst="rect">
            <a:avLst/>
          </a:prstGeom>
          <a:noFill/>
          <a:ln/>
        </p:spPr>
        <p:txBody>
          <a:bodyPr wrap="square" lIns="0" tIns="0" rIns="0" bIns="0" rtlCol="0" anchor="ctr"/>
          <a:lstStyle/>
          <a:p>
            <a:pPr indent="0" marL="0">
              <a:buNone/>
            </a:pPr>
            <a:r>
              <a:rPr lang="en-US" sz="1700" b="1" dirty="0">
                <a:solidFill>
                  <a:schemeClr val="tx2"/>
                </a:solidFill>
              </a:rPr>
              <a:t>Engagement risk</a:t>
            </a:r>
            <a:endParaRPr lang="en-US" sz="1700" dirty="0"/>
          </a:p>
        </p:txBody>
      </p:sp>
      <p:sp>
        <p:nvSpPr>
          <p:cNvPr id="27" name="Text 21"/>
          <p:cNvSpPr txBox="1"/>
          <p:nvPr/>
        </p:nvSpPr>
        <p:spPr>
          <a:xfrm>
            <a:off x="8257032" y="2212848"/>
            <a:ext cx="3200400" cy="274320"/>
          </a:xfrm>
          <a:prstGeom prst="rect">
            <a:avLst/>
          </a:prstGeom>
          <a:noFill/>
          <a:ln/>
        </p:spPr>
        <p:txBody>
          <a:bodyPr wrap="square" lIns="0" tIns="0" rIns="0" bIns="0" rtlCol="0" anchor="t"/>
          <a:lstStyle/>
          <a:p>
            <a:pPr indent="0" marL="0">
              <a:buNone/>
            </a:pPr>
            <a:r>
              <a:rPr lang="en-US" sz="1200" dirty="0">
                <a:solidFill>
                  <a:schemeClr val="accent6"/>
                </a:solidFill>
              </a:rPr>
              <a:t>Inputs: LMS score and engagement score</a:t>
            </a:r>
            <a:endParaRPr lang="en-US" sz="1200" dirty="0"/>
          </a:p>
        </p:txBody>
      </p:sp>
      <p:sp>
        <p:nvSpPr>
          <p:cNvPr id="28" name="Weight segment"/>
          <p:cNvSpPr/>
          <p:nvPr/>
        </p:nvSpPr>
        <p:spPr>
          <a:xfrm>
            <a:off x="8257032" y="2560320"/>
            <a:ext cx="1920240" cy="731520"/>
          </a:xfrm>
          <a:prstGeom prst="rect">
            <a:avLst/>
          </a:prstGeom>
          <a:solidFill>
            <a:schemeClr val="tx2"/>
          </a:solidFill>
          <a:ln w="19050">
            <a:solidFill>
              <a:srgbClr val="FFFFFF"/>
            </a:solidFill>
            <a:prstDash val="solid"/>
          </a:ln>
        </p:spPr>
      </p:sp>
      <p:sp>
        <p:nvSpPr>
          <p:cNvPr id="29" name="Text 23"/>
          <p:cNvSpPr txBox="1"/>
          <p:nvPr/>
        </p:nvSpPr>
        <p:spPr>
          <a:xfrm>
            <a:off x="8257032" y="2560320"/>
            <a:ext cx="1920240" cy="731520"/>
          </a:xfrm>
          <a:prstGeom prst="rect">
            <a:avLst/>
          </a:prstGeom>
          <a:noFill/>
          <a:ln/>
        </p:spPr>
        <p:txBody>
          <a:bodyPr wrap="square" lIns="0" tIns="0" rIns="0" bIns="0" rtlCol="0" anchor="ctr"/>
          <a:lstStyle/>
          <a:p>
            <a:pPr algn="ctr" indent="0" marL="0">
              <a:buNone/>
            </a:pPr>
            <a:r>
              <a:rPr lang="en-US" sz="1600" b="1" dirty="0">
                <a:solidFill>
                  <a:schemeClr val="bg1"/>
                </a:solidFill>
              </a:rPr>
              <a:t>60%</a:t>
            </a:r>
            <a:endParaRPr lang="en-US" sz="1400" dirty="0"/>
          </a:p>
          <a:p>
            <a:pPr algn="ctr" indent="0" marL="0">
              <a:buNone/>
            </a:pPr>
            <a:r>
              <a:rPr lang="en-US" sz="1100" dirty="0">
                <a:solidFill>
                  <a:schemeClr val="bg1"/>
                </a:solidFill>
              </a:rPr>
              <a:t>LMS deficit</a:t>
            </a:r>
            <a:endParaRPr lang="en-US" sz="1400" dirty="0"/>
          </a:p>
        </p:txBody>
      </p:sp>
      <p:sp>
        <p:nvSpPr>
          <p:cNvPr id="30" name="Weight segment"/>
          <p:cNvSpPr/>
          <p:nvPr/>
        </p:nvSpPr>
        <p:spPr>
          <a:xfrm>
            <a:off x="10177272" y="2560320"/>
            <a:ext cx="1280160" cy="731520"/>
          </a:xfrm>
          <a:prstGeom prst="rect">
            <a:avLst/>
          </a:prstGeom>
          <a:solidFill>
            <a:schemeClr val="accent6"/>
          </a:solidFill>
          <a:ln w="19050">
            <a:solidFill>
              <a:srgbClr val="FFFFFF"/>
            </a:solidFill>
            <a:prstDash val="solid"/>
          </a:ln>
        </p:spPr>
      </p:sp>
      <p:sp>
        <p:nvSpPr>
          <p:cNvPr id="31" name="Text 25"/>
          <p:cNvSpPr txBox="1"/>
          <p:nvPr/>
        </p:nvSpPr>
        <p:spPr>
          <a:xfrm>
            <a:off x="10177272" y="2560320"/>
            <a:ext cx="1280160" cy="731520"/>
          </a:xfrm>
          <a:prstGeom prst="rect">
            <a:avLst/>
          </a:prstGeom>
          <a:noFill/>
          <a:ln/>
        </p:spPr>
        <p:txBody>
          <a:bodyPr wrap="square" lIns="0" tIns="0" rIns="0" bIns="0" rtlCol="0" anchor="ctr"/>
          <a:lstStyle/>
          <a:p>
            <a:pPr algn="ctr" indent="0" marL="0">
              <a:buNone/>
            </a:pPr>
            <a:r>
              <a:rPr lang="en-US" sz="1600" b="1" dirty="0">
                <a:solidFill>
                  <a:schemeClr val="bg1"/>
                </a:solidFill>
              </a:rPr>
              <a:t>40%</a:t>
            </a:r>
            <a:endParaRPr lang="en-US" sz="1400" dirty="0"/>
          </a:p>
          <a:p>
            <a:pPr algn="ctr" indent="0" marL="0">
              <a:buNone/>
            </a:pPr>
            <a:r>
              <a:rPr lang="en-US" sz="1100" dirty="0">
                <a:solidFill>
                  <a:schemeClr val="bg1"/>
                </a:solidFill>
              </a:rPr>
              <a:t>Engagement deficit</a:t>
            </a:r>
            <a:endParaRPr lang="en-US" sz="1400" dirty="0"/>
          </a:p>
        </p:txBody>
      </p:sp>
      <p:sp>
        <p:nvSpPr>
          <p:cNvPr id="32" name="Card"/>
          <p:cNvSpPr/>
          <p:nvPr/>
        </p:nvSpPr>
        <p:spPr>
          <a:xfrm>
            <a:off x="548640" y="3703320"/>
            <a:ext cx="6858000" cy="2103120"/>
          </a:xfrm>
          <a:prstGeom prst="roundRect">
            <a:avLst>
              <a:gd name="adj" fmla="val 3478"/>
            </a:avLst>
          </a:prstGeom>
          <a:solidFill>
            <a:schemeClr val="bg2"/>
          </a:solidFill>
          <a:ln/>
        </p:spPr>
      </p:sp>
      <p:sp>
        <p:nvSpPr>
          <p:cNvPr id="33" name="Text 27"/>
          <p:cNvSpPr txBox="1"/>
          <p:nvPr/>
        </p:nvSpPr>
        <p:spPr>
          <a:xfrm>
            <a:off x="777240" y="3840480"/>
            <a:ext cx="4572000" cy="365760"/>
          </a:xfrm>
          <a:prstGeom prst="rect">
            <a:avLst/>
          </a:prstGeom>
          <a:noFill/>
          <a:ln/>
        </p:spPr>
        <p:txBody>
          <a:bodyPr wrap="square" lIns="0" tIns="0" rIns="0" bIns="0" rtlCol="0" anchor="t"/>
          <a:lstStyle/>
          <a:p>
            <a:pPr indent="0" marL="0">
              <a:buNone/>
            </a:pPr>
            <a:r>
              <a:rPr lang="en-US" sz="1700" b="1" dirty="0">
                <a:solidFill>
                  <a:schemeClr val="tx2"/>
                </a:solidFill>
              </a:rPr>
              <a:t>Overall risk score</a:t>
            </a:r>
            <a:endParaRPr lang="en-US" sz="1700" dirty="0"/>
          </a:p>
        </p:txBody>
      </p:sp>
      <p:sp>
        <p:nvSpPr>
          <p:cNvPr id="34" name="Text 28"/>
          <p:cNvSpPr txBox="1"/>
          <p:nvPr/>
        </p:nvSpPr>
        <p:spPr>
          <a:xfrm>
            <a:off x="777240" y="4206240"/>
            <a:ext cx="5486400" cy="274320"/>
          </a:xfrm>
          <a:prstGeom prst="rect">
            <a:avLst/>
          </a:prstGeom>
          <a:noFill/>
          <a:ln/>
        </p:spPr>
        <p:txBody>
          <a:bodyPr wrap="square" lIns="0" tIns="0" rIns="0" bIns="0" rtlCol="0" anchor="t"/>
          <a:lstStyle/>
          <a:p>
            <a:pPr indent="0" marL="0">
              <a:buNone/>
            </a:pPr>
            <a:r>
              <a:rPr lang="en-US" sz="1200" dirty="0">
                <a:solidFill>
                  <a:schemeClr val="accent6"/>
                </a:solidFill>
              </a:rPr>
              <a:t>Weighted combination of the three risk scores</a:t>
            </a:r>
            <a:endParaRPr lang="en-US" sz="1200" dirty="0"/>
          </a:p>
        </p:txBody>
      </p:sp>
      <p:sp>
        <p:nvSpPr>
          <p:cNvPr id="35" name="Weight segment"/>
          <p:cNvSpPr/>
          <p:nvPr/>
        </p:nvSpPr>
        <p:spPr>
          <a:xfrm>
            <a:off x="777240" y="4663440"/>
            <a:ext cx="2560320" cy="868680"/>
          </a:xfrm>
          <a:prstGeom prst="rect">
            <a:avLst/>
          </a:prstGeom>
          <a:solidFill>
            <a:schemeClr val="accent2"/>
          </a:solidFill>
          <a:ln w="19050">
            <a:solidFill>
              <a:srgbClr val="FFFFFF"/>
            </a:solidFill>
            <a:prstDash val="solid"/>
          </a:ln>
        </p:spPr>
      </p:sp>
      <p:sp>
        <p:nvSpPr>
          <p:cNvPr id="36" name="Text 30"/>
          <p:cNvSpPr txBox="1"/>
          <p:nvPr/>
        </p:nvSpPr>
        <p:spPr>
          <a:xfrm>
            <a:off x="777240" y="4663440"/>
            <a:ext cx="2560320" cy="868680"/>
          </a:xfrm>
          <a:prstGeom prst="rect">
            <a:avLst/>
          </a:prstGeom>
          <a:noFill/>
          <a:ln/>
        </p:spPr>
        <p:txBody>
          <a:bodyPr wrap="square" lIns="0" tIns="0" rIns="0" bIns="0" rtlCol="0" anchor="ctr"/>
          <a:lstStyle/>
          <a:p>
            <a:pPr algn="ctr" indent="0" marL="0">
              <a:buNone/>
            </a:pPr>
            <a:r>
              <a:rPr lang="en-US" sz="1800" b="1" dirty="0">
                <a:solidFill>
                  <a:schemeClr val="bg1"/>
                </a:solidFill>
              </a:rPr>
              <a:t>40%</a:t>
            </a:r>
            <a:endParaRPr lang="en-US" sz="1400" dirty="0"/>
          </a:p>
          <a:p>
            <a:pPr algn="ctr" indent="0" marL="0">
              <a:buNone/>
            </a:pPr>
            <a:r>
              <a:rPr lang="en-US" sz="1200" dirty="0">
                <a:solidFill>
                  <a:schemeClr val="bg1"/>
                </a:solidFill>
              </a:rPr>
              <a:t>Academic risk</a:t>
            </a:r>
            <a:endParaRPr lang="en-US" sz="1400" dirty="0"/>
          </a:p>
        </p:txBody>
      </p:sp>
      <p:sp>
        <p:nvSpPr>
          <p:cNvPr id="37" name="Weight segment"/>
          <p:cNvSpPr/>
          <p:nvPr/>
        </p:nvSpPr>
        <p:spPr>
          <a:xfrm>
            <a:off x="3337560" y="4663440"/>
            <a:ext cx="2560320" cy="868680"/>
          </a:xfrm>
          <a:prstGeom prst="rect">
            <a:avLst/>
          </a:prstGeom>
          <a:solidFill>
            <a:schemeClr val="accent1"/>
          </a:solidFill>
          <a:ln w="19050">
            <a:solidFill>
              <a:srgbClr val="FFFFFF"/>
            </a:solidFill>
            <a:prstDash val="solid"/>
          </a:ln>
        </p:spPr>
      </p:sp>
      <p:sp>
        <p:nvSpPr>
          <p:cNvPr id="38" name="Text 32"/>
          <p:cNvSpPr txBox="1"/>
          <p:nvPr/>
        </p:nvSpPr>
        <p:spPr>
          <a:xfrm>
            <a:off x="3337560" y="4663440"/>
            <a:ext cx="2560320" cy="868680"/>
          </a:xfrm>
          <a:prstGeom prst="rect">
            <a:avLst/>
          </a:prstGeom>
          <a:noFill/>
          <a:ln/>
        </p:spPr>
        <p:txBody>
          <a:bodyPr wrap="square" lIns="0" tIns="0" rIns="0" bIns="0" rtlCol="0" anchor="ctr"/>
          <a:lstStyle/>
          <a:p>
            <a:pPr algn="ctr" indent="0" marL="0">
              <a:buNone/>
            </a:pPr>
            <a:r>
              <a:rPr lang="en-US" sz="1800" b="1" dirty="0">
                <a:solidFill>
                  <a:schemeClr val="bg1"/>
                </a:solidFill>
              </a:rPr>
              <a:t>40%</a:t>
            </a:r>
            <a:endParaRPr lang="en-US" sz="1400" dirty="0"/>
          </a:p>
          <a:p>
            <a:pPr algn="ctr" indent="0" marL="0">
              <a:buNone/>
            </a:pPr>
            <a:r>
              <a:rPr lang="en-US" sz="1200" dirty="0">
                <a:solidFill>
                  <a:schemeClr val="bg1"/>
                </a:solidFill>
              </a:rPr>
              <a:t>Placement risk</a:t>
            </a:r>
            <a:endParaRPr lang="en-US" sz="1400" dirty="0"/>
          </a:p>
        </p:txBody>
      </p:sp>
      <p:sp>
        <p:nvSpPr>
          <p:cNvPr id="39" name="Weight segment"/>
          <p:cNvSpPr/>
          <p:nvPr/>
        </p:nvSpPr>
        <p:spPr>
          <a:xfrm>
            <a:off x="5897880" y="4663440"/>
            <a:ext cx="1280160" cy="868680"/>
          </a:xfrm>
          <a:prstGeom prst="rect">
            <a:avLst/>
          </a:prstGeom>
          <a:solidFill>
            <a:schemeClr val="tx2"/>
          </a:solidFill>
          <a:ln w="19050">
            <a:solidFill>
              <a:srgbClr val="FFFFFF"/>
            </a:solidFill>
            <a:prstDash val="solid"/>
          </a:ln>
        </p:spPr>
      </p:sp>
      <p:sp>
        <p:nvSpPr>
          <p:cNvPr id="40" name="Text 34"/>
          <p:cNvSpPr txBox="1"/>
          <p:nvPr/>
        </p:nvSpPr>
        <p:spPr>
          <a:xfrm>
            <a:off x="5897880" y="4663440"/>
            <a:ext cx="1280160" cy="868680"/>
          </a:xfrm>
          <a:prstGeom prst="rect">
            <a:avLst/>
          </a:prstGeom>
          <a:noFill/>
          <a:ln/>
        </p:spPr>
        <p:txBody>
          <a:bodyPr wrap="square" lIns="0" tIns="0" rIns="0" bIns="0" rtlCol="0" anchor="ctr"/>
          <a:lstStyle/>
          <a:p>
            <a:pPr algn="ctr" indent="0" marL="0">
              <a:buNone/>
            </a:pPr>
            <a:r>
              <a:rPr lang="en-US" sz="1800" b="1" dirty="0">
                <a:solidFill>
                  <a:schemeClr val="bg1"/>
                </a:solidFill>
              </a:rPr>
              <a:t>20%</a:t>
            </a:r>
            <a:endParaRPr lang="en-US" sz="1400" dirty="0"/>
          </a:p>
          <a:p>
            <a:pPr algn="ctr" indent="0" marL="0">
              <a:buNone/>
            </a:pPr>
            <a:r>
              <a:rPr lang="en-US" sz="1200" dirty="0">
                <a:solidFill>
                  <a:schemeClr val="bg1"/>
                </a:solidFill>
              </a:rPr>
              <a:t>Engagement risk</a:t>
            </a:r>
            <a:endParaRPr lang="en-US" sz="1400" dirty="0"/>
          </a:p>
        </p:txBody>
      </p:sp>
      <p:sp>
        <p:nvSpPr>
          <p:cNvPr id="41" name="Card"/>
          <p:cNvSpPr/>
          <p:nvPr/>
        </p:nvSpPr>
        <p:spPr>
          <a:xfrm>
            <a:off x="7589520" y="3703320"/>
            <a:ext cx="4050792" cy="2103120"/>
          </a:xfrm>
          <a:prstGeom prst="roundRect">
            <a:avLst>
              <a:gd name="adj" fmla="val 3478"/>
            </a:avLst>
          </a:prstGeom>
          <a:solidFill>
            <a:schemeClr val="bg2"/>
          </a:solidFill>
          <a:ln/>
        </p:spPr>
      </p:sp>
      <p:sp>
        <p:nvSpPr>
          <p:cNvPr id="42" name="Text 36"/>
          <p:cNvSpPr txBox="1"/>
          <p:nvPr/>
        </p:nvSpPr>
        <p:spPr>
          <a:xfrm>
            <a:off x="7818120" y="3840480"/>
            <a:ext cx="3657600" cy="365760"/>
          </a:xfrm>
          <a:prstGeom prst="rect">
            <a:avLst/>
          </a:prstGeom>
          <a:noFill/>
          <a:ln/>
        </p:spPr>
        <p:txBody>
          <a:bodyPr wrap="square" lIns="0" tIns="0" rIns="0" bIns="0" rtlCol="0" anchor="t"/>
          <a:lstStyle/>
          <a:p>
            <a:pPr indent="0" marL="0">
              <a:buNone/>
            </a:pPr>
            <a:r>
              <a:rPr lang="en-US" sz="1700" b="1" dirty="0">
                <a:solidFill>
                  <a:schemeClr val="tx2"/>
                </a:solidFill>
              </a:rPr>
              <a:t>Risk thresholds</a:t>
            </a:r>
            <a:endParaRPr lang="en-US" sz="1700" dirty="0"/>
          </a:p>
        </p:txBody>
      </p:sp>
      <p:sp>
        <p:nvSpPr>
          <p:cNvPr id="43" name="Text 37"/>
          <p:cNvSpPr txBox="1"/>
          <p:nvPr/>
        </p:nvSpPr>
        <p:spPr>
          <a:xfrm>
            <a:off x="7818120" y="4343400"/>
            <a:ext cx="1554480" cy="384048"/>
          </a:xfrm>
          <a:prstGeom prst="roundRect">
            <a:avLst>
              <a:gd name="adj" fmla="val 19048"/>
            </a:avLst>
          </a:prstGeom>
          <a:solidFill>
            <a:schemeClr val="accent5"/>
          </a:solidFill>
          <a:ln/>
        </p:spPr>
        <p:txBody>
          <a:bodyPr wrap="square" lIns="508" tIns="508" rIns="508" bIns="508" rtlCol="0" anchor="ctr"/>
          <a:lstStyle/>
          <a:p>
            <a:pPr algn="ctr" indent="0" marL="0">
              <a:buNone/>
            </a:pPr>
            <a:r>
              <a:rPr lang="en-US" sz="1300" b="1" dirty="0">
                <a:solidFill>
                  <a:schemeClr val="bg1"/>
                </a:solidFill>
              </a:rPr>
              <a:t>Low Risk</a:t>
            </a:r>
            <a:endParaRPr lang="en-US" sz="1300" dirty="0"/>
          </a:p>
        </p:txBody>
      </p:sp>
      <p:sp>
        <p:nvSpPr>
          <p:cNvPr id="44" name="Text 38"/>
          <p:cNvSpPr txBox="1"/>
          <p:nvPr/>
        </p:nvSpPr>
        <p:spPr>
          <a:xfrm>
            <a:off x="9555480" y="4343400"/>
            <a:ext cx="1920240" cy="384048"/>
          </a:xfrm>
          <a:prstGeom prst="rect">
            <a:avLst/>
          </a:prstGeom>
          <a:noFill/>
          <a:ln/>
        </p:spPr>
        <p:txBody>
          <a:bodyPr wrap="square" lIns="0" tIns="0" rIns="0" bIns="0" rtlCol="0" anchor="ctr"/>
          <a:lstStyle/>
          <a:p>
            <a:pPr indent="0" marL="0">
              <a:buNone/>
            </a:pPr>
            <a:r>
              <a:rPr lang="en-US" sz="1400" dirty="0">
                <a:solidFill>
                  <a:schemeClr val="tx1"/>
                </a:solidFill>
              </a:rPr>
              <a:t>Below 40</a:t>
            </a:r>
            <a:endParaRPr lang="en-US" sz="1400" dirty="0"/>
          </a:p>
        </p:txBody>
      </p:sp>
      <p:sp>
        <p:nvSpPr>
          <p:cNvPr id="45" name="Text 39"/>
          <p:cNvSpPr txBox="1"/>
          <p:nvPr/>
        </p:nvSpPr>
        <p:spPr>
          <a:xfrm>
            <a:off x="7818120" y="4818888"/>
            <a:ext cx="1554480" cy="384048"/>
          </a:xfrm>
          <a:prstGeom prst="roundRect">
            <a:avLst>
              <a:gd name="adj" fmla="val 19048"/>
            </a:avLst>
          </a:prstGeom>
          <a:solidFill>
            <a:schemeClr val="accent3"/>
          </a:solidFill>
          <a:ln/>
        </p:spPr>
        <p:txBody>
          <a:bodyPr wrap="square" lIns="508" tIns="508" rIns="508" bIns="508" rtlCol="0" anchor="ctr"/>
          <a:lstStyle/>
          <a:p>
            <a:pPr algn="ctr" indent="0" marL="0">
              <a:buNone/>
            </a:pPr>
            <a:r>
              <a:rPr lang="en-US" sz="1300" b="1" dirty="0">
                <a:solidFill>
                  <a:schemeClr val="tx1"/>
                </a:solidFill>
              </a:rPr>
              <a:t>Medium Risk</a:t>
            </a:r>
            <a:endParaRPr lang="en-US" sz="1300" dirty="0"/>
          </a:p>
        </p:txBody>
      </p:sp>
      <p:sp>
        <p:nvSpPr>
          <p:cNvPr id="46" name="Text 40"/>
          <p:cNvSpPr txBox="1"/>
          <p:nvPr/>
        </p:nvSpPr>
        <p:spPr>
          <a:xfrm>
            <a:off x="9555480" y="4818888"/>
            <a:ext cx="1920240" cy="384048"/>
          </a:xfrm>
          <a:prstGeom prst="rect">
            <a:avLst/>
          </a:prstGeom>
          <a:noFill/>
          <a:ln/>
        </p:spPr>
        <p:txBody>
          <a:bodyPr wrap="square" lIns="0" tIns="0" rIns="0" bIns="0" rtlCol="0" anchor="ctr"/>
          <a:lstStyle/>
          <a:p>
            <a:pPr indent="0" marL="0">
              <a:buNone/>
            </a:pPr>
            <a:r>
              <a:rPr lang="en-US" sz="1400" dirty="0">
                <a:solidFill>
                  <a:schemeClr val="tx1"/>
                </a:solidFill>
              </a:rPr>
              <a:t>40 to below 70</a:t>
            </a:r>
            <a:endParaRPr lang="en-US" sz="1400" dirty="0"/>
          </a:p>
        </p:txBody>
      </p:sp>
      <p:sp>
        <p:nvSpPr>
          <p:cNvPr id="47" name="Text 41"/>
          <p:cNvSpPr txBox="1"/>
          <p:nvPr/>
        </p:nvSpPr>
        <p:spPr>
          <a:xfrm>
            <a:off x="7818120" y="5294376"/>
            <a:ext cx="1554480" cy="384048"/>
          </a:xfrm>
          <a:prstGeom prst="roundRect">
            <a:avLst>
              <a:gd name="adj" fmla="val 19048"/>
            </a:avLst>
          </a:prstGeom>
          <a:solidFill>
            <a:schemeClr val="accent4"/>
          </a:solidFill>
          <a:ln/>
        </p:spPr>
        <p:txBody>
          <a:bodyPr wrap="square" lIns="508" tIns="508" rIns="508" bIns="508" rtlCol="0" anchor="ctr"/>
          <a:lstStyle/>
          <a:p>
            <a:pPr algn="ctr" indent="0" marL="0">
              <a:buNone/>
            </a:pPr>
            <a:r>
              <a:rPr lang="en-US" sz="1300" b="1" dirty="0">
                <a:solidFill>
                  <a:schemeClr val="bg1"/>
                </a:solidFill>
              </a:rPr>
              <a:t>High Risk</a:t>
            </a:r>
            <a:endParaRPr lang="en-US" sz="1300" dirty="0"/>
          </a:p>
        </p:txBody>
      </p:sp>
      <p:sp>
        <p:nvSpPr>
          <p:cNvPr id="48" name="Text 42"/>
          <p:cNvSpPr txBox="1"/>
          <p:nvPr/>
        </p:nvSpPr>
        <p:spPr>
          <a:xfrm>
            <a:off x="9555480" y="5294376"/>
            <a:ext cx="1920240" cy="384048"/>
          </a:xfrm>
          <a:prstGeom prst="rect">
            <a:avLst/>
          </a:prstGeom>
          <a:noFill/>
          <a:ln/>
        </p:spPr>
        <p:txBody>
          <a:bodyPr wrap="square" lIns="0" tIns="0" rIns="0" bIns="0" rtlCol="0" anchor="ctr"/>
          <a:lstStyle/>
          <a:p>
            <a:pPr indent="0" marL="0">
              <a:buNone/>
            </a:pPr>
            <a:r>
              <a:rPr lang="en-US" sz="1400" dirty="0">
                <a:solidFill>
                  <a:schemeClr val="tx1"/>
                </a:solidFill>
              </a:rPr>
              <a:t>70 or above</a:t>
            </a:r>
            <a:endParaRPr lang="en-US" sz="1400" dirty="0"/>
          </a:p>
        </p:txBody>
      </p:sp>
      <p:sp>
        <p:nvSpPr>
          <p:cNvPr id="49" name="Text 43"/>
          <p:cNvSpPr txBox="1"/>
          <p:nvPr/>
        </p:nvSpPr>
        <p:spPr>
          <a:xfrm>
            <a:off x="548640" y="5943600"/>
            <a:ext cx="11091672" cy="274320"/>
          </a:xfrm>
          <a:prstGeom prst="rect">
            <a:avLst/>
          </a:prstGeom>
          <a:noFill/>
          <a:ln/>
        </p:spPr>
        <p:txBody>
          <a:bodyPr wrap="square" lIns="0" tIns="0" rIns="0" bIns="0" rtlCol="0" anchor="t"/>
          <a:lstStyle/>
          <a:p>
            <a:pPr indent="0" marL="0">
              <a:buNone/>
            </a:pPr>
            <a:r>
              <a:rPr lang="en-US" sz="1200" i="1" dirty="0">
                <a:solidFill>
                  <a:schemeClr val="accent6"/>
                </a:solidFill>
              </a:rPr>
              <a:t>Higher risk scores indicate stronger support signals, not a definitive prediction of a student's future.</a:t>
            </a:r>
            <a:endParaRPr lang="en-US" sz="12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EXPLAINABILITY</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Understanding why a student may need support</a:t>
            </a:r>
            <a:endParaRPr lang="en-US" sz="3000" dirty="0"/>
          </a:p>
        </p:txBody>
      </p:sp>
      <p:sp>
        <p:nvSpPr>
          <p:cNvPr id="5" name="Card"/>
          <p:cNvSpPr/>
          <p:nvPr/>
        </p:nvSpPr>
        <p:spPr>
          <a:xfrm>
            <a:off x="548640" y="1463040"/>
            <a:ext cx="6766560" cy="3749040"/>
          </a:xfrm>
          <a:prstGeom prst="roundRect">
            <a:avLst>
              <a:gd name="adj" fmla="val 1951"/>
            </a:avLst>
          </a:prstGeom>
          <a:solidFill>
            <a:schemeClr val="bg2"/>
          </a:solidFill>
          <a:ln/>
        </p:spPr>
      </p:sp>
      <p:sp>
        <p:nvSpPr>
          <p:cNvPr id="6" name="Text 3"/>
          <p:cNvSpPr txBox="1"/>
          <p:nvPr/>
        </p:nvSpPr>
        <p:spPr>
          <a:xfrm>
            <a:off x="822960" y="1627632"/>
            <a:ext cx="5486400" cy="365760"/>
          </a:xfrm>
          <a:prstGeom prst="rect">
            <a:avLst/>
          </a:prstGeom>
          <a:noFill/>
          <a:ln/>
        </p:spPr>
        <p:txBody>
          <a:bodyPr wrap="square" lIns="0" tIns="0" rIns="0" bIns="0" rtlCol="0" anchor="t"/>
          <a:lstStyle/>
          <a:p>
            <a:pPr indent="0" marL="0">
              <a:buNone/>
            </a:pPr>
            <a:r>
              <a:rPr lang="en-US" sz="1700" b="1" dirty="0">
                <a:solidFill>
                  <a:schemeClr val="tx2"/>
                </a:solidFill>
              </a:rPr>
              <a:t>Example risk drivers</a:t>
            </a:r>
            <a:endParaRPr lang="en-US" sz="1700" dirty="0"/>
          </a:p>
        </p:txBody>
      </p:sp>
      <p:sp>
        <p:nvSpPr>
          <p:cNvPr id="7" name="Text 4"/>
          <p:cNvSpPr txBox="1"/>
          <p:nvPr/>
        </p:nvSpPr>
        <p:spPr>
          <a:xfrm>
            <a:off x="822960" y="1993392"/>
            <a:ext cx="5943600" cy="274320"/>
          </a:xfrm>
          <a:prstGeom prst="rect">
            <a:avLst/>
          </a:prstGeom>
          <a:noFill/>
          <a:ln/>
        </p:spPr>
        <p:txBody>
          <a:bodyPr wrap="square" lIns="0" tIns="0" rIns="0" bIns="0" rtlCol="0" anchor="t"/>
          <a:lstStyle/>
          <a:p>
            <a:pPr indent="0" marL="0">
              <a:buNone/>
            </a:pPr>
            <a:r>
              <a:rPr lang="en-US" sz="1200" dirty="0">
                <a:solidFill>
                  <a:schemeClr val="accent6"/>
                </a:solidFill>
              </a:rPr>
              <a:t>Generated from student indicators using predefined rules</a:t>
            </a:r>
            <a:endParaRPr lang="en-US" sz="1200" dirty="0"/>
          </a:p>
        </p:txBody>
      </p:sp>
      <p:sp>
        <p:nvSpPr>
          <p:cNvPr id="8" name="Text 5"/>
          <p:cNvSpPr txBox="1"/>
          <p:nvPr/>
        </p:nvSpPr>
        <p:spPr>
          <a:xfrm>
            <a:off x="822960" y="246888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CGPA</a:t>
            </a:r>
            <a:endParaRPr lang="en-US" sz="1400" dirty="0"/>
          </a:p>
        </p:txBody>
      </p:sp>
      <p:sp>
        <p:nvSpPr>
          <p:cNvPr id="9" name="Text 6"/>
          <p:cNvSpPr txBox="1"/>
          <p:nvPr/>
        </p:nvSpPr>
        <p:spPr>
          <a:xfrm>
            <a:off x="4023360" y="246888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Active backlogs</a:t>
            </a:r>
            <a:endParaRPr lang="en-US" sz="1400" dirty="0"/>
          </a:p>
        </p:txBody>
      </p:sp>
      <p:sp>
        <p:nvSpPr>
          <p:cNvPr id="10" name="Text 7"/>
          <p:cNvSpPr txBox="1"/>
          <p:nvPr/>
        </p:nvSpPr>
        <p:spPr>
          <a:xfrm>
            <a:off x="822960" y="310896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attendance</a:t>
            </a:r>
            <a:endParaRPr lang="en-US" sz="1400" dirty="0"/>
          </a:p>
        </p:txBody>
      </p:sp>
      <p:sp>
        <p:nvSpPr>
          <p:cNvPr id="11" name="Text 8"/>
          <p:cNvSpPr txBox="1"/>
          <p:nvPr/>
        </p:nvSpPr>
        <p:spPr>
          <a:xfrm>
            <a:off x="4023360" y="310896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aptitude score</a:t>
            </a:r>
            <a:endParaRPr lang="en-US" sz="1400" dirty="0"/>
          </a:p>
        </p:txBody>
      </p:sp>
      <p:sp>
        <p:nvSpPr>
          <p:cNvPr id="12" name="Text 9"/>
          <p:cNvSpPr txBox="1"/>
          <p:nvPr/>
        </p:nvSpPr>
        <p:spPr>
          <a:xfrm>
            <a:off x="822960" y="374904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coding score</a:t>
            </a:r>
            <a:endParaRPr lang="en-US" sz="1400" dirty="0"/>
          </a:p>
        </p:txBody>
      </p:sp>
      <p:sp>
        <p:nvSpPr>
          <p:cNvPr id="13" name="Text 10"/>
          <p:cNvSpPr txBox="1"/>
          <p:nvPr/>
        </p:nvSpPr>
        <p:spPr>
          <a:xfrm>
            <a:off x="4023360" y="374904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mock interview score</a:t>
            </a:r>
            <a:endParaRPr lang="en-US" sz="1400" dirty="0"/>
          </a:p>
        </p:txBody>
      </p:sp>
      <p:sp>
        <p:nvSpPr>
          <p:cNvPr id="14" name="Text 11"/>
          <p:cNvSpPr txBox="1"/>
          <p:nvPr/>
        </p:nvSpPr>
        <p:spPr>
          <a:xfrm>
            <a:off x="822960" y="438912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assignment completion</a:t>
            </a:r>
            <a:endParaRPr lang="en-US" sz="1400" dirty="0"/>
          </a:p>
        </p:txBody>
      </p:sp>
      <p:sp>
        <p:nvSpPr>
          <p:cNvPr id="15" name="Text 12"/>
          <p:cNvSpPr txBox="1"/>
          <p:nvPr/>
        </p:nvSpPr>
        <p:spPr>
          <a:xfrm>
            <a:off x="4023360" y="4389120"/>
            <a:ext cx="3017520" cy="502920"/>
          </a:xfrm>
          <a:prstGeom prst="roundRect">
            <a:avLst>
              <a:gd name="adj" fmla="val 21818"/>
            </a:avLst>
          </a:prstGeom>
          <a:solidFill>
            <a:schemeClr val="accent3">
              <a:alpha val="28000"/>
            </a:schemeClr>
          </a:solidFill>
          <a:ln/>
        </p:spPr>
        <p:txBody>
          <a:bodyPr wrap="square" lIns="508" tIns="508" rIns="508" bIns="508" rtlCol="0" anchor="ctr"/>
          <a:lstStyle/>
          <a:p>
            <a:pPr algn="ctr" indent="0" marL="0">
              <a:buNone/>
            </a:pPr>
            <a:r>
              <a:rPr lang="en-US" sz="1400" dirty="0">
                <a:solidFill>
                  <a:schemeClr val="tx2"/>
                </a:solidFill>
              </a:rPr>
              <a:t>Low technical or soft-skill score</a:t>
            </a:r>
            <a:endParaRPr lang="en-US" sz="1400" dirty="0"/>
          </a:p>
        </p:txBody>
      </p:sp>
      <p:sp>
        <p:nvSpPr>
          <p:cNvPr id="16" name="Card"/>
          <p:cNvSpPr/>
          <p:nvPr/>
        </p:nvSpPr>
        <p:spPr>
          <a:xfrm>
            <a:off x="7589520" y="1463040"/>
            <a:ext cx="4050792" cy="1600200"/>
          </a:xfrm>
          <a:prstGeom prst="roundRect">
            <a:avLst>
              <a:gd name="adj" fmla="val 4571"/>
            </a:avLst>
          </a:prstGeom>
          <a:solidFill>
            <a:schemeClr val="bg2"/>
          </a:solidFill>
          <a:ln/>
        </p:spPr>
      </p:sp>
      <p:sp>
        <p:nvSpPr>
          <p:cNvPr id="17" name="Text 14"/>
          <p:cNvSpPr txBox="1"/>
          <p:nvPr/>
        </p:nvSpPr>
        <p:spPr>
          <a:xfrm>
            <a:off x="7818120" y="1600200"/>
            <a:ext cx="3657600" cy="365760"/>
          </a:xfrm>
          <a:prstGeom prst="rect">
            <a:avLst/>
          </a:prstGeom>
          <a:noFill/>
          <a:ln/>
        </p:spPr>
        <p:txBody>
          <a:bodyPr wrap="square" lIns="0" tIns="0" rIns="0" bIns="0" rtlCol="0" anchor="t"/>
          <a:lstStyle/>
          <a:p>
            <a:pPr indent="0" marL="0">
              <a:buNone/>
            </a:pPr>
            <a:r>
              <a:rPr lang="en-US" sz="1600" b="1" dirty="0">
                <a:solidFill>
                  <a:schemeClr val="tx2"/>
                </a:solidFill>
              </a:rPr>
              <a:t>Strengths are identified too</a:t>
            </a:r>
            <a:endParaRPr lang="en-US" sz="1600" dirty="0"/>
          </a:p>
        </p:txBody>
      </p:sp>
      <p:sp>
        <p:nvSpPr>
          <p:cNvPr id="18" name="Text 15"/>
          <p:cNvSpPr txBox="1"/>
          <p:nvPr/>
        </p:nvSpPr>
        <p:spPr>
          <a:xfrm>
            <a:off x="7818120" y="2194560"/>
            <a:ext cx="1691640" cy="502920"/>
          </a:xfrm>
          <a:prstGeom prst="roundRect">
            <a:avLst>
              <a:gd name="adj" fmla="val 21818"/>
            </a:avLst>
          </a:prstGeom>
          <a:solidFill>
            <a:schemeClr val="accent5">
              <a:alpha val="25000"/>
            </a:schemeClr>
          </a:solidFill>
          <a:ln/>
        </p:spPr>
        <p:txBody>
          <a:bodyPr wrap="square" lIns="508" tIns="508" rIns="508" bIns="508" rtlCol="0" anchor="ctr"/>
          <a:lstStyle/>
          <a:p>
            <a:pPr algn="ctr" indent="0" marL="0">
              <a:buNone/>
            </a:pPr>
            <a:r>
              <a:rPr lang="en-US" sz="1400" dirty="0">
                <a:solidFill>
                  <a:schemeClr val="tx2"/>
                </a:solidFill>
              </a:rPr>
              <a:t>Strong CGPA</a:t>
            </a:r>
            <a:endParaRPr lang="en-US" sz="1400" dirty="0"/>
          </a:p>
        </p:txBody>
      </p:sp>
      <p:sp>
        <p:nvSpPr>
          <p:cNvPr id="19" name="Text 16"/>
          <p:cNvSpPr txBox="1"/>
          <p:nvPr/>
        </p:nvSpPr>
        <p:spPr>
          <a:xfrm>
            <a:off x="9646920" y="2194560"/>
            <a:ext cx="1691640" cy="502920"/>
          </a:xfrm>
          <a:prstGeom prst="roundRect">
            <a:avLst>
              <a:gd name="adj" fmla="val 21818"/>
            </a:avLst>
          </a:prstGeom>
          <a:solidFill>
            <a:schemeClr val="accent5">
              <a:alpha val="25000"/>
            </a:schemeClr>
          </a:solidFill>
          <a:ln/>
        </p:spPr>
        <p:txBody>
          <a:bodyPr wrap="square" lIns="508" tIns="508" rIns="508" bIns="508" rtlCol="0" anchor="ctr"/>
          <a:lstStyle/>
          <a:p>
            <a:pPr algn="ctr" indent="0" marL="0">
              <a:buNone/>
            </a:pPr>
            <a:r>
              <a:rPr lang="en-US" sz="1400" dirty="0">
                <a:solidFill>
                  <a:schemeClr val="tx2"/>
                </a:solidFill>
              </a:rPr>
              <a:t>Good internal marks</a:t>
            </a:r>
            <a:endParaRPr lang="en-US" sz="1400" dirty="0"/>
          </a:p>
        </p:txBody>
      </p:sp>
      <p:sp>
        <p:nvSpPr>
          <p:cNvPr id="20" name="Card"/>
          <p:cNvSpPr/>
          <p:nvPr/>
        </p:nvSpPr>
        <p:spPr>
          <a:xfrm>
            <a:off x="7589520" y="3246120"/>
            <a:ext cx="4050792" cy="1965960"/>
          </a:xfrm>
          <a:prstGeom prst="roundRect">
            <a:avLst>
              <a:gd name="adj" fmla="val 3721"/>
            </a:avLst>
          </a:prstGeom>
          <a:solidFill>
            <a:schemeClr val="tx2"/>
          </a:solidFill>
          <a:ln/>
        </p:spPr>
      </p:sp>
      <p:sp>
        <p:nvSpPr>
          <p:cNvPr id="21" name="Text 18"/>
          <p:cNvSpPr txBox="1"/>
          <p:nvPr/>
        </p:nvSpPr>
        <p:spPr>
          <a:xfrm>
            <a:off x="7818120" y="3401568"/>
            <a:ext cx="3657600" cy="274320"/>
          </a:xfrm>
          <a:prstGeom prst="rect">
            <a:avLst/>
          </a:prstGeom>
          <a:noFill/>
          <a:ln/>
        </p:spPr>
        <p:txBody>
          <a:bodyPr wrap="square" lIns="0" tIns="0" rIns="0" bIns="0" rtlCol="0" anchor="t"/>
          <a:lstStyle/>
          <a:p>
            <a:pPr indent="0" marL="0">
              <a:buNone/>
            </a:pPr>
            <a:r>
              <a:rPr lang="en-US" sz="1200" b="1" spc="200" kern="0" dirty="0">
                <a:solidFill>
                  <a:srgbClr val="3FD0C9"/>
                </a:solidFill>
              </a:rPr>
              <a:t>DECISION BENEFIT</a:t>
            </a:r>
            <a:endParaRPr lang="en-US" sz="1200" dirty="0"/>
          </a:p>
        </p:txBody>
      </p:sp>
      <p:sp>
        <p:nvSpPr>
          <p:cNvPr id="22" name="Text 19"/>
          <p:cNvSpPr txBox="1"/>
          <p:nvPr/>
        </p:nvSpPr>
        <p:spPr>
          <a:xfrm>
            <a:off x="7818120" y="3749040"/>
            <a:ext cx="3611880" cy="1371600"/>
          </a:xfrm>
          <a:prstGeom prst="rect">
            <a:avLst/>
          </a:prstGeom>
          <a:noFill/>
          <a:ln/>
        </p:spPr>
        <p:txBody>
          <a:bodyPr wrap="square" lIns="0" tIns="0" rIns="0" bIns="0" rtlCol="0" anchor="t"/>
          <a:lstStyle/>
          <a:p>
            <a:pPr indent="0" marL="0">
              <a:buNone/>
            </a:pPr>
            <a:r>
              <a:rPr lang="en-US" sz="1700" dirty="0">
                <a:solidFill>
                  <a:schemeClr val="bg1"/>
                </a:solidFill>
              </a:rPr>
              <a:t>Faculty can see the issues behind a risk flag and choose more relevant interventions.</a:t>
            </a:r>
            <a:endParaRPr lang="en-US" sz="1700" dirty="0"/>
          </a:p>
        </p:txBody>
      </p:sp>
      <p:sp>
        <p:nvSpPr>
          <p:cNvPr id="23" name="Card"/>
          <p:cNvSpPr/>
          <p:nvPr/>
        </p:nvSpPr>
        <p:spPr>
          <a:xfrm>
            <a:off x="548640" y="5440680"/>
            <a:ext cx="11091672" cy="640080"/>
          </a:xfrm>
          <a:prstGeom prst="roundRect">
            <a:avLst>
              <a:gd name="adj" fmla="val 11429"/>
            </a:avLst>
          </a:prstGeom>
          <a:solidFill>
            <a:schemeClr val="accent2">
              <a:alpha val="12000"/>
            </a:schemeClr>
          </a:solidFill>
          <a:ln/>
        </p:spPr>
      </p:sp>
      <p:sp>
        <p:nvSpPr>
          <p:cNvPr id="24" name="Text 21"/>
          <p:cNvSpPr txBox="1"/>
          <p:nvPr/>
        </p:nvSpPr>
        <p:spPr>
          <a:xfrm>
            <a:off x="777240" y="5440680"/>
            <a:ext cx="10698480" cy="640080"/>
          </a:xfrm>
          <a:prstGeom prst="rect">
            <a:avLst/>
          </a:prstGeom>
          <a:noFill/>
          <a:ln/>
        </p:spPr>
        <p:txBody>
          <a:bodyPr wrap="square" lIns="0" tIns="0" rIns="0" bIns="0" rtlCol="0" anchor="ctr"/>
          <a:lstStyle/>
          <a:p>
            <a:pPr indent="0" marL="0">
              <a:buNone/>
            </a:pPr>
            <a:r>
              <a:rPr lang="en-US" sz="1400" b="1" dirty="0">
                <a:solidFill>
                  <a:schemeClr val="tx2"/>
                </a:solidFill>
              </a:rPr>
              <a:t>Current implementation: </a:t>
            </a:r>
            <a:pPr indent="0" marL="0">
              <a:buNone/>
            </a:pPr>
            <a:r>
              <a:rPr lang="en-US" sz="1400" dirty="0">
                <a:solidFill>
                  <a:schemeClr val="tx1"/>
                </a:solidFill>
              </a:rPr>
              <a:t>indicator-based, rule-generated explanations. A numerical contribution breakdown per indicator is a potential enhancement.</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SEGMENTATION</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One student population, different support needs</a:t>
            </a:r>
            <a:endParaRPr lang="en-US" sz="3000" dirty="0"/>
          </a:p>
        </p:txBody>
      </p:sp>
      <p:sp>
        <p:nvSpPr>
          <p:cNvPr id="5" name="Card"/>
          <p:cNvSpPr/>
          <p:nvPr/>
        </p:nvSpPr>
        <p:spPr>
          <a:xfrm>
            <a:off x="4270248" y="1463040"/>
            <a:ext cx="3657600" cy="548640"/>
          </a:xfrm>
          <a:prstGeom prst="roundRect">
            <a:avLst>
              <a:gd name="adj" fmla="val 13333"/>
            </a:avLst>
          </a:prstGeom>
          <a:solidFill>
            <a:schemeClr val="tx2"/>
          </a:solidFill>
          <a:ln/>
        </p:spPr>
      </p:sp>
      <p:sp>
        <p:nvSpPr>
          <p:cNvPr id="6" name="Text 3"/>
          <p:cNvSpPr txBox="1"/>
          <p:nvPr/>
        </p:nvSpPr>
        <p:spPr>
          <a:xfrm>
            <a:off x="4270248" y="1463040"/>
            <a:ext cx="3657600" cy="548640"/>
          </a:xfrm>
          <a:prstGeom prst="rect">
            <a:avLst/>
          </a:prstGeom>
          <a:noFill/>
          <a:ln/>
        </p:spPr>
        <p:txBody>
          <a:bodyPr wrap="square" lIns="0" tIns="0" rIns="0" bIns="0" rtlCol="0" anchor="ctr"/>
          <a:lstStyle/>
          <a:p>
            <a:pPr algn="ctr" indent="0" marL="0">
              <a:buNone/>
            </a:pPr>
            <a:r>
              <a:rPr lang="en-US" sz="1400" b="1" dirty="0">
                <a:solidFill>
                  <a:schemeClr val="bg1"/>
                </a:solidFill>
              </a:rPr>
              <a:t>Student population  |  500 synthetic profiles</a:t>
            </a:r>
            <a:endParaRPr lang="en-US" sz="1400" dirty="0"/>
          </a:p>
        </p:txBody>
      </p:sp>
      <p:sp>
        <p:nvSpPr>
          <p:cNvPr id="7" name="Connector"/>
          <p:cNvSpPr/>
          <p:nvPr/>
        </p:nvSpPr>
        <p:spPr>
          <a:xfrm>
            <a:off x="6096305" y="2011680"/>
            <a:ext cx="0" cy="274320"/>
          </a:xfrm>
          <a:prstGeom prst="line">
            <a:avLst/>
          </a:prstGeom>
          <a:noFill/>
          <a:ln w="19050">
            <a:solidFill>
              <a:schemeClr val="accent6"/>
            </a:solidFill>
            <a:prstDash val="solid"/>
          </a:ln>
        </p:spPr>
      </p:sp>
      <p:sp>
        <p:nvSpPr>
          <p:cNvPr id="8" name="Card"/>
          <p:cNvSpPr/>
          <p:nvPr/>
        </p:nvSpPr>
        <p:spPr>
          <a:xfrm>
            <a:off x="2898648" y="2286000"/>
            <a:ext cx="6400800" cy="566928"/>
          </a:xfrm>
          <a:prstGeom prst="roundRect">
            <a:avLst>
              <a:gd name="adj" fmla="val 12903"/>
            </a:avLst>
          </a:prstGeom>
          <a:solidFill>
            <a:schemeClr val="accent2">
              <a:alpha val="15000"/>
            </a:schemeClr>
          </a:solidFill>
          <a:ln/>
        </p:spPr>
      </p:sp>
      <p:sp>
        <p:nvSpPr>
          <p:cNvPr id="9" name="Text 6"/>
          <p:cNvSpPr txBox="1"/>
          <p:nvPr/>
        </p:nvSpPr>
        <p:spPr>
          <a:xfrm>
            <a:off x="2898648" y="2286000"/>
            <a:ext cx="6400800" cy="566928"/>
          </a:xfrm>
          <a:prstGeom prst="rect">
            <a:avLst/>
          </a:prstGeom>
          <a:noFill/>
          <a:ln/>
        </p:spPr>
        <p:txBody>
          <a:bodyPr wrap="square" lIns="0" tIns="0" rIns="0" bIns="0" rtlCol="0" anchor="ctr"/>
          <a:lstStyle/>
          <a:p>
            <a:pPr algn="ctr" indent="0" marL="0">
              <a:buNone/>
            </a:pPr>
            <a:r>
              <a:rPr lang="en-US" sz="1400" b="1" dirty="0">
                <a:solidFill>
                  <a:schemeClr val="tx2"/>
                </a:solidFill>
              </a:rPr>
              <a:t>Segment assignment: K-Means module + explicit scoring rules</a:t>
            </a:r>
            <a:endParaRPr lang="en-US" sz="1400" dirty="0"/>
          </a:p>
        </p:txBody>
      </p:sp>
      <p:sp>
        <p:nvSpPr>
          <p:cNvPr id="10" name="Connector"/>
          <p:cNvSpPr/>
          <p:nvPr/>
        </p:nvSpPr>
        <p:spPr>
          <a:xfrm>
            <a:off x="6096305" y="2852928"/>
            <a:ext cx="0" cy="192024"/>
          </a:xfrm>
          <a:prstGeom prst="line">
            <a:avLst/>
          </a:prstGeom>
          <a:noFill/>
          <a:ln w="19050">
            <a:solidFill>
              <a:schemeClr val="accent6"/>
            </a:solidFill>
            <a:prstDash val="solid"/>
          </a:ln>
        </p:spPr>
      </p:sp>
      <p:sp>
        <p:nvSpPr>
          <p:cNvPr id="11" name="Connector"/>
          <p:cNvSpPr/>
          <p:nvPr/>
        </p:nvSpPr>
        <p:spPr>
          <a:xfrm>
            <a:off x="1417320" y="3044952"/>
            <a:ext cx="9354312" cy="0"/>
          </a:xfrm>
          <a:prstGeom prst="line">
            <a:avLst/>
          </a:prstGeom>
          <a:noFill/>
          <a:ln w="19050">
            <a:solidFill>
              <a:schemeClr val="accent6"/>
            </a:solidFill>
            <a:prstDash val="solid"/>
          </a:ln>
        </p:spPr>
      </p:sp>
      <p:sp>
        <p:nvSpPr>
          <p:cNvPr id="12" name="Connector"/>
          <p:cNvSpPr/>
          <p:nvPr/>
        </p:nvSpPr>
        <p:spPr>
          <a:xfrm>
            <a:off x="1417320" y="3044952"/>
            <a:ext cx="0" cy="228600"/>
          </a:xfrm>
          <a:prstGeom prst="line">
            <a:avLst/>
          </a:prstGeom>
          <a:noFill/>
          <a:ln w="19050">
            <a:solidFill>
              <a:schemeClr val="accent6"/>
            </a:solidFill>
            <a:prstDash val="solid"/>
          </a:ln>
        </p:spPr>
      </p:sp>
      <p:sp>
        <p:nvSpPr>
          <p:cNvPr id="13" name="Card"/>
          <p:cNvSpPr/>
          <p:nvPr/>
        </p:nvSpPr>
        <p:spPr>
          <a:xfrm>
            <a:off x="548640" y="3273552"/>
            <a:ext cx="1737360" cy="2240280"/>
          </a:xfrm>
          <a:prstGeom prst="roundRect">
            <a:avLst>
              <a:gd name="adj" fmla="val 4211"/>
            </a:avLst>
          </a:prstGeom>
          <a:solidFill>
            <a:schemeClr val="bg2"/>
          </a:solidFill>
          <a:ln/>
        </p:spPr>
      </p:sp>
      <p:sp>
        <p:nvSpPr>
          <p:cNvPr id="14" name="Text 11"/>
          <p:cNvSpPr txBox="1"/>
          <p:nvPr/>
        </p:nvSpPr>
        <p:spPr>
          <a:xfrm>
            <a:off x="640080" y="3383280"/>
            <a:ext cx="1554480" cy="914400"/>
          </a:xfrm>
          <a:prstGeom prst="roundRect">
            <a:avLst>
              <a:gd name="adj" fmla="val 8000"/>
            </a:avLst>
          </a:prstGeom>
          <a:solidFill>
            <a:schemeClr val="accent5"/>
          </a:solidFill>
          <a:ln/>
        </p:spPr>
        <p:txBody>
          <a:bodyPr wrap="square" lIns="508" tIns="508" rIns="508" bIns="508" rtlCol="0" anchor="ctr"/>
          <a:lstStyle/>
          <a:p>
            <a:pPr algn="ctr" indent="0" marL="0">
              <a:buNone/>
            </a:pPr>
            <a:r>
              <a:rPr lang="en-US" sz="1400" b="1" dirty="0">
                <a:solidFill>
                  <a:schemeClr val="bg1"/>
                </a:solidFill>
              </a:rPr>
              <a:t>High Performer</a:t>
            </a:r>
            <a:endParaRPr lang="en-US" sz="1400" dirty="0"/>
          </a:p>
        </p:txBody>
      </p:sp>
      <p:sp>
        <p:nvSpPr>
          <p:cNvPr id="15" name="Text 12"/>
          <p:cNvSpPr txBox="1"/>
          <p:nvPr/>
        </p:nvSpPr>
        <p:spPr>
          <a:xfrm>
            <a:off x="658368" y="4434840"/>
            <a:ext cx="1517904" cy="1005840"/>
          </a:xfrm>
          <a:prstGeom prst="rect">
            <a:avLst/>
          </a:prstGeom>
          <a:noFill/>
          <a:ln/>
        </p:spPr>
        <p:txBody>
          <a:bodyPr wrap="square" lIns="0" tIns="0" rIns="0" bIns="0" rtlCol="0" anchor="t"/>
          <a:lstStyle/>
          <a:p>
            <a:pPr indent="0" marL="0">
              <a:buNone/>
            </a:pPr>
            <a:r>
              <a:rPr lang="en-US" sz="1300" dirty="0">
                <a:solidFill>
                  <a:schemeClr val="tx1"/>
                </a:solidFill>
              </a:rPr>
              <a:t>Strong academic and placement scores.</a:t>
            </a:r>
            <a:endParaRPr lang="en-US" sz="1300" dirty="0"/>
          </a:p>
        </p:txBody>
      </p:sp>
      <p:sp>
        <p:nvSpPr>
          <p:cNvPr id="16" name="Connector"/>
          <p:cNvSpPr/>
          <p:nvPr/>
        </p:nvSpPr>
        <p:spPr>
          <a:xfrm>
            <a:off x="3288182" y="3044952"/>
            <a:ext cx="0" cy="228600"/>
          </a:xfrm>
          <a:prstGeom prst="line">
            <a:avLst/>
          </a:prstGeom>
          <a:noFill/>
          <a:ln w="19050">
            <a:solidFill>
              <a:schemeClr val="accent6"/>
            </a:solidFill>
            <a:prstDash val="solid"/>
          </a:ln>
        </p:spPr>
      </p:sp>
      <p:sp>
        <p:nvSpPr>
          <p:cNvPr id="17" name="Card"/>
          <p:cNvSpPr/>
          <p:nvPr/>
        </p:nvSpPr>
        <p:spPr>
          <a:xfrm>
            <a:off x="2419502" y="3273552"/>
            <a:ext cx="1737360" cy="2240280"/>
          </a:xfrm>
          <a:prstGeom prst="roundRect">
            <a:avLst>
              <a:gd name="adj" fmla="val 4211"/>
            </a:avLst>
          </a:prstGeom>
          <a:solidFill>
            <a:schemeClr val="bg2"/>
          </a:solidFill>
          <a:ln/>
        </p:spPr>
      </p:sp>
      <p:sp>
        <p:nvSpPr>
          <p:cNvPr id="18" name="Text 15"/>
          <p:cNvSpPr txBox="1"/>
          <p:nvPr/>
        </p:nvSpPr>
        <p:spPr>
          <a:xfrm>
            <a:off x="2510942" y="3383280"/>
            <a:ext cx="1554480" cy="914400"/>
          </a:xfrm>
          <a:prstGeom prst="roundRect">
            <a:avLst>
              <a:gd name="adj" fmla="val 8000"/>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Academic Strong / Placement Unprepared</a:t>
            </a:r>
            <a:endParaRPr lang="en-US" sz="1400" dirty="0"/>
          </a:p>
        </p:txBody>
      </p:sp>
      <p:sp>
        <p:nvSpPr>
          <p:cNvPr id="19" name="Text 16"/>
          <p:cNvSpPr txBox="1"/>
          <p:nvPr/>
        </p:nvSpPr>
        <p:spPr>
          <a:xfrm>
            <a:off x="2529230" y="4434840"/>
            <a:ext cx="1517904" cy="1005840"/>
          </a:xfrm>
          <a:prstGeom prst="rect">
            <a:avLst/>
          </a:prstGeom>
          <a:noFill/>
          <a:ln/>
        </p:spPr>
        <p:txBody>
          <a:bodyPr wrap="square" lIns="0" tIns="0" rIns="0" bIns="0" rtlCol="0" anchor="t"/>
          <a:lstStyle/>
          <a:p>
            <a:pPr indent="0" marL="0">
              <a:buNone/>
            </a:pPr>
            <a:r>
              <a:rPr lang="en-US" sz="1300" dirty="0">
                <a:solidFill>
                  <a:schemeClr val="tx1"/>
                </a:solidFill>
              </a:rPr>
              <a:t>Strong academic indicators, weaker placement readiness.</a:t>
            </a:r>
            <a:endParaRPr lang="en-US" sz="1300" dirty="0"/>
          </a:p>
        </p:txBody>
      </p:sp>
      <p:sp>
        <p:nvSpPr>
          <p:cNvPr id="20" name="Connector"/>
          <p:cNvSpPr/>
          <p:nvPr/>
        </p:nvSpPr>
        <p:spPr>
          <a:xfrm>
            <a:off x="5159045" y="3044952"/>
            <a:ext cx="0" cy="228600"/>
          </a:xfrm>
          <a:prstGeom prst="line">
            <a:avLst/>
          </a:prstGeom>
          <a:noFill/>
          <a:ln w="19050">
            <a:solidFill>
              <a:schemeClr val="accent6"/>
            </a:solidFill>
            <a:prstDash val="solid"/>
          </a:ln>
        </p:spPr>
      </p:sp>
      <p:sp>
        <p:nvSpPr>
          <p:cNvPr id="21" name="Card"/>
          <p:cNvSpPr/>
          <p:nvPr/>
        </p:nvSpPr>
        <p:spPr>
          <a:xfrm>
            <a:off x="4290365" y="3273552"/>
            <a:ext cx="1737360" cy="2240280"/>
          </a:xfrm>
          <a:prstGeom prst="roundRect">
            <a:avLst>
              <a:gd name="adj" fmla="val 4211"/>
            </a:avLst>
          </a:prstGeom>
          <a:solidFill>
            <a:schemeClr val="bg2"/>
          </a:solidFill>
          <a:ln/>
        </p:spPr>
      </p:sp>
      <p:sp>
        <p:nvSpPr>
          <p:cNvPr id="22" name="Text 19"/>
          <p:cNvSpPr txBox="1"/>
          <p:nvPr/>
        </p:nvSpPr>
        <p:spPr>
          <a:xfrm>
            <a:off x="4381805" y="3383280"/>
            <a:ext cx="1554480" cy="914400"/>
          </a:xfrm>
          <a:prstGeom prst="roundRect">
            <a:avLst>
              <a:gd name="adj" fmla="val 8000"/>
            </a:avLst>
          </a:prstGeom>
          <a:solidFill>
            <a:schemeClr val="accent1"/>
          </a:solidFill>
          <a:ln/>
        </p:spPr>
        <p:txBody>
          <a:bodyPr wrap="square" lIns="508" tIns="508" rIns="508" bIns="508" rtlCol="0" anchor="ctr"/>
          <a:lstStyle/>
          <a:p>
            <a:pPr algn="ctr" indent="0" marL="0">
              <a:buNone/>
            </a:pPr>
            <a:r>
              <a:rPr lang="en-US" sz="1400" b="1" dirty="0">
                <a:solidFill>
                  <a:schemeClr val="bg1"/>
                </a:solidFill>
              </a:rPr>
              <a:t>Academic Support Needed</a:t>
            </a:r>
            <a:endParaRPr lang="en-US" sz="1400" dirty="0"/>
          </a:p>
        </p:txBody>
      </p:sp>
      <p:sp>
        <p:nvSpPr>
          <p:cNvPr id="23" name="Text 20"/>
          <p:cNvSpPr txBox="1"/>
          <p:nvPr/>
        </p:nvSpPr>
        <p:spPr>
          <a:xfrm>
            <a:off x="4400093" y="4434840"/>
            <a:ext cx="1517904" cy="1005840"/>
          </a:xfrm>
          <a:prstGeom prst="rect">
            <a:avLst/>
          </a:prstGeom>
          <a:noFill/>
          <a:ln/>
        </p:spPr>
        <p:txBody>
          <a:bodyPr wrap="square" lIns="0" tIns="0" rIns="0" bIns="0" rtlCol="0" anchor="t"/>
          <a:lstStyle/>
          <a:p>
            <a:pPr indent="0" marL="0">
              <a:buNone/>
            </a:pPr>
            <a:r>
              <a:rPr lang="en-US" sz="1300" dirty="0">
                <a:solidFill>
                  <a:schemeClr val="tx1"/>
                </a:solidFill>
              </a:rPr>
              <a:t>Academic indicators suggest a need for additional support.</a:t>
            </a:r>
            <a:endParaRPr lang="en-US" sz="1300" dirty="0"/>
          </a:p>
        </p:txBody>
      </p:sp>
      <p:sp>
        <p:nvSpPr>
          <p:cNvPr id="24" name="Connector"/>
          <p:cNvSpPr/>
          <p:nvPr/>
        </p:nvSpPr>
        <p:spPr>
          <a:xfrm>
            <a:off x="7029907" y="3044952"/>
            <a:ext cx="0" cy="228600"/>
          </a:xfrm>
          <a:prstGeom prst="line">
            <a:avLst/>
          </a:prstGeom>
          <a:noFill/>
          <a:ln w="19050">
            <a:solidFill>
              <a:schemeClr val="accent6"/>
            </a:solidFill>
            <a:prstDash val="solid"/>
          </a:ln>
        </p:spPr>
      </p:sp>
      <p:sp>
        <p:nvSpPr>
          <p:cNvPr id="25" name="Card"/>
          <p:cNvSpPr/>
          <p:nvPr/>
        </p:nvSpPr>
        <p:spPr>
          <a:xfrm>
            <a:off x="6161227" y="3273552"/>
            <a:ext cx="1737360" cy="2240280"/>
          </a:xfrm>
          <a:prstGeom prst="roundRect">
            <a:avLst>
              <a:gd name="adj" fmla="val 4211"/>
            </a:avLst>
          </a:prstGeom>
          <a:solidFill>
            <a:schemeClr val="bg2"/>
          </a:solidFill>
          <a:ln/>
        </p:spPr>
      </p:sp>
      <p:sp>
        <p:nvSpPr>
          <p:cNvPr id="26" name="Text 23"/>
          <p:cNvSpPr txBox="1"/>
          <p:nvPr/>
        </p:nvSpPr>
        <p:spPr>
          <a:xfrm>
            <a:off x="6252667" y="3383280"/>
            <a:ext cx="1554480" cy="914400"/>
          </a:xfrm>
          <a:prstGeom prst="roundRect">
            <a:avLst>
              <a:gd name="adj" fmla="val 8000"/>
            </a:avLst>
          </a:prstGeom>
          <a:solidFill>
            <a:schemeClr val="tx2"/>
          </a:solidFill>
          <a:ln/>
        </p:spPr>
        <p:txBody>
          <a:bodyPr wrap="square" lIns="508" tIns="508" rIns="508" bIns="508" rtlCol="0" anchor="ctr"/>
          <a:lstStyle/>
          <a:p>
            <a:pPr algn="ctr" indent="0" marL="0">
              <a:buNone/>
            </a:pPr>
            <a:r>
              <a:rPr lang="en-US" sz="1400" b="1" dirty="0">
                <a:solidFill>
                  <a:schemeClr val="bg1"/>
                </a:solidFill>
              </a:rPr>
              <a:t>Placement Support Needed</a:t>
            </a:r>
            <a:endParaRPr lang="en-US" sz="1400" dirty="0"/>
          </a:p>
        </p:txBody>
      </p:sp>
      <p:sp>
        <p:nvSpPr>
          <p:cNvPr id="27" name="Text 24"/>
          <p:cNvSpPr txBox="1"/>
          <p:nvPr/>
        </p:nvSpPr>
        <p:spPr>
          <a:xfrm>
            <a:off x="6270955" y="4434840"/>
            <a:ext cx="1517904" cy="1005840"/>
          </a:xfrm>
          <a:prstGeom prst="rect">
            <a:avLst/>
          </a:prstGeom>
          <a:noFill/>
          <a:ln/>
        </p:spPr>
        <p:txBody>
          <a:bodyPr wrap="square" lIns="0" tIns="0" rIns="0" bIns="0" rtlCol="0" anchor="t"/>
          <a:lstStyle/>
          <a:p>
            <a:pPr indent="0" marL="0">
              <a:buNone/>
            </a:pPr>
            <a:r>
              <a:rPr lang="en-US" sz="1300" dirty="0">
                <a:solidFill>
                  <a:schemeClr val="tx1"/>
                </a:solidFill>
              </a:rPr>
              <a:t>Adequate academics, weaker placement readiness.</a:t>
            </a:r>
            <a:endParaRPr lang="en-US" sz="1300" dirty="0"/>
          </a:p>
        </p:txBody>
      </p:sp>
      <p:sp>
        <p:nvSpPr>
          <p:cNvPr id="28" name="Connector"/>
          <p:cNvSpPr/>
          <p:nvPr/>
        </p:nvSpPr>
        <p:spPr>
          <a:xfrm>
            <a:off x="8900770" y="3044952"/>
            <a:ext cx="0" cy="228600"/>
          </a:xfrm>
          <a:prstGeom prst="line">
            <a:avLst/>
          </a:prstGeom>
          <a:noFill/>
          <a:ln w="19050">
            <a:solidFill>
              <a:schemeClr val="accent6"/>
            </a:solidFill>
            <a:prstDash val="solid"/>
          </a:ln>
        </p:spPr>
      </p:sp>
      <p:sp>
        <p:nvSpPr>
          <p:cNvPr id="29" name="Card"/>
          <p:cNvSpPr/>
          <p:nvPr/>
        </p:nvSpPr>
        <p:spPr>
          <a:xfrm>
            <a:off x="8032090" y="3273552"/>
            <a:ext cx="1737360" cy="2240280"/>
          </a:xfrm>
          <a:prstGeom prst="roundRect">
            <a:avLst>
              <a:gd name="adj" fmla="val 4211"/>
            </a:avLst>
          </a:prstGeom>
          <a:solidFill>
            <a:schemeClr val="bg2"/>
          </a:solidFill>
          <a:ln/>
        </p:spPr>
      </p:sp>
      <p:sp>
        <p:nvSpPr>
          <p:cNvPr id="30" name="Text 27"/>
          <p:cNvSpPr txBox="1"/>
          <p:nvPr/>
        </p:nvSpPr>
        <p:spPr>
          <a:xfrm>
            <a:off x="8123530" y="3383280"/>
            <a:ext cx="1554480" cy="914400"/>
          </a:xfrm>
          <a:prstGeom prst="roundRect">
            <a:avLst>
              <a:gd name="adj" fmla="val 8000"/>
            </a:avLst>
          </a:prstGeom>
          <a:solidFill>
            <a:schemeClr val="accent4"/>
          </a:solidFill>
          <a:ln/>
        </p:spPr>
        <p:txBody>
          <a:bodyPr wrap="square" lIns="508" tIns="508" rIns="508" bIns="508" rtlCol="0" anchor="ctr"/>
          <a:lstStyle/>
          <a:p>
            <a:pPr algn="ctr" indent="0" marL="0">
              <a:buNone/>
            </a:pPr>
            <a:r>
              <a:rPr lang="en-US" sz="1400" b="1" dirty="0">
                <a:solidFill>
                  <a:schemeClr val="bg1"/>
                </a:solidFill>
              </a:rPr>
              <a:t>Overall At Risk</a:t>
            </a:r>
            <a:endParaRPr lang="en-US" sz="1400" dirty="0"/>
          </a:p>
        </p:txBody>
      </p:sp>
      <p:sp>
        <p:nvSpPr>
          <p:cNvPr id="31" name="Text 28"/>
          <p:cNvSpPr txBox="1"/>
          <p:nvPr/>
        </p:nvSpPr>
        <p:spPr>
          <a:xfrm>
            <a:off x="8141818" y="4434840"/>
            <a:ext cx="1517904" cy="1005840"/>
          </a:xfrm>
          <a:prstGeom prst="rect">
            <a:avLst/>
          </a:prstGeom>
          <a:noFill/>
          <a:ln/>
        </p:spPr>
        <p:txBody>
          <a:bodyPr wrap="square" lIns="0" tIns="0" rIns="0" bIns="0" rtlCol="0" anchor="t"/>
          <a:lstStyle/>
          <a:p>
            <a:pPr indent="0" marL="0">
              <a:buNone/>
            </a:pPr>
            <a:r>
              <a:rPr lang="en-US" sz="1300" dirty="0">
                <a:solidFill>
                  <a:schemeClr val="tx1"/>
                </a:solidFill>
              </a:rPr>
              <a:t>Weaker engagement and skills indicators.</a:t>
            </a:r>
            <a:endParaRPr lang="en-US" sz="1300" dirty="0"/>
          </a:p>
        </p:txBody>
      </p:sp>
      <p:sp>
        <p:nvSpPr>
          <p:cNvPr id="32" name="Connector"/>
          <p:cNvSpPr/>
          <p:nvPr/>
        </p:nvSpPr>
        <p:spPr>
          <a:xfrm>
            <a:off x="10771632" y="3044952"/>
            <a:ext cx="0" cy="228600"/>
          </a:xfrm>
          <a:prstGeom prst="line">
            <a:avLst/>
          </a:prstGeom>
          <a:noFill/>
          <a:ln w="19050">
            <a:solidFill>
              <a:schemeClr val="accent6"/>
            </a:solidFill>
            <a:prstDash val="solid"/>
          </a:ln>
        </p:spPr>
      </p:sp>
      <p:sp>
        <p:nvSpPr>
          <p:cNvPr id="33" name="Card"/>
          <p:cNvSpPr/>
          <p:nvPr/>
        </p:nvSpPr>
        <p:spPr>
          <a:xfrm>
            <a:off x="9902952" y="3273552"/>
            <a:ext cx="1737360" cy="2240280"/>
          </a:xfrm>
          <a:prstGeom prst="roundRect">
            <a:avLst>
              <a:gd name="adj" fmla="val 4211"/>
            </a:avLst>
          </a:prstGeom>
          <a:solidFill>
            <a:schemeClr val="bg2"/>
          </a:solidFill>
          <a:ln/>
        </p:spPr>
      </p:sp>
      <p:sp>
        <p:nvSpPr>
          <p:cNvPr id="34" name="Text 31"/>
          <p:cNvSpPr txBox="1"/>
          <p:nvPr/>
        </p:nvSpPr>
        <p:spPr>
          <a:xfrm>
            <a:off x="9994392" y="3383280"/>
            <a:ext cx="1554480" cy="914400"/>
          </a:xfrm>
          <a:prstGeom prst="roundRect">
            <a:avLst>
              <a:gd name="adj" fmla="val 8000"/>
            </a:avLst>
          </a:prstGeom>
          <a:solidFill>
            <a:schemeClr val="accent6"/>
          </a:solidFill>
          <a:ln/>
        </p:spPr>
        <p:txBody>
          <a:bodyPr wrap="square" lIns="508" tIns="508" rIns="508" bIns="508" rtlCol="0" anchor="ctr"/>
          <a:lstStyle/>
          <a:p>
            <a:pPr algn="ctr" indent="0" marL="0">
              <a:buNone/>
            </a:pPr>
            <a:r>
              <a:rPr lang="en-US" sz="1400" b="1" dirty="0">
                <a:solidFill>
                  <a:schemeClr val="bg1"/>
                </a:solidFill>
              </a:rPr>
              <a:t>Balanced Performer</a:t>
            </a:r>
            <a:endParaRPr lang="en-US" sz="1400" dirty="0"/>
          </a:p>
        </p:txBody>
      </p:sp>
      <p:sp>
        <p:nvSpPr>
          <p:cNvPr id="35" name="Text 32"/>
          <p:cNvSpPr txBox="1"/>
          <p:nvPr/>
        </p:nvSpPr>
        <p:spPr>
          <a:xfrm>
            <a:off x="10012680" y="4434840"/>
            <a:ext cx="1517904" cy="1005840"/>
          </a:xfrm>
          <a:prstGeom prst="rect">
            <a:avLst/>
          </a:prstGeom>
          <a:noFill/>
          <a:ln/>
        </p:spPr>
        <p:txBody>
          <a:bodyPr wrap="square" lIns="0" tIns="0" rIns="0" bIns="0" rtlCol="0" anchor="t"/>
          <a:lstStyle/>
          <a:p>
            <a:pPr indent="0" marL="0">
              <a:buNone/>
            </a:pPr>
            <a:r>
              <a:rPr lang="en-US" sz="1300" dirty="0">
                <a:solidFill>
                  <a:schemeClr val="tx1"/>
                </a:solidFill>
              </a:rPr>
              <a:t>Students who do not meet the rules for the other segments.</a:t>
            </a:r>
            <a:endParaRPr lang="en-US" sz="13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INTERVENTIONS</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From risk identification to action</a:t>
            </a:r>
            <a:endParaRPr lang="en-US" sz="3000" dirty="0"/>
          </a:p>
        </p:txBody>
      </p:sp>
      <p:sp>
        <p:nvSpPr>
          <p:cNvPr id="5" name="Text 2"/>
          <p:cNvSpPr txBox="1"/>
          <p:nvPr/>
        </p:nvSpPr>
        <p:spPr>
          <a:xfrm>
            <a:off x="548640" y="1463040"/>
            <a:ext cx="29260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IDENTIFIED NEED</a:t>
            </a:r>
            <a:endParaRPr lang="en-US" sz="1200" dirty="0"/>
          </a:p>
        </p:txBody>
      </p:sp>
      <p:sp>
        <p:nvSpPr>
          <p:cNvPr id="6" name="Text 3"/>
          <p:cNvSpPr txBox="1"/>
          <p:nvPr/>
        </p:nvSpPr>
        <p:spPr>
          <a:xfrm>
            <a:off x="4069080" y="1463040"/>
            <a:ext cx="41148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SUGGESTED INTERVENTION</a:t>
            </a:r>
            <a:endParaRPr lang="en-US" sz="1200" dirty="0"/>
          </a:p>
        </p:txBody>
      </p:sp>
      <p:sp>
        <p:nvSpPr>
          <p:cNvPr id="7" name="Text 4"/>
          <p:cNvSpPr txBox="1"/>
          <p:nvPr/>
        </p:nvSpPr>
        <p:spPr>
          <a:xfrm>
            <a:off x="548640" y="1783080"/>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400" b="1" dirty="0">
                <a:solidFill>
                  <a:schemeClr val="tx2"/>
                </a:solidFill>
              </a:rPr>
              <a:t>Academic difficulty</a:t>
            </a:r>
            <a:endParaRPr lang="en-US" sz="1400" dirty="0"/>
          </a:p>
        </p:txBody>
      </p:sp>
      <p:sp>
        <p:nvSpPr>
          <p:cNvPr id="8" name="Connector"/>
          <p:cNvSpPr/>
          <p:nvPr/>
        </p:nvSpPr>
        <p:spPr>
          <a:xfrm>
            <a:off x="3840480" y="2048256"/>
            <a:ext cx="164592" cy="0"/>
          </a:xfrm>
          <a:prstGeom prst="line">
            <a:avLst/>
          </a:prstGeom>
          <a:noFill/>
          <a:ln w="25400">
            <a:solidFill>
              <a:schemeClr val="accent1"/>
            </a:solidFill>
            <a:prstDash val="solid"/>
            <a:tailEnd type="triangle"/>
          </a:ln>
        </p:spPr>
      </p:sp>
      <p:sp>
        <p:nvSpPr>
          <p:cNvPr id="9" name="Text 6"/>
          <p:cNvSpPr txBox="1"/>
          <p:nvPr/>
        </p:nvSpPr>
        <p:spPr>
          <a:xfrm>
            <a:off x="4069080" y="1783080"/>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Academic mentor and subject-wise remedial support</a:t>
            </a:r>
            <a:endParaRPr lang="en-US" sz="1300" dirty="0"/>
          </a:p>
        </p:txBody>
      </p:sp>
      <p:sp>
        <p:nvSpPr>
          <p:cNvPr id="10" name="Text 7"/>
          <p:cNvSpPr txBox="1"/>
          <p:nvPr/>
        </p:nvSpPr>
        <p:spPr>
          <a:xfrm>
            <a:off x="548640" y="2414016"/>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400" b="1" dirty="0">
                <a:solidFill>
                  <a:schemeClr val="tx2"/>
                </a:solidFill>
              </a:rPr>
              <a:t>Active backlogs</a:t>
            </a:r>
            <a:endParaRPr lang="en-US" sz="1400" dirty="0"/>
          </a:p>
        </p:txBody>
      </p:sp>
      <p:sp>
        <p:nvSpPr>
          <p:cNvPr id="11" name="Connector"/>
          <p:cNvSpPr/>
          <p:nvPr/>
        </p:nvSpPr>
        <p:spPr>
          <a:xfrm>
            <a:off x="3840480" y="2679192"/>
            <a:ext cx="164592" cy="0"/>
          </a:xfrm>
          <a:prstGeom prst="line">
            <a:avLst/>
          </a:prstGeom>
          <a:noFill/>
          <a:ln w="25400">
            <a:solidFill>
              <a:schemeClr val="accent1"/>
            </a:solidFill>
            <a:prstDash val="solid"/>
            <a:tailEnd type="triangle"/>
          </a:ln>
        </p:spPr>
      </p:sp>
      <p:sp>
        <p:nvSpPr>
          <p:cNvPr id="12" name="Text 9"/>
          <p:cNvSpPr txBox="1"/>
          <p:nvPr/>
        </p:nvSpPr>
        <p:spPr>
          <a:xfrm>
            <a:off x="4069080" y="2414016"/>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Backlog clearance support</a:t>
            </a:r>
            <a:endParaRPr lang="en-US" sz="1300" dirty="0"/>
          </a:p>
        </p:txBody>
      </p:sp>
      <p:sp>
        <p:nvSpPr>
          <p:cNvPr id="13" name="Text 10"/>
          <p:cNvSpPr txBox="1"/>
          <p:nvPr/>
        </p:nvSpPr>
        <p:spPr>
          <a:xfrm>
            <a:off x="548640" y="3044952"/>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400" b="1" dirty="0">
                <a:solidFill>
                  <a:schemeClr val="tx2"/>
                </a:solidFill>
              </a:rPr>
              <a:t>Low attendance</a:t>
            </a:r>
            <a:endParaRPr lang="en-US" sz="1400" dirty="0"/>
          </a:p>
        </p:txBody>
      </p:sp>
      <p:sp>
        <p:nvSpPr>
          <p:cNvPr id="14" name="Connector"/>
          <p:cNvSpPr/>
          <p:nvPr/>
        </p:nvSpPr>
        <p:spPr>
          <a:xfrm>
            <a:off x="3840480" y="3310128"/>
            <a:ext cx="164592" cy="0"/>
          </a:xfrm>
          <a:prstGeom prst="line">
            <a:avLst/>
          </a:prstGeom>
          <a:noFill/>
          <a:ln w="25400">
            <a:solidFill>
              <a:schemeClr val="accent1"/>
            </a:solidFill>
            <a:prstDash val="solid"/>
            <a:tailEnd type="triangle"/>
          </a:ln>
        </p:spPr>
      </p:sp>
      <p:sp>
        <p:nvSpPr>
          <p:cNvPr id="15" name="Text 12"/>
          <p:cNvSpPr txBox="1"/>
          <p:nvPr/>
        </p:nvSpPr>
        <p:spPr>
          <a:xfrm>
            <a:off x="4069080" y="3044952"/>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Attendance monitoring and faculty follow-up</a:t>
            </a:r>
            <a:endParaRPr lang="en-US" sz="1300" dirty="0"/>
          </a:p>
        </p:txBody>
      </p:sp>
      <p:sp>
        <p:nvSpPr>
          <p:cNvPr id="16" name="Text 13"/>
          <p:cNvSpPr txBox="1"/>
          <p:nvPr/>
        </p:nvSpPr>
        <p:spPr>
          <a:xfrm>
            <a:off x="548640" y="3675888"/>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400" b="1" dirty="0">
                <a:solidFill>
                  <a:schemeClr val="tx2"/>
                </a:solidFill>
              </a:rPr>
              <a:t>Placement readiness gaps</a:t>
            </a:r>
            <a:endParaRPr lang="en-US" sz="1400" dirty="0"/>
          </a:p>
        </p:txBody>
      </p:sp>
      <p:sp>
        <p:nvSpPr>
          <p:cNvPr id="17" name="Connector"/>
          <p:cNvSpPr/>
          <p:nvPr/>
        </p:nvSpPr>
        <p:spPr>
          <a:xfrm>
            <a:off x="3840480" y="3941064"/>
            <a:ext cx="164592" cy="0"/>
          </a:xfrm>
          <a:prstGeom prst="line">
            <a:avLst/>
          </a:prstGeom>
          <a:noFill/>
          <a:ln w="25400">
            <a:solidFill>
              <a:schemeClr val="accent1"/>
            </a:solidFill>
            <a:prstDash val="solid"/>
            <a:tailEnd type="triangle"/>
          </a:ln>
        </p:spPr>
      </p:sp>
      <p:sp>
        <p:nvSpPr>
          <p:cNvPr id="18" name="Text 15"/>
          <p:cNvSpPr txBox="1"/>
          <p:nvPr/>
        </p:nvSpPr>
        <p:spPr>
          <a:xfrm>
            <a:off x="4069080" y="3675888"/>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Aptitude practice and coding exercises</a:t>
            </a:r>
            <a:endParaRPr lang="en-US" sz="1300" dirty="0"/>
          </a:p>
        </p:txBody>
      </p:sp>
      <p:sp>
        <p:nvSpPr>
          <p:cNvPr id="19" name="Text 16"/>
          <p:cNvSpPr txBox="1"/>
          <p:nvPr/>
        </p:nvSpPr>
        <p:spPr>
          <a:xfrm>
            <a:off x="548640" y="4306824"/>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400" b="1" dirty="0">
                <a:solidFill>
                  <a:schemeClr val="tx2"/>
                </a:solidFill>
              </a:rPr>
              <a:t>Interview preparation gaps</a:t>
            </a:r>
            <a:endParaRPr lang="en-US" sz="1400" dirty="0"/>
          </a:p>
        </p:txBody>
      </p:sp>
      <p:sp>
        <p:nvSpPr>
          <p:cNvPr id="20" name="Connector"/>
          <p:cNvSpPr/>
          <p:nvPr/>
        </p:nvSpPr>
        <p:spPr>
          <a:xfrm>
            <a:off x="3840480" y="4572000"/>
            <a:ext cx="164592" cy="0"/>
          </a:xfrm>
          <a:prstGeom prst="line">
            <a:avLst/>
          </a:prstGeom>
          <a:noFill/>
          <a:ln w="25400">
            <a:solidFill>
              <a:schemeClr val="accent1"/>
            </a:solidFill>
            <a:prstDash val="solid"/>
            <a:tailEnd type="triangle"/>
          </a:ln>
        </p:spPr>
      </p:sp>
      <p:sp>
        <p:nvSpPr>
          <p:cNvPr id="21" name="Text 18"/>
          <p:cNvSpPr txBox="1"/>
          <p:nvPr/>
        </p:nvSpPr>
        <p:spPr>
          <a:xfrm>
            <a:off x="4069080" y="4306824"/>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Mock interviews and communication practice</a:t>
            </a:r>
            <a:endParaRPr lang="en-US" sz="1300" dirty="0"/>
          </a:p>
        </p:txBody>
      </p:sp>
      <p:sp>
        <p:nvSpPr>
          <p:cNvPr id="22" name="Text 19"/>
          <p:cNvSpPr txBox="1"/>
          <p:nvPr/>
        </p:nvSpPr>
        <p:spPr>
          <a:xfrm>
            <a:off x="548640" y="4937760"/>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400" b="1" dirty="0">
                <a:solidFill>
                  <a:schemeClr val="tx2"/>
                </a:solidFill>
              </a:rPr>
              <a:t>Low LMS participation</a:t>
            </a:r>
            <a:endParaRPr lang="en-US" sz="1400" dirty="0"/>
          </a:p>
        </p:txBody>
      </p:sp>
      <p:sp>
        <p:nvSpPr>
          <p:cNvPr id="23" name="Connector"/>
          <p:cNvSpPr/>
          <p:nvPr/>
        </p:nvSpPr>
        <p:spPr>
          <a:xfrm>
            <a:off x="3840480" y="5202936"/>
            <a:ext cx="164592" cy="0"/>
          </a:xfrm>
          <a:prstGeom prst="line">
            <a:avLst/>
          </a:prstGeom>
          <a:noFill/>
          <a:ln w="25400">
            <a:solidFill>
              <a:schemeClr val="accent1"/>
            </a:solidFill>
            <a:prstDash val="solid"/>
            <a:tailEnd type="triangle"/>
          </a:ln>
        </p:spPr>
      </p:sp>
      <p:sp>
        <p:nvSpPr>
          <p:cNvPr id="24" name="Text 21"/>
          <p:cNvSpPr txBox="1"/>
          <p:nvPr/>
        </p:nvSpPr>
        <p:spPr>
          <a:xfrm>
            <a:off x="4069080" y="4937760"/>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Assignment tracking and LMS engagement support</a:t>
            </a:r>
            <a:endParaRPr lang="en-US" sz="1300" dirty="0"/>
          </a:p>
        </p:txBody>
      </p:sp>
      <p:sp>
        <p:nvSpPr>
          <p:cNvPr id="25" name="Text 22"/>
          <p:cNvSpPr txBox="1"/>
          <p:nvPr/>
        </p:nvSpPr>
        <p:spPr>
          <a:xfrm>
            <a:off x="548640" y="5568696"/>
            <a:ext cx="3200400" cy="530352"/>
          </a:xfrm>
          <a:prstGeom prst="roundRect">
            <a:avLst>
              <a:gd name="adj" fmla="val 17241"/>
            </a:avLst>
          </a:prstGeom>
          <a:solidFill>
            <a:schemeClr val="accent3">
              <a:alpha val="28000"/>
            </a:schemeClr>
          </a:solidFill>
          <a:ln/>
        </p:spPr>
        <p:txBody>
          <a:bodyPr wrap="square" lIns="508" tIns="508" rIns="508" bIns="508" rtlCol="0" anchor="ctr"/>
          <a:lstStyle/>
          <a:p>
            <a:pPr algn="ctr" indent="0" marL="0">
              <a:buNone/>
            </a:pPr>
            <a:r>
              <a:rPr lang="en-US" sz="1200" b="1" dirty="0">
                <a:solidFill>
                  <a:schemeClr val="tx2"/>
                </a:solidFill>
              </a:rPr>
              <a:t>Academic Strong / Placement Unprepared</a:t>
            </a:r>
            <a:endParaRPr lang="en-US" sz="1200" dirty="0"/>
          </a:p>
        </p:txBody>
      </p:sp>
      <p:sp>
        <p:nvSpPr>
          <p:cNvPr id="26" name="Connector"/>
          <p:cNvSpPr/>
          <p:nvPr/>
        </p:nvSpPr>
        <p:spPr>
          <a:xfrm>
            <a:off x="3840480" y="5833872"/>
            <a:ext cx="164592" cy="0"/>
          </a:xfrm>
          <a:prstGeom prst="line">
            <a:avLst/>
          </a:prstGeom>
          <a:noFill/>
          <a:ln w="25400">
            <a:solidFill>
              <a:schemeClr val="accent1"/>
            </a:solidFill>
            <a:prstDash val="solid"/>
            <a:tailEnd type="triangle"/>
          </a:ln>
        </p:spPr>
      </p:sp>
      <p:sp>
        <p:nvSpPr>
          <p:cNvPr id="27" name="Text 24"/>
          <p:cNvSpPr txBox="1"/>
          <p:nvPr/>
        </p:nvSpPr>
        <p:spPr>
          <a:xfrm>
            <a:off x="4069080" y="5568696"/>
            <a:ext cx="4297680" cy="530352"/>
          </a:xfrm>
          <a:prstGeom prst="roundRect">
            <a:avLst>
              <a:gd name="adj" fmla="val 17241"/>
            </a:avLst>
          </a:prstGeom>
          <a:solidFill>
            <a:schemeClr val="accent1">
              <a:alpha val="15000"/>
            </a:schemeClr>
          </a:solidFill>
          <a:ln/>
        </p:spPr>
        <p:txBody>
          <a:bodyPr wrap="square" lIns="508" tIns="508" rIns="508" bIns="508" rtlCol="0" anchor="ctr"/>
          <a:lstStyle/>
          <a:p>
            <a:pPr algn="ctr" indent="0" marL="0">
              <a:buNone/>
            </a:pPr>
            <a:r>
              <a:rPr lang="en-US" sz="1300" dirty="0">
                <a:solidFill>
                  <a:schemeClr val="tx2"/>
                </a:solidFill>
              </a:rPr>
              <a:t>Personalized placement plan and placement mentor</a:t>
            </a:r>
            <a:endParaRPr lang="en-US" sz="1300" dirty="0"/>
          </a:p>
        </p:txBody>
      </p:sp>
      <p:sp>
        <p:nvSpPr>
          <p:cNvPr id="28" name="Card"/>
          <p:cNvSpPr/>
          <p:nvPr/>
        </p:nvSpPr>
        <p:spPr>
          <a:xfrm>
            <a:off x="8686800" y="1783080"/>
            <a:ext cx="2953512" cy="2103120"/>
          </a:xfrm>
          <a:prstGeom prst="roundRect">
            <a:avLst>
              <a:gd name="adj" fmla="val 3478"/>
            </a:avLst>
          </a:prstGeom>
          <a:solidFill>
            <a:schemeClr val="bg2"/>
          </a:solidFill>
          <a:ln/>
        </p:spPr>
      </p:sp>
      <p:sp>
        <p:nvSpPr>
          <p:cNvPr id="29" name="Text 26"/>
          <p:cNvSpPr txBox="1"/>
          <p:nvPr/>
        </p:nvSpPr>
        <p:spPr>
          <a:xfrm>
            <a:off x="8869680" y="1920240"/>
            <a:ext cx="2651760" cy="320040"/>
          </a:xfrm>
          <a:prstGeom prst="rect">
            <a:avLst/>
          </a:prstGeom>
          <a:noFill/>
          <a:ln/>
        </p:spPr>
        <p:txBody>
          <a:bodyPr wrap="square" lIns="0" tIns="0" rIns="0" bIns="0" rtlCol="0" anchor="t"/>
          <a:lstStyle/>
          <a:p>
            <a:pPr indent="0" marL="0">
              <a:buNone/>
            </a:pPr>
            <a:r>
              <a:rPr lang="en-US" sz="1600" b="1" dirty="0">
                <a:solidFill>
                  <a:schemeClr val="tx2"/>
                </a:solidFill>
              </a:rPr>
              <a:t>Aligned to triggers</a:t>
            </a:r>
            <a:endParaRPr lang="en-US" sz="1600" dirty="0"/>
          </a:p>
        </p:txBody>
      </p:sp>
      <p:sp>
        <p:nvSpPr>
          <p:cNvPr id="30" name="Text 27"/>
          <p:cNvSpPr txBox="1"/>
          <p:nvPr/>
        </p:nvSpPr>
        <p:spPr>
          <a:xfrm>
            <a:off x="8869680" y="2331720"/>
            <a:ext cx="2606040" cy="1463040"/>
          </a:xfrm>
          <a:prstGeom prst="rect">
            <a:avLst/>
          </a:prstGeom>
          <a:noFill/>
          <a:ln/>
        </p:spPr>
        <p:txBody>
          <a:bodyPr wrap="square" lIns="0" tIns="0" rIns="0" bIns="0" rtlCol="0" anchor="t"/>
          <a:lstStyle/>
          <a:p>
            <a:pPr indent="0" marL="0">
              <a:buNone/>
            </a:pPr>
            <a:r>
              <a:rPr lang="en-US" sz="1600" dirty="0">
                <a:solidFill>
                  <a:schemeClr val="tx1"/>
                </a:solidFill>
              </a:rPr>
              <a:t>Recommendations follow the indicators that raised concern.</a:t>
            </a:r>
            <a:endParaRPr lang="en-US" sz="1600" dirty="0"/>
          </a:p>
        </p:txBody>
      </p:sp>
      <p:sp>
        <p:nvSpPr>
          <p:cNvPr id="31" name="Card"/>
          <p:cNvSpPr/>
          <p:nvPr/>
        </p:nvSpPr>
        <p:spPr>
          <a:xfrm>
            <a:off x="8686800" y="4069080"/>
            <a:ext cx="2953512" cy="2011680"/>
          </a:xfrm>
          <a:prstGeom prst="roundRect">
            <a:avLst>
              <a:gd name="adj" fmla="val 3636"/>
            </a:avLst>
          </a:prstGeom>
          <a:solidFill>
            <a:schemeClr val="tx2"/>
          </a:solidFill>
          <a:ln/>
        </p:spPr>
      </p:sp>
      <p:sp>
        <p:nvSpPr>
          <p:cNvPr id="32" name="Text 29"/>
          <p:cNvSpPr txBox="1"/>
          <p:nvPr/>
        </p:nvSpPr>
        <p:spPr>
          <a:xfrm>
            <a:off x="8869680" y="4206240"/>
            <a:ext cx="2651760" cy="274320"/>
          </a:xfrm>
          <a:prstGeom prst="rect">
            <a:avLst/>
          </a:prstGeom>
          <a:noFill/>
          <a:ln/>
        </p:spPr>
        <p:txBody>
          <a:bodyPr wrap="square" lIns="0" tIns="0" rIns="0" bIns="0" rtlCol="0" anchor="t"/>
          <a:lstStyle/>
          <a:p>
            <a:pPr indent="0" marL="0">
              <a:buNone/>
            </a:pPr>
            <a:r>
              <a:rPr lang="en-US" sz="1100" b="1" spc="100" kern="0" dirty="0">
                <a:solidFill>
                  <a:srgbClr val="3FD0C9"/>
                </a:solidFill>
              </a:rPr>
              <a:t>FACULTY STAY IN CHARGE</a:t>
            </a:r>
            <a:endParaRPr lang="en-US" sz="1100" dirty="0"/>
          </a:p>
        </p:txBody>
      </p:sp>
      <p:sp>
        <p:nvSpPr>
          <p:cNvPr id="33" name="Text 30"/>
          <p:cNvSpPr txBox="1"/>
          <p:nvPr/>
        </p:nvSpPr>
        <p:spPr>
          <a:xfrm>
            <a:off x="8869680" y="4572000"/>
            <a:ext cx="2606040" cy="1371600"/>
          </a:xfrm>
          <a:prstGeom prst="rect">
            <a:avLst/>
          </a:prstGeom>
          <a:noFill/>
          <a:ln/>
        </p:spPr>
        <p:txBody>
          <a:bodyPr wrap="square" lIns="0" tIns="0" rIns="0" bIns="0" rtlCol="0" anchor="t"/>
          <a:lstStyle/>
          <a:p>
            <a:pPr indent="0" marL="0">
              <a:buNone/>
            </a:pPr>
            <a:r>
              <a:rPr lang="en-US" sz="1700" dirty="0">
                <a:solidFill>
                  <a:schemeClr val="bg1"/>
                </a:solidFill>
              </a:rPr>
              <a:t>The prototype proposes actions; faculty review and carry them out.</a:t>
            </a:r>
            <a:endParaRPr lang="en-US" sz="17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DASHBOARD</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A single interface for administrative decisions</a:t>
            </a:r>
            <a:endParaRPr lang="en-US" sz="3000" dirty="0"/>
          </a:p>
        </p:txBody>
      </p:sp>
      <p:sp>
        <p:nvSpPr>
          <p:cNvPr id="5" name="Card"/>
          <p:cNvSpPr/>
          <p:nvPr/>
        </p:nvSpPr>
        <p:spPr>
          <a:xfrm>
            <a:off x="548640" y="1463040"/>
            <a:ext cx="6858000" cy="4526280"/>
          </a:xfrm>
          <a:prstGeom prst="roundRect">
            <a:avLst>
              <a:gd name="adj" fmla="val 2020"/>
            </a:avLst>
          </a:prstGeom>
          <a:solidFill>
            <a:schemeClr val="bg1"/>
          </a:solidFill>
          <a:ln w="12700">
            <a:solidFill>
              <a:srgbClr val="C9D2E0"/>
            </a:solidFill>
            <a:prstDash val="solid"/>
          </a:ln>
        </p:spPr>
      </p:sp>
      <p:sp>
        <p:nvSpPr>
          <p:cNvPr id="6" name="Browser bar"/>
          <p:cNvSpPr/>
          <p:nvPr/>
        </p:nvSpPr>
        <p:spPr>
          <a:xfrm>
            <a:off x="548640" y="1463040"/>
            <a:ext cx="6858000" cy="365760"/>
          </a:xfrm>
          <a:prstGeom prst="rect">
            <a:avLst/>
          </a:prstGeom>
          <a:solidFill>
            <a:schemeClr val="tx2"/>
          </a:solidFill>
          <a:ln/>
        </p:spPr>
      </p:sp>
      <p:sp>
        <p:nvSpPr>
          <p:cNvPr id="7" name="Dot"/>
          <p:cNvSpPr/>
          <p:nvPr/>
        </p:nvSpPr>
        <p:spPr>
          <a:xfrm>
            <a:off x="731520" y="1581912"/>
            <a:ext cx="128016" cy="128016"/>
          </a:xfrm>
          <a:prstGeom prst="ellipse">
            <a:avLst/>
          </a:prstGeom>
          <a:solidFill>
            <a:schemeClr val="accent4"/>
          </a:solidFill>
          <a:ln/>
        </p:spPr>
      </p:sp>
      <p:sp>
        <p:nvSpPr>
          <p:cNvPr id="8" name="Dot"/>
          <p:cNvSpPr/>
          <p:nvPr/>
        </p:nvSpPr>
        <p:spPr>
          <a:xfrm>
            <a:off x="914400" y="1581912"/>
            <a:ext cx="128016" cy="128016"/>
          </a:xfrm>
          <a:prstGeom prst="ellipse">
            <a:avLst/>
          </a:prstGeom>
          <a:solidFill>
            <a:schemeClr val="accent3"/>
          </a:solidFill>
          <a:ln/>
        </p:spPr>
      </p:sp>
      <p:sp>
        <p:nvSpPr>
          <p:cNvPr id="9" name="Dot"/>
          <p:cNvSpPr/>
          <p:nvPr/>
        </p:nvSpPr>
        <p:spPr>
          <a:xfrm>
            <a:off x="1097280" y="1581912"/>
            <a:ext cx="128016" cy="128016"/>
          </a:xfrm>
          <a:prstGeom prst="ellipse">
            <a:avLst/>
          </a:prstGeom>
          <a:solidFill>
            <a:schemeClr val="accent5"/>
          </a:solidFill>
          <a:ln/>
        </p:spPr>
      </p:sp>
      <p:sp>
        <p:nvSpPr>
          <p:cNvPr id="10" name="Text 7"/>
          <p:cNvSpPr txBox="1"/>
          <p:nvPr/>
        </p:nvSpPr>
        <p:spPr>
          <a:xfrm>
            <a:off x="1463040" y="1463040"/>
            <a:ext cx="4572000" cy="365760"/>
          </a:xfrm>
          <a:prstGeom prst="rect">
            <a:avLst/>
          </a:prstGeom>
          <a:noFill/>
          <a:ln/>
        </p:spPr>
        <p:txBody>
          <a:bodyPr wrap="square" lIns="0" tIns="0" rIns="0" bIns="0" rtlCol="0" anchor="ctr"/>
          <a:lstStyle/>
          <a:p>
            <a:pPr indent="0" marL="0">
              <a:buNone/>
            </a:pPr>
            <a:r>
              <a:rPr lang="en-US" sz="1100" dirty="0">
                <a:solidFill>
                  <a:schemeClr val="bg1"/>
                </a:solidFill>
              </a:rPr>
              <a:t>EduPulse AI  |  Management dashboard</a:t>
            </a:r>
            <a:endParaRPr lang="en-US" sz="1100" dirty="0"/>
          </a:p>
        </p:txBody>
      </p:sp>
      <p:sp>
        <p:nvSpPr>
          <p:cNvPr id="11" name="Card"/>
          <p:cNvSpPr/>
          <p:nvPr/>
        </p:nvSpPr>
        <p:spPr>
          <a:xfrm>
            <a:off x="777240" y="2011680"/>
            <a:ext cx="2011680" cy="731520"/>
          </a:xfrm>
          <a:prstGeom prst="roundRect">
            <a:avLst>
              <a:gd name="adj" fmla="val 10000"/>
            </a:avLst>
          </a:prstGeom>
          <a:solidFill>
            <a:schemeClr val="bg2"/>
          </a:solidFill>
          <a:ln/>
        </p:spPr>
      </p:sp>
      <p:sp>
        <p:nvSpPr>
          <p:cNvPr id="12" name="Text 9"/>
          <p:cNvSpPr txBox="1"/>
          <p:nvPr/>
        </p:nvSpPr>
        <p:spPr>
          <a:xfrm>
            <a:off x="914400" y="2066544"/>
            <a:ext cx="1737360" cy="256032"/>
          </a:xfrm>
          <a:prstGeom prst="rect">
            <a:avLst/>
          </a:prstGeom>
          <a:noFill/>
          <a:ln/>
        </p:spPr>
        <p:txBody>
          <a:bodyPr wrap="square" lIns="0" tIns="0" rIns="0" bIns="0" rtlCol="0" anchor="t"/>
          <a:lstStyle/>
          <a:p>
            <a:pPr indent="0" marL="0">
              <a:buNone/>
            </a:pPr>
            <a:r>
              <a:rPr lang="en-US" sz="1100" b="1" dirty="0">
                <a:solidFill>
                  <a:schemeClr val="accent6"/>
                </a:solidFill>
              </a:rPr>
              <a:t>Total students</a:t>
            </a:r>
            <a:endParaRPr lang="en-US" sz="1100" dirty="0"/>
          </a:p>
        </p:txBody>
      </p:sp>
      <p:sp>
        <p:nvSpPr>
          <p:cNvPr id="13" name="Card"/>
          <p:cNvSpPr/>
          <p:nvPr/>
        </p:nvSpPr>
        <p:spPr>
          <a:xfrm>
            <a:off x="914400" y="2395728"/>
            <a:ext cx="914400" cy="182880"/>
          </a:xfrm>
          <a:prstGeom prst="roundRect">
            <a:avLst>
              <a:gd name="adj" fmla="val 25000"/>
            </a:avLst>
          </a:prstGeom>
          <a:solidFill>
            <a:schemeClr val="accent1">
              <a:alpha val="45000"/>
            </a:schemeClr>
          </a:solidFill>
          <a:ln/>
        </p:spPr>
      </p:sp>
      <p:sp>
        <p:nvSpPr>
          <p:cNvPr id="14" name="Card"/>
          <p:cNvSpPr/>
          <p:nvPr/>
        </p:nvSpPr>
        <p:spPr>
          <a:xfrm>
            <a:off x="2971800" y="2011680"/>
            <a:ext cx="2011680" cy="731520"/>
          </a:xfrm>
          <a:prstGeom prst="roundRect">
            <a:avLst>
              <a:gd name="adj" fmla="val 10000"/>
            </a:avLst>
          </a:prstGeom>
          <a:solidFill>
            <a:schemeClr val="bg2"/>
          </a:solidFill>
          <a:ln/>
        </p:spPr>
      </p:sp>
      <p:sp>
        <p:nvSpPr>
          <p:cNvPr id="15" name="Text 12"/>
          <p:cNvSpPr txBox="1"/>
          <p:nvPr/>
        </p:nvSpPr>
        <p:spPr>
          <a:xfrm>
            <a:off x="3108960" y="2066544"/>
            <a:ext cx="1737360" cy="256032"/>
          </a:xfrm>
          <a:prstGeom prst="rect">
            <a:avLst/>
          </a:prstGeom>
          <a:noFill/>
          <a:ln/>
        </p:spPr>
        <p:txBody>
          <a:bodyPr wrap="square" lIns="0" tIns="0" rIns="0" bIns="0" rtlCol="0" anchor="t"/>
          <a:lstStyle/>
          <a:p>
            <a:pPr indent="0" marL="0">
              <a:buNone/>
            </a:pPr>
            <a:r>
              <a:rPr lang="en-US" sz="1100" b="1" dirty="0">
                <a:solidFill>
                  <a:schemeClr val="accent6"/>
                </a:solidFill>
              </a:rPr>
              <a:t>Avg. Success Score</a:t>
            </a:r>
            <a:endParaRPr lang="en-US" sz="1100" dirty="0"/>
          </a:p>
        </p:txBody>
      </p:sp>
      <p:sp>
        <p:nvSpPr>
          <p:cNvPr id="16" name="Card"/>
          <p:cNvSpPr/>
          <p:nvPr/>
        </p:nvSpPr>
        <p:spPr>
          <a:xfrm>
            <a:off x="3108960" y="2395728"/>
            <a:ext cx="914400" cy="182880"/>
          </a:xfrm>
          <a:prstGeom prst="roundRect">
            <a:avLst>
              <a:gd name="adj" fmla="val 25000"/>
            </a:avLst>
          </a:prstGeom>
          <a:solidFill>
            <a:schemeClr val="accent1">
              <a:alpha val="45000"/>
            </a:schemeClr>
          </a:solidFill>
          <a:ln/>
        </p:spPr>
      </p:sp>
      <p:sp>
        <p:nvSpPr>
          <p:cNvPr id="17" name="Card"/>
          <p:cNvSpPr/>
          <p:nvPr/>
        </p:nvSpPr>
        <p:spPr>
          <a:xfrm>
            <a:off x="5166360" y="2011680"/>
            <a:ext cx="2011680" cy="731520"/>
          </a:xfrm>
          <a:prstGeom prst="roundRect">
            <a:avLst>
              <a:gd name="adj" fmla="val 10000"/>
            </a:avLst>
          </a:prstGeom>
          <a:solidFill>
            <a:schemeClr val="bg2"/>
          </a:solidFill>
          <a:ln/>
        </p:spPr>
      </p:sp>
      <p:sp>
        <p:nvSpPr>
          <p:cNvPr id="18" name="Text 15"/>
          <p:cNvSpPr txBox="1"/>
          <p:nvPr/>
        </p:nvSpPr>
        <p:spPr>
          <a:xfrm>
            <a:off x="5303520" y="2066544"/>
            <a:ext cx="1737360" cy="256032"/>
          </a:xfrm>
          <a:prstGeom prst="rect">
            <a:avLst/>
          </a:prstGeom>
          <a:noFill/>
          <a:ln/>
        </p:spPr>
        <p:txBody>
          <a:bodyPr wrap="square" lIns="0" tIns="0" rIns="0" bIns="0" rtlCol="0" anchor="t"/>
          <a:lstStyle/>
          <a:p>
            <a:pPr indent="0" marL="0">
              <a:buNone/>
            </a:pPr>
            <a:r>
              <a:rPr lang="en-US" sz="1100" b="1" dirty="0">
                <a:solidFill>
                  <a:schemeClr val="accent6"/>
                </a:solidFill>
              </a:rPr>
              <a:t>Placement-unprepared</a:t>
            </a:r>
            <a:endParaRPr lang="en-US" sz="1100" dirty="0"/>
          </a:p>
        </p:txBody>
      </p:sp>
      <p:sp>
        <p:nvSpPr>
          <p:cNvPr id="19" name="Card"/>
          <p:cNvSpPr/>
          <p:nvPr/>
        </p:nvSpPr>
        <p:spPr>
          <a:xfrm>
            <a:off x="5303520" y="2395728"/>
            <a:ext cx="914400" cy="182880"/>
          </a:xfrm>
          <a:prstGeom prst="roundRect">
            <a:avLst>
              <a:gd name="adj" fmla="val 25000"/>
            </a:avLst>
          </a:prstGeom>
          <a:solidFill>
            <a:schemeClr val="accent1">
              <a:alpha val="45000"/>
            </a:schemeClr>
          </a:solidFill>
          <a:ln/>
        </p:spPr>
      </p:sp>
      <p:sp>
        <p:nvSpPr>
          <p:cNvPr id="20" name="Card"/>
          <p:cNvSpPr/>
          <p:nvPr/>
        </p:nvSpPr>
        <p:spPr>
          <a:xfrm>
            <a:off x="777240" y="2926080"/>
            <a:ext cx="3108960" cy="1417320"/>
          </a:xfrm>
          <a:prstGeom prst="roundRect">
            <a:avLst>
              <a:gd name="adj" fmla="val 5161"/>
            </a:avLst>
          </a:prstGeom>
          <a:solidFill>
            <a:schemeClr val="bg2"/>
          </a:solidFill>
          <a:ln/>
        </p:spPr>
      </p:sp>
      <p:sp>
        <p:nvSpPr>
          <p:cNvPr id="21" name="Text 18"/>
          <p:cNvSpPr txBox="1"/>
          <p:nvPr/>
        </p:nvSpPr>
        <p:spPr>
          <a:xfrm>
            <a:off x="914400" y="2980944"/>
            <a:ext cx="2743200" cy="256032"/>
          </a:xfrm>
          <a:prstGeom prst="rect">
            <a:avLst/>
          </a:prstGeom>
          <a:noFill/>
          <a:ln/>
        </p:spPr>
        <p:txBody>
          <a:bodyPr wrap="square" lIns="0" tIns="0" rIns="0" bIns="0" rtlCol="0" anchor="t"/>
          <a:lstStyle/>
          <a:p>
            <a:pPr indent="0" marL="0">
              <a:buNone/>
            </a:pPr>
            <a:r>
              <a:rPr lang="en-US" sz="1100" b="1" dirty="0">
                <a:solidFill>
                  <a:schemeClr val="tx2"/>
                </a:solidFill>
              </a:rPr>
              <a:t>Risk distribution</a:t>
            </a:r>
            <a:endParaRPr lang="en-US" sz="1100" dirty="0"/>
          </a:p>
        </p:txBody>
      </p:sp>
      <p:sp>
        <p:nvSpPr>
          <p:cNvPr id="22" name="Schematic bar"/>
          <p:cNvSpPr/>
          <p:nvPr/>
        </p:nvSpPr>
        <p:spPr>
          <a:xfrm>
            <a:off x="1188720" y="3429000"/>
            <a:ext cx="548640" cy="822960"/>
          </a:xfrm>
          <a:prstGeom prst="rect">
            <a:avLst/>
          </a:prstGeom>
          <a:solidFill>
            <a:schemeClr val="accent5"/>
          </a:solidFill>
          <a:ln/>
        </p:spPr>
      </p:sp>
      <p:sp>
        <p:nvSpPr>
          <p:cNvPr id="23" name="Schematic bar"/>
          <p:cNvSpPr/>
          <p:nvPr/>
        </p:nvSpPr>
        <p:spPr>
          <a:xfrm>
            <a:off x="2057400" y="3703320"/>
            <a:ext cx="548640" cy="548640"/>
          </a:xfrm>
          <a:prstGeom prst="rect">
            <a:avLst/>
          </a:prstGeom>
          <a:solidFill>
            <a:schemeClr val="accent3"/>
          </a:solidFill>
          <a:ln/>
        </p:spPr>
      </p:sp>
      <p:sp>
        <p:nvSpPr>
          <p:cNvPr id="24" name="Schematic bar"/>
          <p:cNvSpPr/>
          <p:nvPr/>
        </p:nvSpPr>
        <p:spPr>
          <a:xfrm>
            <a:off x="2926080" y="3931920"/>
            <a:ext cx="548640" cy="320040"/>
          </a:xfrm>
          <a:prstGeom prst="rect">
            <a:avLst/>
          </a:prstGeom>
          <a:solidFill>
            <a:schemeClr val="accent4"/>
          </a:solidFill>
          <a:ln/>
        </p:spPr>
      </p:sp>
      <p:sp>
        <p:nvSpPr>
          <p:cNvPr id="25" name="Card"/>
          <p:cNvSpPr/>
          <p:nvPr/>
        </p:nvSpPr>
        <p:spPr>
          <a:xfrm>
            <a:off x="4069080" y="2926080"/>
            <a:ext cx="3108960" cy="1417320"/>
          </a:xfrm>
          <a:prstGeom prst="roundRect">
            <a:avLst>
              <a:gd name="adj" fmla="val 5161"/>
            </a:avLst>
          </a:prstGeom>
          <a:solidFill>
            <a:schemeClr val="bg2"/>
          </a:solidFill>
          <a:ln/>
        </p:spPr>
      </p:sp>
      <p:sp>
        <p:nvSpPr>
          <p:cNvPr id="26" name="Text 23"/>
          <p:cNvSpPr txBox="1"/>
          <p:nvPr/>
        </p:nvSpPr>
        <p:spPr>
          <a:xfrm>
            <a:off x="4206240" y="2980944"/>
            <a:ext cx="2743200" cy="256032"/>
          </a:xfrm>
          <a:prstGeom prst="rect">
            <a:avLst/>
          </a:prstGeom>
          <a:noFill/>
          <a:ln/>
        </p:spPr>
        <p:txBody>
          <a:bodyPr wrap="square" lIns="0" tIns="0" rIns="0" bIns="0" rtlCol="0" anchor="t"/>
          <a:lstStyle/>
          <a:p>
            <a:pPr indent="0" marL="0">
              <a:buNone/>
            </a:pPr>
            <a:r>
              <a:rPr lang="en-US" sz="1100" b="1" dirty="0">
                <a:solidFill>
                  <a:schemeClr val="tx2"/>
                </a:solidFill>
              </a:rPr>
              <a:t>Student segments</a:t>
            </a:r>
            <a:endParaRPr lang="en-US" sz="1100" dirty="0"/>
          </a:p>
        </p:txBody>
      </p:sp>
      <p:sp>
        <p:nvSpPr>
          <p:cNvPr id="27" name="Schematic bar"/>
          <p:cNvSpPr/>
          <p:nvPr/>
        </p:nvSpPr>
        <p:spPr>
          <a:xfrm>
            <a:off x="4206240" y="3291840"/>
            <a:ext cx="2194560" cy="155448"/>
          </a:xfrm>
          <a:prstGeom prst="rect">
            <a:avLst/>
          </a:prstGeom>
          <a:solidFill>
            <a:schemeClr val="accent2"/>
          </a:solidFill>
          <a:ln/>
        </p:spPr>
      </p:sp>
      <p:sp>
        <p:nvSpPr>
          <p:cNvPr id="28" name="Schematic bar"/>
          <p:cNvSpPr/>
          <p:nvPr/>
        </p:nvSpPr>
        <p:spPr>
          <a:xfrm>
            <a:off x="4206240" y="3538728"/>
            <a:ext cx="1463040" cy="155448"/>
          </a:xfrm>
          <a:prstGeom prst="rect">
            <a:avLst/>
          </a:prstGeom>
          <a:solidFill>
            <a:schemeClr val="accent1"/>
          </a:solidFill>
          <a:ln/>
        </p:spPr>
      </p:sp>
      <p:sp>
        <p:nvSpPr>
          <p:cNvPr id="29" name="Schematic bar"/>
          <p:cNvSpPr/>
          <p:nvPr/>
        </p:nvSpPr>
        <p:spPr>
          <a:xfrm>
            <a:off x="4206240" y="3785616"/>
            <a:ext cx="1828800" cy="155448"/>
          </a:xfrm>
          <a:prstGeom prst="rect">
            <a:avLst/>
          </a:prstGeom>
          <a:solidFill>
            <a:schemeClr val="tx2"/>
          </a:solidFill>
          <a:ln/>
        </p:spPr>
      </p:sp>
      <p:sp>
        <p:nvSpPr>
          <p:cNvPr id="30" name="Schematic bar"/>
          <p:cNvSpPr/>
          <p:nvPr/>
        </p:nvSpPr>
        <p:spPr>
          <a:xfrm>
            <a:off x="4206240" y="4032504"/>
            <a:ext cx="1097280" cy="155448"/>
          </a:xfrm>
          <a:prstGeom prst="rect">
            <a:avLst/>
          </a:prstGeom>
          <a:solidFill>
            <a:schemeClr val="accent6"/>
          </a:solidFill>
          <a:ln/>
        </p:spPr>
      </p:sp>
      <p:sp>
        <p:nvSpPr>
          <p:cNvPr id="31" name="Card"/>
          <p:cNvSpPr/>
          <p:nvPr/>
        </p:nvSpPr>
        <p:spPr>
          <a:xfrm>
            <a:off x="777240" y="4526280"/>
            <a:ext cx="6400800" cy="1280160"/>
          </a:xfrm>
          <a:prstGeom prst="roundRect">
            <a:avLst>
              <a:gd name="adj" fmla="val 5714"/>
            </a:avLst>
          </a:prstGeom>
          <a:solidFill>
            <a:schemeClr val="bg2"/>
          </a:solidFill>
          <a:ln/>
        </p:spPr>
      </p:sp>
      <p:sp>
        <p:nvSpPr>
          <p:cNvPr id="32" name="Card"/>
          <p:cNvSpPr/>
          <p:nvPr/>
        </p:nvSpPr>
        <p:spPr>
          <a:xfrm>
            <a:off x="914400" y="4617720"/>
            <a:ext cx="2743200" cy="292608"/>
          </a:xfrm>
          <a:prstGeom prst="roundRect">
            <a:avLst>
              <a:gd name="adj" fmla="val 15625"/>
            </a:avLst>
          </a:prstGeom>
          <a:solidFill>
            <a:schemeClr val="bg1"/>
          </a:solidFill>
          <a:ln w="12700">
            <a:solidFill>
              <a:srgbClr val="C9D2E0"/>
            </a:solidFill>
            <a:prstDash val="solid"/>
          </a:ln>
        </p:spPr>
      </p:sp>
      <p:sp>
        <p:nvSpPr>
          <p:cNvPr id="33" name="Text 30"/>
          <p:cNvSpPr txBox="1"/>
          <p:nvPr/>
        </p:nvSpPr>
        <p:spPr>
          <a:xfrm>
            <a:off x="1005840" y="4617720"/>
            <a:ext cx="2560320" cy="292608"/>
          </a:xfrm>
          <a:prstGeom prst="rect">
            <a:avLst/>
          </a:prstGeom>
          <a:noFill/>
          <a:ln/>
        </p:spPr>
        <p:txBody>
          <a:bodyPr wrap="square" lIns="0" tIns="0" rIns="0" bIns="0" rtlCol="0" anchor="ctr"/>
          <a:lstStyle/>
          <a:p>
            <a:pPr indent="0" marL="0">
              <a:buNone/>
            </a:pPr>
            <a:r>
              <a:rPr lang="en-US" sz="1000" dirty="0">
                <a:solidFill>
                  <a:schemeClr val="accent6"/>
                </a:solidFill>
              </a:rPr>
              <a:t>Search by Student ID or name</a:t>
            </a:r>
            <a:endParaRPr lang="en-US" sz="1000" dirty="0"/>
          </a:p>
        </p:txBody>
      </p:sp>
      <p:sp>
        <p:nvSpPr>
          <p:cNvPr id="34" name="Text 31"/>
          <p:cNvSpPr txBox="1"/>
          <p:nvPr/>
        </p:nvSpPr>
        <p:spPr>
          <a:xfrm>
            <a:off x="3840480" y="4617720"/>
            <a:ext cx="1005840" cy="292608"/>
          </a:xfrm>
          <a:prstGeom prst="roundRect">
            <a:avLst>
              <a:gd name="adj" fmla="val 15625"/>
            </a:avLst>
          </a:prstGeom>
          <a:solidFill>
            <a:schemeClr val="accent1"/>
          </a:solidFill>
          <a:ln/>
        </p:spPr>
        <p:txBody>
          <a:bodyPr wrap="square" lIns="508" tIns="508" rIns="508" bIns="508" rtlCol="0" anchor="ctr"/>
          <a:lstStyle/>
          <a:p>
            <a:pPr algn="ctr" indent="0" marL="0">
              <a:buNone/>
            </a:pPr>
            <a:r>
              <a:rPr lang="en-US" sz="1000" b="1" dirty="0">
                <a:solidFill>
                  <a:schemeClr val="bg1"/>
                </a:solidFill>
              </a:rPr>
              <a:t>Risk level</a:t>
            </a:r>
            <a:endParaRPr lang="en-US" sz="1000" dirty="0"/>
          </a:p>
        </p:txBody>
      </p:sp>
      <p:sp>
        <p:nvSpPr>
          <p:cNvPr id="35" name="Text 32"/>
          <p:cNvSpPr txBox="1"/>
          <p:nvPr/>
        </p:nvSpPr>
        <p:spPr>
          <a:xfrm>
            <a:off x="4937760" y="4617720"/>
            <a:ext cx="1097280" cy="292608"/>
          </a:xfrm>
          <a:prstGeom prst="roundRect">
            <a:avLst>
              <a:gd name="adj" fmla="val 15625"/>
            </a:avLst>
          </a:prstGeom>
          <a:solidFill>
            <a:schemeClr val="accent2"/>
          </a:solidFill>
          <a:ln/>
        </p:spPr>
        <p:txBody>
          <a:bodyPr wrap="square" lIns="508" tIns="508" rIns="508" bIns="508" rtlCol="0" anchor="ctr"/>
          <a:lstStyle/>
          <a:p>
            <a:pPr algn="ctr" indent="0" marL="0">
              <a:buNone/>
            </a:pPr>
            <a:r>
              <a:rPr lang="en-US" sz="1000" b="1" dirty="0">
                <a:solidFill>
                  <a:schemeClr val="bg1"/>
                </a:solidFill>
              </a:rPr>
              <a:t>Department</a:t>
            </a:r>
            <a:endParaRPr lang="en-US" sz="1000" dirty="0"/>
          </a:p>
        </p:txBody>
      </p:sp>
      <p:sp>
        <p:nvSpPr>
          <p:cNvPr id="36" name="Card"/>
          <p:cNvSpPr/>
          <p:nvPr/>
        </p:nvSpPr>
        <p:spPr>
          <a:xfrm>
            <a:off x="914400" y="5047488"/>
            <a:ext cx="6126480" cy="128016"/>
          </a:xfrm>
          <a:prstGeom prst="roundRect">
            <a:avLst>
              <a:gd name="adj" fmla="val 28571"/>
            </a:avLst>
          </a:prstGeom>
          <a:solidFill>
            <a:schemeClr val="bg1"/>
          </a:solidFill>
          <a:ln/>
        </p:spPr>
      </p:sp>
      <p:sp>
        <p:nvSpPr>
          <p:cNvPr id="37" name="Card"/>
          <p:cNvSpPr/>
          <p:nvPr/>
        </p:nvSpPr>
        <p:spPr>
          <a:xfrm>
            <a:off x="914400" y="5047488"/>
            <a:ext cx="1097280" cy="128016"/>
          </a:xfrm>
          <a:prstGeom prst="roundRect">
            <a:avLst>
              <a:gd name="adj" fmla="val 28571"/>
            </a:avLst>
          </a:prstGeom>
          <a:solidFill>
            <a:schemeClr val="accent6">
              <a:alpha val="50000"/>
            </a:schemeClr>
          </a:solidFill>
          <a:ln/>
        </p:spPr>
      </p:sp>
      <p:sp>
        <p:nvSpPr>
          <p:cNvPr id="38" name="Card"/>
          <p:cNvSpPr/>
          <p:nvPr/>
        </p:nvSpPr>
        <p:spPr>
          <a:xfrm>
            <a:off x="914400" y="5285232"/>
            <a:ext cx="6126480" cy="128016"/>
          </a:xfrm>
          <a:prstGeom prst="roundRect">
            <a:avLst>
              <a:gd name="adj" fmla="val 28571"/>
            </a:avLst>
          </a:prstGeom>
          <a:solidFill>
            <a:schemeClr val="bg1"/>
          </a:solidFill>
          <a:ln/>
        </p:spPr>
      </p:sp>
      <p:sp>
        <p:nvSpPr>
          <p:cNvPr id="39" name="Card"/>
          <p:cNvSpPr/>
          <p:nvPr/>
        </p:nvSpPr>
        <p:spPr>
          <a:xfrm>
            <a:off x="914400" y="5285232"/>
            <a:ext cx="1097280" cy="128016"/>
          </a:xfrm>
          <a:prstGeom prst="roundRect">
            <a:avLst>
              <a:gd name="adj" fmla="val 28571"/>
            </a:avLst>
          </a:prstGeom>
          <a:solidFill>
            <a:schemeClr val="accent6">
              <a:alpha val="50000"/>
            </a:schemeClr>
          </a:solidFill>
          <a:ln/>
        </p:spPr>
      </p:sp>
      <p:sp>
        <p:nvSpPr>
          <p:cNvPr id="40" name="Card"/>
          <p:cNvSpPr/>
          <p:nvPr/>
        </p:nvSpPr>
        <p:spPr>
          <a:xfrm>
            <a:off x="914400" y="5522976"/>
            <a:ext cx="6126480" cy="128016"/>
          </a:xfrm>
          <a:prstGeom prst="roundRect">
            <a:avLst>
              <a:gd name="adj" fmla="val 28571"/>
            </a:avLst>
          </a:prstGeom>
          <a:solidFill>
            <a:schemeClr val="bg1"/>
          </a:solidFill>
          <a:ln/>
        </p:spPr>
      </p:sp>
      <p:sp>
        <p:nvSpPr>
          <p:cNvPr id="41" name="Card"/>
          <p:cNvSpPr/>
          <p:nvPr/>
        </p:nvSpPr>
        <p:spPr>
          <a:xfrm>
            <a:off x="914400" y="5522976"/>
            <a:ext cx="1097280" cy="128016"/>
          </a:xfrm>
          <a:prstGeom prst="roundRect">
            <a:avLst>
              <a:gd name="adj" fmla="val 28571"/>
            </a:avLst>
          </a:prstGeom>
          <a:solidFill>
            <a:schemeClr val="accent6">
              <a:alpha val="50000"/>
            </a:schemeClr>
          </a:solidFill>
          <a:ln/>
        </p:spPr>
      </p:sp>
      <p:sp>
        <p:nvSpPr>
          <p:cNvPr id="42" name="Text 39"/>
          <p:cNvSpPr txBox="1"/>
          <p:nvPr/>
        </p:nvSpPr>
        <p:spPr>
          <a:xfrm>
            <a:off x="548640" y="6035040"/>
            <a:ext cx="6858000" cy="256032"/>
          </a:xfrm>
          <a:prstGeom prst="rect">
            <a:avLst/>
          </a:prstGeom>
          <a:noFill/>
          <a:ln/>
        </p:spPr>
        <p:txBody>
          <a:bodyPr wrap="square" lIns="0" tIns="0" rIns="0" bIns="0" rtlCol="0" anchor="t"/>
          <a:lstStyle/>
          <a:p>
            <a:pPr indent="0" marL="0">
              <a:buNone/>
            </a:pPr>
            <a:r>
              <a:rPr lang="en-US" sz="1100" i="1" dirty="0">
                <a:solidFill>
                  <a:schemeClr val="accent6"/>
                </a:solidFill>
              </a:rPr>
              <a:t>Schematic of the dashboard layout, not real data</a:t>
            </a:r>
            <a:endParaRPr lang="en-US" sz="1100" dirty="0"/>
          </a:p>
        </p:txBody>
      </p:sp>
      <p:sp>
        <p:nvSpPr>
          <p:cNvPr id="43" name="Text 40"/>
          <p:cNvSpPr txBox="1"/>
          <p:nvPr/>
        </p:nvSpPr>
        <p:spPr>
          <a:xfrm>
            <a:off x="7818120" y="146304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USER JOURNEY</a:t>
            </a:r>
            <a:endParaRPr lang="en-US" sz="1200" dirty="0"/>
          </a:p>
        </p:txBody>
      </p:sp>
      <p:sp>
        <p:nvSpPr>
          <p:cNvPr id="44" name="Connector"/>
          <p:cNvSpPr/>
          <p:nvPr/>
        </p:nvSpPr>
        <p:spPr>
          <a:xfrm>
            <a:off x="8092440" y="2331720"/>
            <a:ext cx="0" cy="256032"/>
          </a:xfrm>
          <a:prstGeom prst="line">
            <a:avLst/>
          </a:prstGeom>
          <a:noFill/>
          <a:ln w="15875">
            <a:solidFill>
              <a:schemeClr val="accent6"/>
            </a:solidFill>
            <a:prstDash val="solid"/>
          </a:ln>
        </p:spPr>
      </p:sp>
      <p:sp>
        <p:nvSpPr>
          <p:cNvPr id="45" name="Text 42"/>
          <p:cNvSpPr txBox="1"/>
          <p:nvPr/>
        </p:nvSpPr>
        <p:spPr>
          <a:xfrm>
            <a:off x="7818120" y="1874520"/>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46" name="Text 43"/>
          <p:cNvSpPr txBox="1"/>
          <p:nvPr/>
        </p:nvSpPr>
        <p:spPr>
          <a:xfrm>
            <a:off x="8503920" y="1874520"/>
            <a:ext cx="3108960" cy="457200"/>
          </a:xfrm>
          <a:prstGeom prst="rect">
            <a:avLst/>
          </a:prstGeom>
          <a:noFill/>
          <a:ln/>
        </p:spPr>
        <p:txBody>
          <a:bodyPr wrap="square" lIns="0" tIns="0" rIns="0" bIns="0" rtlCol="0" anchor="ctr"/>
          <a:lstStyle/>
          <a:p>
            <a:pPr indent="0" marL="0">
              <a:buNone/>
            </a:pPr>
            <a:r>
              <a:rPr lang="en-US" sz="1500" b="1" dirty="0">
                <a:solidFill>
                  <a:schemeClr val="tx2"/>
                </a:solidFill>
              </a:rPr>
              <a:t>Review the overall campus picture</a:t>
            </a:r>
            <a:endParaRPr lang="en-US" sz="1500" dirty="0"/>
          </a:p>
        </p:txBody>
      </p:sp>
      <p:sp>
        <p:nvSpPr>
          <p:cNvPr id="47" name="Connector"/>
          <p:cNvSpPr/>
          <p:nvPr/>
        </p:nvSpPr>
        <p:spPr>
          <a:xfrm>
            <a:off x="8092440" y="3044952"/>
            <a:ext cx="0" cy="256032"/>
          </a:xfrm>
          <a:prstGeom prst="line">
            <a:avLst/>
          </a:prstGeom>
          <a:noFill/>
          <a:ln w="15875">
            <a:solidFill>
              <a:schemeClr val="accent6"/>
            </a:solidFill>
            <a:prstDash val="solid"/>
          </a:ln>
        </p:spPr>
      </p:sp>
      <p:sp>
        <p:nvSpPr>
          <p:cNvPr id="48" name="Text 45"/>
          <p:cNvSpPr txBox="1"/>
          <p:nvPr/>
        </p:nvSpPr>
        <p:spPr>
          <a:xfrm>
            <a:off x="7818120" y="2587752"/>
            <a:ext cx="457200" cy="45720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49" name="Text 46"/>
          <p:cNvSpPr txBox="1"/>
          <p:nvPr/>
        </p:nvSpPr>
        <p:spPr>
          <a:xfrm>
            <a:off x="8503920" y="2587752"/>
            <a:ext cx="3108960" cy="457200"/>
          </a:xfrm>
          <a:prstGeom prst="rect">
            <a:avLst/>
          </a:prstGeom>
          <a:noFill/>
          <a:ln/>
        </p:spPr>
        <p:txBody>
          <a:bodyPr wrap="square" lIns="0" tIns="0" rIns="0" bIns="0" rtlCol="0" anchor="ctr"/>
          <a:lstStyle/>
          <a:p>
            <a:pPr indent="0" marL="0">
              <a:buNone/>
            </a:pPr>
            <a:r>
              <a:rPr lang="en-US" sz="1500" b="1" dirty="0">
                <a:solidFill>
                  <a:schemeClr val="tx2"/>
                </a:solidFill>
              </a:rPr>
              <a:t>Filter the student population</a:t>
            </a:r>
            <a:endParaRPr lang="en-US" sz="1500" dirty="0"/>
          </a:p>
        </p:txBody>
      </p:sp>
      <p:sp>
        <p:nvSpPr>
          <p:cNvPr id="50" name="Connector"/>
          <p:cNvSpPr/>
          <p:nvPr/>
        </p:nvSpPr>
        <p:spPr>
          <a:xfrm>
            <a:off x="8092440" y="3758184"/>
            <a:ext cx="0" cy="256032"/>
          </a:xfrm>
          <a:prstGeom prst="line">
            <a:avLst/>
          </a:prstGeom>
          <a:noFill/>
          <a:ln w="15875">
            <a:solidFill>
              <a:schemeClr val="accent6"/>
            </a:solidFill>
            <a:prstDash val="solid"/>
          </a:ln>
        </p:spPr>
      </p:sp>
      <p:sp>
        <p:nvSpPr>
          <p:cNvPr id="51" name="Text 48"/>
          <p:cNvSpPr txBox="1"/>
          <p:nvPr/>
        </p:nvSpPr>
        <p:spPr>
          <a:xfrm>
            <a:off x="7818120" y="3300984"/>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52" name="Text 49"/>
          <p:cNvSpPr txBox="1"/>
          <p:nvPr/>
        </p:nvSpPr>
        <p:spPr>
          <a:xfrm>
            <a:off x="8503920" y="3300984"/>
            <a:ext cx="3108960" cy="457200"/>
          </a:xfrm>
          <a:prstGeom prst="rect">
            <a:avLst/>
          </a:prstGeom>
          <a:noFill/>
          <a:ln/>
        </p:spPr>
        <p:txBody>
          <a:bodyPr wrap="square" lIns="0" tIns="0" rIns="0" bIns="0" rtlCol="0" anchor="ctr"/>
          <a:lstStyle/>
          <a:p>
            <a:pPr indent="0" marL="0">
              <a:buNone/>
            </a:pPr>
            <a:r>
              <a:rPr lang="en-US" sz="1500" b="1" dirty="0">
                <a:solidFill>
                  <a:schemeClr val="tx2"/>
                </a:solidFill>
              </a:rPr>
              <a:t>Open an individual profile</a:t>
            </a:r>
            <a:endParaRPr lang="en-US" sz="1500" dirty="0"/>
          </a:p>
        </p:txBody>
      </p:sp>
      <p:sp>
        <p:nvSpPr>
          <p:cNvPr id="53" name="Connector"/>
          <p:cNvSpPr/>
          <p:nvPr/>
        </p:nvSpPr>
        <p:spPr>
          <a:xfrm>
            <a:off x="8092440" y="4471416"/>
            <a:ext cx="0" cy="256032"/>
          </a:xfrm>
          <a:prstGeom prst="line">
            <a:avLst/>
          </a:prstGeom>
          <a:noFill/>
          <a:ln w="15875">
            <a:solidFill>
              <a:schemeClr val="accent6"/>
            </a:solidFill>
            <a:prstDash val="solid"/>
          </a:ln>
        </p:spPr>
      </p:sp>
      <p:sp>
        <p:nvSpPr>
          <p:cNvPr id="54" name="Text 51"/>
          <p:cNvSpPr txBox="1"/>
          <p:nvPr/>
        </p:nvSpPr>
        <p:spPr>
          <a:xfrm>
            <a:off x="7818120" y="4014216"/>
            <a:ext cx="457200" cy="45720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55" name="Text 52"/>
          <p:cNvSpPr txBox="1"/>
          <p:nvPr/>
        </p:nvSpPr>
        <p:spPr>
          <a:xfrm>
            <a:off x="8503920" y="4014216"/>
            <a:ext cx="3108960" cy="457200"/>
          </a:xfrm>
          <a:prstGeom prst="rect">
            <a:avLst/>
          </a:prstGeom>
          <a:noFill/>
          <a:ln/>
        </p:spPr>
        <p:txBody>
          <a:bodyPr wrap="square" lIns="0" tIns="0" rIns="0" bIns="0" rtlCol="0" anchor="ctr"/>
          <a:lstStyle/>
          <a:p>
            <a:pPr indent="0" marL="0">
              <a:buNone/>
            </a:pPr>
            <a:r>
              <a:rPr lang="en-US" sz="1500" b="1" dirty="0">
                <a:solidFill>
                  <a:schemeClr val="tx2"/>
                </a:solidFill>
              </a:rPr>
              <a:t>Understand risk drivers</a:t>
            </a:r>
            <a:endParaRPr lang="en-US" sz="1500" dirty="0"/>
          </a:p>
        </p:txBody>
      </p:sp>
      <p:sp>
        <p:nvSpPr>
          <p:cNvPr id="56" name="Text 53"/>
          <p:cNvSpPr txBox="1"/>
          <p:nvPr/>
        </p:nvSpPr>
        <p:spPr>
          <a:xfrm>
            <a:off x="7818120" y="4727448"/>
            <a:ext cx="457200" cy="45720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57" name="Text 54"/>
          <p:cNvSpPr txBox="1"/>
          <p:nvPr/>
        </p:nvSpPr>
        <p:spPr>
          <a:xfrm>
            <a:off x="8503920" y="4727448"/>
            <a:ext cx="3108960" cy="457200"/>
          </a:xfrm>
          <a:prstGeom prst="rect">
            <a:avLst/>
          </a:prstGeom>
          <a:noFill/>
          <a:ln/>
        </p:spPr>
        <p:txBody>
          <a:bodyPr wrap="square" lIns="0" tIns="0" rIns="0" bIns="0" rtlCol="0" anchor="ctr"/>
          <a:lstStyle/>
          <a:p>
            <a:pPr indent="0" marL="0">
              <a:buNone/>
            </a:pPr>
            <a:r>
              <a:rPr lang="en-US" sz="1500" b="1" dirty="0">
                <a:solidFill>
                  <a:schemeClr val="tx2"/>
                </a:solidFill>
              </a:rPr>
              <a:t>Review recommended interventions</a:t>
            </a:r>
            <a:endParaRPr lang="en-US" sz="1500" dirty="0"/>
          </a:p>
        </p:txBody>
      </p:sp>
      <p:sp>
        <p:nvSpPr>
          <p:cNvPr id="58" name="Card"/>
          <p:cNvSpPr/>
          <p:nvPr/>
        </p:nvSpPr>
        <p:spPr>
          <a:xfrm>
            <a:off x="7818120" y="5486400"/>
            <a:ext cx="3822192" cy="502920"/>
          </a:xfrm>
          <a:prstGeom prst="roundRect">
            <a:avLst>
              <a:gd name="adj" fmla="val 14545"/>
            </a:avLst>
          </a:prstGeom>
          <a:solidFill>
            <a:schemeClr val="bg2"/>
          </a:solidFill>
          <a:ln/>
        </p:spPr>
      </p:sp>
      <p:sp>
        <p:nvSpPr>
          <p:cNvPr id="59" name="Text 56"/>
          <p:cNvSpPr txBox="1"/>
          <p:nvPr/>
        </p:nvSpPr>
        <p:spPr>
          <a:xfrm>
            <a:off x="7955280" y="5486400"/>
            <a:ext cx="3566160" cy="502920"/>
          </a:xfrm>
          <a:prstGeom prst="rect">
            <a:avLst/>
          </a:prstGeom>
          <a:noFill/>
          <a:ln/>
        </p:spPr>
        <p:txBody>
          <a:bodyPr wrap="square" lIns="0" tIns="0" rIns="0" bIns="0" rtlCol="0" anchor="ctr"/>
          <a:lstStyle/>
          <a:p>
            <a:pPr indent="0" marL="0">
              <a:buNone/>
            </a:pPr>
            <a:r>
              <a:rPr lang="en-US" sz="1200" dirty="0">
                <a:solidFill>
                  <a:schemeClr val="tx1"/>
                </a:solidFill>
              </a:rPr>
              <a:t>Includes Student 360° and placement-unprepared views</a:t>
            </a:r>
            <a:endParaRPr lang="en-US" sz="12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How EduPulse AI works: system architecture</a:t>
            </a:r>
            <a:endParaRPr lang="en-US" sz="3000" dirty="0"/>
          </a:p>
        </p:txBody>
      </p:sp>
      <p:sp>
        <p:nvSpPr>
          <p:cNvPr id="5" name="Card"/>
          <p:cNvSpPr/>
          <p:nvPr/>
        </p:nvSpPr>
        <p:spPr>
          <a:xfrm>
            <a:off x="548640" y="1463040"/>
            <a:ext cx="2011680" cy="822960"/>
          </a:xfrm>
          <a:prstGeom prst="roundRect">
            <a:avLst>
              <a:gd name="adj" fmla="val 8889"/>
            </a:avLst>
          </a:prstGeom>
          <a:solidFill>
            <a:schemeClr val="accent1"/>
          </a:solidFill>
          <a:ln/>
        </p:spPr>
      </p:sp>
      <p:sp>
        <p:nvSpPr>
          <p:cNvPr id="6" name="Text 3"/>
          <p:cNvSpPr txBox="1"/>
          <p:nvPr/>
        </p:nvSpPr>
        <p:spPr>
          <a:xfrm>
            <a:off x="548640" y="1463040"/>
            <a:ext cx="2011680" cy="822960"/>
          </a:xfrm>
          <a:prstGeom prst="rect">
            <a:avLst/>
          </a:prstGeom>
          <a:noFill/>
          <a:ln/>
        </p:spPr>
        <p:txBody>
          <a:bodyPr wrap="square" lIns="0" tIns="0" rIns="0" bIns="0" rtlCol="0" anchor="ctr"/>
          <a:lstStyle/>
          <a:p>
            <a:pPr algn="ctr" indent="0" marL="0">
              <a:buNone/>
            </a:pPr>
            <a:r>
              <a:rPr lang="en-US" sz="1700" b="1" dirty="0">
                <a:solidFill>
                  <a:schemeClr val="bg1"/>
                </a:solidFill>
              </a:rPr>
              <a:t>Presentation</a:t>
            </a:r>
            <a:endParaRPr lang="en-US" sz="1700" dirty="0"/>
          </a:p>
        </p:txBody>
      </p:sp>
      <p:sp>
        <p:nvSpPr>
          <p:cNvPr id="7" name="Card"/>
          <p:cNvSpPr/>
          <p:nvPr/>
        </p:nvSpPr>
        <p:spPr>
          <a:xfrm>
            <a:off x="2697480" y="1463040"/>
            <a:ext cx="2153412" cy="822960"/>
          </a:xfrm>
          <a:prstGeom prst="roundRect">
            <a:avLst>
              <a:gd name="adj" fmla="val 8889"/>
            </a:avLst>
          </a:prstGeom>
          <a:solidFill>
            <a:schemeClr val="accent1">
              <a:alpha val="12000"/>
            </a:schemeClr>
          </a:solidFill>
          <a:ln/>
        </p:spPr>
      </p:sp>
      <p:sp>
        <p:nvSpPr>
          <p:cNvPr id="8" name="Text 5"/>
          <p:cNvSpPr txBox="1"/>
          <p:nvPr/>
        </p:nvSpPr>
        <p:spPr>
          <a:xfrm>
            <a:off x="2788920" y="14630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HTML &amp; CSS</a:t>
            </a:r>
            <a:endParaRPr lang="en-US" sz="1300" dirty="0"/>
          </a:p>
        </p:txBody>
      </p:sp>
      <p:sp>
        <p:nvSpPr>
          <p:cNvPr id="9" name="Card"/>
          <p:cNvSpPr/>
          <p:nvPr/>
        </p:nvSpPr>
        <p:spPr>
          <a:xfrm>
            <a:off x="4960620" y="1463040"/>
            <a:ext cx="2153412" cy="822960"/>
          </a:xfrm>
          <a:prstGeom prst="roundRect">
            <a:avLst>
              <a:gd name="adj" fmla="val 8889"/>
            </a:avLst>
          </a:prstGeom>
          <a:solidFill>
            <a:schemeClr val="accent1">
              <a:alpha val="12000"/>
            </a:schemeClr>
          </a:solidFill>
          <a:ln/>
        </p:spPr>
      </p:sp>
      <p:sp>
        <p:nvSpPr>
          <p:cNvPr id="10" name="Text 7"/>
          <p:cNvSpPr txBox="1"/>
          <p:nvPr/>
        </p:nvSpPr>
        <p:spPr>
          <a:xfrm>
            <a:off x="5052060" y="14630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JavaScript</a:t>
            </a:r>
            <a:endParaRPr lang="en-US" sz="1300" dirty="0"/>
          </a:p>
        </p:txBody>
      </p:sp>
      <p:sp>
        <p:nvSpPr>
          <p:cNvPr id="11" name="Card"/>
          <p:cNvSpPr/>
          <p:nvPr/>
        </p:nvSpPr>
        <p:spPr>
          <a:xfrm>
            <a:off x="7223760" y="1463040"/>
            <a:ext cx="2153412" cy="822960"/>
          </a:xfrm>
          <a:prstGeom prst="roundRect">
            <a:avLst>
              <a:gd name="adj" fmla="val 8889"/>
            </a:avLst>
          </a:prstGeom>
          <a:solidFill>
            <a:schemeClr val="accent1">
              <a:alpha val="12000"/>
            </a:schemeClr>
          </a:solidFill>
          <a:ln/>
        </p:spPr>
      </p:sp>
      <p:sp>
        <p:nvSpPr>
          <p:cNvPr id="12" name="Text 9"/>
          <p:cNvSpPr txBox="1"/>
          <p:nvPr/>
        </p:nvSpPr>
        <p:spPr>
          <a:xfrm>
            <a:off x="7315200" y="14630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Chart.js charts</a:t>
            </a:r>
            <a:endParaRPr lang="en-US" sz="1300" dirty="0"/>
          </a:p>
        </p:txBody>
      </p:sp>
      <p:sp>
        <p:nvSpPr>
          <p:cNvPr id="13" name="Card"/>
          <p:cNvSpPr/>
          <p:nvPr/>
        </p:nvSpPr>
        <p:spPr>
          <a:xfrm>
            <a:off x="9486900" y="1463040"/>
            <a:ext cx="2153412" cy="822960"/>
          </a:xfrm>
          <a:prstGeom prst="roundRect">
            <a:avLst>
              <a:gd name="adj" fmla="val 8889"/>
            </a:avLst>
          </a:prstGeom>
          <a:solidFill>
            <a:schemeClr val="accent1">
              <a:alpha val="12000"/>
            </a:schemeClr>
          </a:solidFill>
          <a:ln/>
        </p:spPr>
      </p:sp>
      <p:sp>
        <p:nvSpPr>
          <p:cNvPr id="14" name="Text 11"/>
          <p:cNvSpPr txBox="1"/>
          <p:nvPr/>
        </p:nvSpPr>
        <p:spPr>
          <a:xfrm>
            <a:off x="9578340" y="14630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Management &amp; student pages</a:t>
            </a:r>
            <a:endParaRPr lang="en-US" sz="1300" dirty="0"/>
          </a:p>
        </p:txBody>
      </p:sp>
      <p:sp>
        <p:nvSpPr>
          <p:cNvPr id="15" name="Card"/>
          <p:cNvSpPr/>
          <p:nvPr/>
        </p:nvSpPr>
        <p:spPr>
          <a:xfrm>
            <a:off x="548640" y="2377440"/>
            <a:ext cx="2011680" cy="822960"/>
          </a:xfrm>
          <a:prstGeom prst="roundRect">
            <a:avLst>
              <a:gd name="adj" fmla="val 8889"/>
            </a:avLst>
          </a:prstGeom>
          <a:solidFill>
            <a:schemeClr val="accent2"/>
          </a:solidFill>
          <a:ln/>
        </p:spPr>
      </p:sp>
      <p:sp>
        <p:nvSpPr>
          <p:cNvPr id="16" name="Text 13"/>
          <p:cNvSpPr txBox="1"/>
          <p:nvPr/>
        </p:nvSpPr>
        <p:spPr>
          <a:xfrm>
            <a:off x="548640" y="2377440"/>
            <a:ext cx="2011680" cy="822960"/>
          </a:xfrm>
          <a:prstGeom prst="rect">
            <a:avLst/>
          </a:prstGeom>
          <a:noFill/>
          <a:ln/>
        </p:spPr>
        <p:txBody>
          <a:bodyPr wrap="square" lIns="0" tIns="0" rIns="0" bIns="0" rtlCol="0" anchor="ctr"/>
          <a:lstStyle/>
          <a:p>
            <a:pPr algn="ctr" indent="0" marL="0">
              <a:buNone/>
            </a:pPr>
            <a:r>
              <a:rPr lang="en-US" sz="1700" b="1" dirty="0">
                <a:solidFill>
                  <a:schemeClr val="bg1"/>
                </a:solidFill>
              </a:rPr>
              <a:t>Application</a:t>
            </a:r>
            <a:endParaRPr lang="en-US" sz="1700" dirty="0"/>
          </a:p>
        </p:txBody>
      </p:sp>
      <p:sp>
        <p:nvSpPr>
          <p:cNvPr id="17" name="Card"/>
          <p:cNvSpPr/>
          <p:nvPr/>
        </p:nvSpPr>
        <p:spPr>
          <a:xfrm>
            <a:off x="2697480" y="2377440"/>
            <a:ext cx="2153412" cy="822960"/>
          </a:xfrm>
          <a:prstGeom prst="roundRect">
            <a:avLst>
              <a:gd name="adj" fmla="val 8889"/>
            </a:avLst>
          </a:prstGeom>
          <a:solidFill>
            <a:schemeClr val="accent2">
              <a:alpha val="12000"/>
            </a:schemeClr>
          </a:solidFill>
          <a:ln/>
        </p:spPr>
      </p:sp>
      <p:sp>
        <p:nvSpPr>
          <p:cNvPr id="18" name="Text 15"/>
          <p:cNvSpPr txBox="1"/>
          <p:nvPr/>
        </p:nvSpPr>
        <p:spPr>
          <a:xfrm>
            <a:off x="2788920" y="23774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Flask backend</a:t>
            </a:r>
            <a:endParaRPr lang="en-US" sz="1300" dirty="0"/>
          </a:p>
        </p:txBody>
      </p:sp>
      <p:sp>
        <p:nvSpPr>
          <p:cNvPr id="19" name="Card"/>
          <p:cNvSpPr/>
          <p:nvPr/>
        </p:nvSpPr>
        <p:spPr>
          <a:xfrm>
            <a:off x="4960620" y="2377440"/>
            <a:ext cx="2153412" cy="822960"/>
          </a:xfrm>
          <a:prstGeom prst="roundRect">
            <a:avLst>
              <a:gd name="adj" fmla="val 8889"/>
            </a:avLst>
          </a:prstGeom>
          <a:solidFill>
            <a:schemeClr val="accent2">
              <a:alpha val="12000"/>
            </a:schemeClr>
          </a:solidFill>
          <a:ln/>
        </p:spPr>
      </p:sp>
      <p:sp>
        <p:nvSpPr>
          <p:cNvPr id="20" name="Text 17"/>
          <p:cNvSpPr txBox="1"/>
          <p:nvPr/>
        </p:nvSpPr>
        <p:spPr>
          <a:xfrm>
            <a:off x="5052060" y="23774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REST API endpoints</a:t>
            </a:r>
            <a:endParaRPr lang="en-US" sz="1300" dirty="0"/>
          </a:p>
        </p:txBody>
      </p:sp>
      <p:sp>
        <p:nvSpPr>
          <p:cNvPr id="21" name="Card"/>
          <p:cNvSpPr/>
          <p:nvPr/>
        </p:nvSpPr>
        <p:spPr>
          <a:xfrm>
            <a:off x="7223760" y="2377440"/>
            <a:ext cx="2153412" cy="822960"/>
          </a:xfrm>
          <a:prstGeom prst="roundRect">
            <a:avLst>
              <a:gd name="adj" fmla="val 8889"/>
            </a:avLst>
          </a:prstGeom>
          <a:solidFill>
            <a:schemeClr val="accent2">
              <a:alpha val="12000"/>
            </a:schemeClr>
          </a:solidFill>
          <a:ln/>
        </p:spPr>
      </p:sp>
      <p:sp>
        <p:nvSpPr>
          <p:cNvPr id="22" name="Text 19"/>
          <p:cNvSpPr txBox="1"/>
          <p:nvPr/>
        </p:nvSpPr>
        <p:spPr>
          <a:xfrm>
            <a:off x="7315200" y="23774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Role-based auth &amp; sessions</a:t>
            </a:r>
            <a:endParaRPr lang="en-US" sz="1300" dirty="0"/>
          </a:p>
        </p:txBody>
      </p:sp>
      <p:sp>
        <p:nvSpPr>
          <p:cNvPr id="23" name="Card"/>
          <p:cNvSpPr/>
          <p:nvPr/>
        </p:nvSpPr>
        <p:spPr>
          <a:xfrm>
            <a:off x="9486900" y="2377440"/>
            <a:ext cx="2153412" cy="822960"/>
          </a:xfrm>
          <a:prstGeom prst="roundRect">
            <a:avLst>
              <a:gd name="adj" fmla="val 8889"/>
            </a:avLst>
          </a:prstGeom>
          <a:solidFill>
            <a:schemeClr val="accent2">
              <a:alpha val="12000"/>
            </a:schemeClr>
          </a:solidFill>
          <a:ln/>
        </p:spPr>
      </p:sp>
      <p:sp>
        <p:nvSpPr>
          <p:cNvPr id="24" name="Text 21"/>
          <p:cNvSpPr txBox="1"/>
          <p:nvPr/>
        </p:nvSpPr>
        <p:spPr>
          <a:xfrm>
            <a:off x="9578340" y="2377440"/>
            <a:ext cx="1970532" cy="822960"/>
          </a:xfrm>
          <a:prstGeom prst="rect">
            <a:avLst/>
          </a:prstGeom>
          <a:noFill/>
          <a:ln/>
        </p:spPr>
        <p:txBody>
          <a:bodyPr wrap="square" lIns="0" tIns="0" rIns="0" bIns="0" rtlCol="0" anchor="ctr"/>
          <a:lstStyle/>
          <a:p>
            <a:pPr algn="ctr" indent="0" marL="0">
              <a:buNone/>
            </a:pPr>
            <a:r>
              <a:rPr lang="en-US" sz="1300" b="1" dirty="0">
                <a:solidFill>
                  <a:schemeClr val="tx2"/>
                </a:solidFill>
              </a:rPr>
              <a:t>SQLite auth database</a:t>
            </a:r>
            <a:endParaRPr lang="en-US" sz="1300" dirty="0"/>
          </a:p>
        </p:txBody>
      </p:sp>
      <p:sp>
        <p:nvSpPr>
          <p:cNvPr id="25" name="Card"/>
          <p:cNvSpPr/>
          <p:nvPr/>
        </p:nvSpPr>
        <p:spPr>
          <a:xfrm>
            <a:off x="548640" y="3291840"/>
            <a:ext cx="2011680" cy="822960"/>
          </a:xfrm>
          <a:prstGeom prst="roundRect">
            <a:avLst>
              <a:gd name="adj" fmla="val 8889"/>
            </a:avLst>
          </a:prstGeom>
          <a:solidFill>
            <a:schemeClr val="tx2"/>
          </a:solidFill>
          <a:ln/>
        </p:spPr>
      </p:sp>
      <p:sp>
        <p:nvSpPr>
          <p:cNvPr id="26" name="Text 23"/>
          <p:cNvSpPr txBox="1"/>
          <p:nvPr/>
        </p:nvSpPr>
        <p:spPr>
          <a:xfrm>
            <a:off x="548640" y="3291840"/>
            <a:ext cx="2011680" cy="822960"/>
          </a:xfrm>
          <a:prstGeom prst="rect">
            <a:avLst/>
          </a:prstGeom>
          <a:noFill/>
          <a:ln/>
        </p:spPr>
        <p:txBody>
          <a:bodyPr wrap="square" lIns="0" tIns="0" rIns="0" bIns="0" rtlCol="0" anchor="ctr"/>
          <a:lstStyle/>
          <a:p>
            <a:pPr algn="ctr" indent="0" marL="0">
              <a:buNone/>
            </a:pPr>
            <a:r>
              <a:rPr lang="en-US" sz="1700" b="1" dirty="0">
                <a:solidFill>
                  <a:schemeClr val="bg1"/>
                </a:solidFill>
              </a:rPr>
              <a:t>Analytics</a:t>
            </a:r>
            <a:endParaRPr lang="en-US" sz="1700" dirty="0"/>
          </a:p>
        </p:txBody>
      </p:sp>
      <p:sp>
        <p:nvSpPr>
          <p:cNvPr id="27" name="Card"/>
          <p:cNvSpPr/>
          <p:nvPr/>
        </p:nvSpPr>
        <p:spPr>
          <a:xfrm>
            <a:off x="2697480" y="3291840"/>
            <a:ext cx="1700784" cy="822960"/>
          </a:xfrm>
          <a:prstGeom prst="roundRect">
            <a:avLst>
              <a:gd name="adj" fmla="val 8889"/>
            </a:avLst>
          </a:prstGeom>
          <a:solidFill>
            <a:schemeClr val="tx2">
              <a:alpha val="12000"/>
            </a:schemeClr>
          </a:solidFill>
          <a:ln/>
        </p:spPr>
      </p:sp>
      <p:sp>
        <p:nvSpPr>
          <p:cNvPr id="28" name="Text 25"/>
          <p:cNvSpPr txBox="1"/>
          <p:nvPr/>
        </p:nvSpPr>
        <p:spPr>
          <a:xfrm>
            <a:off x="2788920" y="3291840"/>
            <a:ext cx="1517904" cy="822960"/>
          </a:xfrm>
          <a:prstGeom prst="rect">
            <a:avLst/>
          </a:prstGeom>
          <a:noFill/>
          <a:ln/>
        </p:spPr>
        <p:txBody>
          <a:bodyPr wrap="square" lIns="0" tIns="0" rIns="0" bIns="0" rtlCol="0" anchor="ctr"/>
          <a:lstStyle/>
          <a:p>
            <a:pPr algn="ctr" indent="0" marL="0">
              <a:buNone/>
            </a:pPr>
            <a:r>
              <a:rPr lang="en-US" sz="1300" b="1" dirty="0">
                <a:solidFill>
                  <a:schemeClr val="tx2"/>
                </a:solidFill>
              </a:rPr>
              <a:t>Pandas &amp; NumPy</a:t>
            </a:r>
            <a:endParaRPr lang="en-US" sz="1300" dirty="0"/>
          </a:p>
        </p:txBody>
      </p:sp>
      <p:sp>
        <p:nvSpPr>
          <p:cNvPr id="29" name="Card"/>
          <p:cNvSpPr/>
          <p:nvPr/>
        </p:nvSpPr>
        <p:spPr>
          <a:xfrm>
            <a:off x="4507992" y="3291840"/>
            <a:ext cx="1700784" cy="822960"/>
          </a:xfrm>
          <a:prstGeom prst="roundRect">
            <a:avLst>
              <a:gd name="adj" fmla="val 8889"/>
            </a:avLst>
          </a:prstGeom>
          <a:solidFill>
            <a:schemeClr val="tx2">
              <a:alpha val="12000"/>
            </a:schemeClr>
          </a:solidFill>
          <a:ln/>
        </p:spPr>
      </p:sp>
      <p:sp>
        <p:nvSpPr>
          <p:cNvPr id="30" name="Text 27"/>
          <p:cNvSpPr txBox="1"/>
          <p:nvPr/>
        </p:nvSpPr>
        <p:spPr>
          <a:xfrm>
            <a:off x="4599432" y="3291840"/>
            <a:ext cx="1517904" cy="822960"/>
          </a:xfrm>
          <a:prstGeom prst="rect">
            <a:avLst/>
          </a:prstGeom>
          <a:noFill/>
          <a:ln/>
        </p:spPr>
        <p:txBody>
          <a:bodyPr wrap="square" lIns="0" tIns="0" rIns="0" bIns="0" rtlCol="0" anchor="ctr"/>
          <a:lstStyle/>
          <a:p>
            <a:pPr algn="ctr" indent="0" marL="0">
              <a:buNone/>
            </a:pPr>
            <a:r>
              <a:rPr lang="en-US" sz="1300" b="1" dirty="0">
                <a:solidFill>
                  <a:schemeClr val="tx2"/>
                </a:solidFill>
              </a:rPr>
              <a:t>Weighted Success Score</a:t>
            </a:r>
            <a:endParaRPr lang="en-US" sz="1300" dirty="0"/>
          </a:p>
        </p:txBody>
      </p:sp>
      <p:sp>
        <p:nvSpPr>
          <p:cNvPr id="31" name="Card"/>
          <p:cNvSpPr/>
          <p:nvPr/>
        </p:nvSpPr>
        <p:spPr>
          <a:xfrm>
            <a:off x="6318504" y="3291840"/>
            <a:ext cx="1700784" cy="822960"/>
          </a:xfrm>
          <a:prstGeom prst="roundRect">
            <a:avLst>
              <a:gd name="adj" fmla="val 8889"/>
            </a:avLst>
          </a:prstGeom>
          <a:solidFill>
            <a:schemeClr val="tx2">
              <a:alpha val="12000"/>
            </a:schemeClr>
          </a:solidFill>
          <a:ln/>
        </p:spPr>
      </p:sp>
      <p:sp>
        <p:nvSpPr>
          <p:cNvPr id="32" name="Text 29"/>
          <p:cNvSpPr txBox="1"/>
          <p:nvPr/>
        </p:nvSpPr>
        <p:spPr>
          <a:xfrm>
            <a:off x="6409944" y="3291840"/>
            <a:ext cx="1517904" cy="822960"/>
          </a:xfrm>
          <a:prstGeom prst="rect">
            <a:avLst/>
          </a:prstGeom>
          <a:noFill/>
          <a:ln/>
        </p:spPr>
        <p:txBody>
          <a:bodyPr wrap="square" lIns="0" tIns="0" rIns="0" bIns="0" rtlCol="0" anchor="ctr"/>
          <a:lstStyle/>
          <a:p>
            <a:pPr algn="ctr" indent="0" marL="0">
              <a:buNone/>
            </a:pPr>
            <a:r>
              <a:rPr lang="en-US" sz="1300" b="1" dirty="0">
                <a:solidFill>
                  <a:schemeClr val="tx2"/>
                </a:solidFill>
              </a:rPr>
              <a:t>Risk scoring &amp; classification</a:t>
            </a:r>
            <a:endParaRPr lang="en-US" sz="1300" dirty="0"/>
          </a:p>
        </p:txBody>
      </p:sp>
      <p:sp>
        <p:nvSpPr>
          <p:cNvPr id="33" name="Card"/>
          <p:cNvSpPr/>
          <p:nvPr/>
        </p:nvSpPr>
        <p:spPr>
          <a:xfrm>
            <a:off x="8129016" y="3291840"/>
            <a:ext cx="1700784" cy="822960"/>
          </a:xfrm>
          <a:prstGeom prst="roundRect">
            <a:avLst>
              <a:gd name="adj" fmla="val 8889"/>
            </a:avLst>
          </a:prstGeom>
          <a:solidFill>
            <a:schemeClr val="tx2">
              <a:alpha val="12000"/>
            </a:schemeClr>
          </a:solidFill>
          <a:ln/>
        </p:spPr>
      </p:sp>
      <p:sp>
        <p:nvSpPr>
          <p:cNvPr id="34" name="Text 31"/>
          <p:cNvSpPr txBox="1"/>
          <p:nvPr/>
        </p:nvSpPr>
        <p:spPr>
          <a:xfrm>
            <a:off x="8220456" y="3291840"/>
            <a:ext cx="1517904" cy="822960"/>
          </a:xfrm>
          <a:prstGeom prst="rect">
            <a:avLst/>
          </a:prstGeom>
          <a:noFill/>
          <a:ln/>
        </p:spPr>
        <p:txBody>
          <a:bodyPr wrap="square" lIns="0" tIns="0" rIns="0" bIns="0" rtlCol="0" anchor="ctr"/>
          <a:lstStyle/>
          <a:p>
            <a:pPr algn="ctr" indent="0" marL="0">
              <a:buNone/>
            </a:pPr>
            <a:r>
              <a:rPr lang="en-US" sz="1300" b="1" dirty="0">
                <a:solidFill>
                  <a:schemeClr val="tx2"/>
                </a:solidFill>
              </a:rPr>
              <a:t>K-Means module</a:t>
            </a:r>
            <a:endParaRPr lang="en-US" sz="1300" dirty="0"/>
          </a:p>
        </p:txBody>
      </p:sp>
      <p:sp>
        <p:nvSpPr>
          <p:cNvPr id="35" name="Card"/>
          <p:cNvSpPr/>
          <p:nvPr/>
        </p:nvSpPr>
        <p:spPr>
          <a:xfrm>
            <a:off x="9939528" y="3291840"/>
            <a:ext cx="1700784" cy="822960"/>
          </a:xfrm>
          <a:prstGeom prst="roundRect">
            <a:avLst>
              <a:gd name="adj" fmla="val 8889"/>
            </a:avLst>
          </a:prstGeom>
          <a:solidFill>
            <a:schemeClr val="tx2">
              <a:alpha val="12000"/>
            </a:schemeClr>
          </a:solidFill>
          <a:ln/>
        </p:spPr>
      </p:sp>
      <p:sp>
        <p:nvSpPr>
          <p:cNvPr id="36" name="Text 33"/>
          <p:cNvSpPr txBox="1"/>
          <p:nvPr/>
        </p:nvSpPr>
        <p:spPr>
          <a:xfrm>
            <a:off x="10030968" y="3291840"/>
            <a:ext cx="1517904" cy="822960"/>
          </a:xfrm>
          <a:prstGeom prst="rect">
            <a:avLst/>
          </a:prstGeom>
          <a:noFill/>
          <a:ln/>
        </p:spPr>
        <p:txBody>
          <a:bodyPr wrap="square" lIns="0" tIns="0" rIns="0" bIns="0" rtlCol="0" anchor="ctr"/>
          <a:lstStyle/>
          <a:p>
            <a:pPr algn="ctr" indent="0" marL="0">
              <a:buNone/>
            </a:pPr>
            <a:r>
              <a:rPr lang="en-US" sz="1300" b="1" dirty="0">
                <a:solidFill>
                  <a:schemeClr val="tx2"/>
                </a:solidFill>
              </a:rPr>
              <a:t>Rule-based explanations &amp; recommendations</a:t>
            </a:r>
            <a:endParaRPr lang="en-US" sz="1300" dirty="0"/>
          </a:p>
        </p:txBody>
      </p:sp>
      <p:sp>
        <p:nvSpPr>
          <p:cNvPr id="37" name="Card"/>
          <p:cNvSpPr/>
          <p:nvPr/>
        </p:nvSpPr>
        <p:spPr>
          <a:xfrm>
            <a:off x="548640" y="4206240"/>
            <a:ext cx="2011680" cy="822960"/>
          </a:xfrm>
          <a:prstGeom prst="roundRect">
            <a:avLst>
              <a:gd name="adj" fmla="val 8889"/>
            </a:avLst>
          </a:prstGeom>
          <a:solidFill>
            <a:schemeClr val="accent6"/>
          </a:solidFill>
          <a:ln/>
        </p:spPr>
      </p:sp>
      <p:sp>
        <p:nvSpPr>
          <p:cNvPr id="38" name="Text 35"/>
          <p:cNvSpPr txBox="1"/>
          <p:nvPr/>
        </p:nvSpPr>
        <p:spPr>
          <a:xfrm>
            <a:off x="548640" y="4206240"/>
            <a:ext cx="2011680" cy="822960"/>
          </a:xfrm>
          <a:prstGeom prst="rect">
            <a:avLst/>
          </a:prstGeom>
          <a:noFill/>
          <a:ln/>
        </p:spPr>
        <p:txBody>
          <a:bodyPr wrap="square" lIns="0" tIns="0" rIns="0" bIns="0" rtlCol="0" anchor="ctr"/>
          <a:lstStyle/>
          <a:p>
            <a:pPr algn="ctr" indent="0" marL="0">
              <a:buNone/>
            </a:pPr>
            <a:r>
              <a:rPr lang="en-US" sz="1700" b="1" dirty="0">
                <a:solidFill>
                  <a:schemeClr val="bg1"/>
                </a:solidFill>
              </a:rPr>
              <a:t>Data</a:t>
            </a:r>
            <a:endParaRPr lang="en-US" sz="1700" dirty="0"/>
          </a:p>
        </p:txBody>
      </p:sp>
      <p:sp>
        <p:nvSpPr>
          <p:cNvPr id="39" name="Card"/>
          <p:cNvSpPr/>
          <p:nvPr/>
        </p:nvSpPr>
        <p:spPr>
          <a:xfrm>
            <a:off x="2697480" y="4206240"/>
            <a:ext cx="2907792" cy="822960"/>
          </a:xfrm>
          <a:prstGeom prst="roundRect">
            <a:avLst>
              <a:gd name="adj" fmla="val 8889"/>
            </a:avLst>
          </a:prstGeom>
          <a:solidFill>
            <a:schemeClr val="accent6">
              <a:alpha val="12000"/>
            </a:schemeClr>
          </a:solidFill>
          <a:ln/>
        </p:spPr>
      </p:sp>
      <p:sp>
        <p:nvSpPr>
          <p:cNvPr id="40" name="Text 37"/>
          <p:cNvSpPr txBox="1"/>
          <p:nvPr/>
        </p:nvSpPr>
        <p:spPr>
          <a:xfrm>
            <a:off x="2788920" y="4206240"/>
            <a:ext cx="2724912" cy="822960"/>
          </a:xfrm>
          <a:prstGeom prst="rect">
            <a:avLst/>
          </a:prstGeom>
          <a:noFill/>
          <a:ln/>
        </p:spPr>
        <p:txBody>
          <a:bodyPr wrap="square" lIns="0" tIns="0" rIns="0" bIns="0" rtlCol="0" anchor="ctr"/>
          <a:lstStyle/>
          <a:p>
            <a:pPr algn="ctr" indent="0" marL="0">
              <a:buNone/>
            </a:pPr>
            <a:r>
              <a:rPr lang="en-US" sz="1300" b="1" dirty="0">
                <a:solidFill>
                  <a:schemeClr val="tx2"/>
                </a:solidFill>
              </a:rPr>
              <a:t>Source CSV files</a:t>
            </a:r>
            <a:endParaRPr lang="en-US" sz="1300" dirty="0"/>
          </a:p>
        </p:txBody>
      </p:sp>
      <p:sp>
        <p:nvSpPr>
          <p:cNvPr id="41" name="Card"/>
          <p:cNvSpPr/>
          <p:nvPr/>
        </p:nvSpPr>
        <p:spPr>
          <a:xfrm>
            <a:off x="5715000" y="4206240"/>
            <a:ext cx="2907792" cy="822960"/>
          </a:xfrm>
          <a:prstGeom prst="roundRect">
            <a:avLst>
              <a:gd name="adj" fmla="val 8889"/>
            </a:avLst>
          </a:prstGeom>
          <a:solidFill>
            <a:schemeClr val="accent6">
              <a:alpha val="12000"/>
            </a:schemeClr>
          </a:solidFill>
          <a:ln/>
        </p:spPr>
      </p:sp>
      <p:sp>
        <p:nvSpPr>
          <p:cNvPr id="42" name="Text 39"/>
          <p:cNvSpPr txBox="1"/>
          <p:nvPr/>
        </p:nvSpPr>
        <p:spPr>
          <a:xfrm>
            <a:off x="5806440" y="4206240"/>
            <a:ext cx="2724912" cy="822960"/>
          </a:xfrm>
          <a:prstGeom prst="rect">
            <a:avLst/>
          </a:prstGeom>
          <a:noFill/>
          <a:ln/>
        </p:spPr>
        <p:txBody>
          <a:bodyPr wrap="square" lIns="0" tIns="0" rIns="0" bIns="0" rtlCol="0" anchor="ctr"/>
          <a:lstStyle/>
          <a:p>
            <a:pPr algn="ctr" indent="0" marL="0">
              <a:buNone/>
            </a:pPr>
            <a:r>
              <a:rPr lang="en-US" sz="1300" b="1" dirty="0">
                <a:solidFill>
                  <a:schemeClr val="tx2"/>
                </a:solidFill>
              </a:rPr>
              <a:t>Integrated Student 360° dataset</a:t>
            </a:r>
            <a:endParaRPr lang="en-US" sz="1300" dirty="0"/>
          </a:p>
        </p:txBody>
      </p:sp>
      <p:sp>
        <p:nvSpPr>
          <p:cNvPr id="43" name="Card"/>
          <p:cNvSpPr/>
          <p:nvPr/>
        </p:nvSpPr>
        <p:spPr>
          <a:xfrm>
            <a:off x="8732520" y="4206240"/>
            <a:ext cx="2907792" cy="822960"/>
          </a:xfrm>
          <a:prstGeom prst="roundRect">
            <a:avLst>
              <a:gd name="adj" fmla="val 8889"/>
            </a:avLst>
          </a:prstGeom>
          <a:solidFill>
            <a:schemeClr val="accent6">
              <a:alpha val="12000"/>
            </a:schemeClr>
          </a:solidFill>
          <a:ln/>
        </p:spPr>
      </p:sp>
      <p:sp>
        <p:nvSpPr>
          <p:cNvPr id="44" name="Text 41"/>
          <p:cNvSpPr txBox="1"/>
          <p:nvPr/>
        </p:nvSpPr>
        <p:spPr>
          <a:xfrm>
            <a:off x="8823960" y="4206240"/>
            <a:ext cx="2724912" cy="822960"/>
          </a:xfrm>
          <a:prstGeom prst="rect">
            <a:avLst/>
          </a:prstGeom>
          <a:noFill/>
          <a:ln/>
        </p:spPr>
        <p:txBody>
          <a:bodyPr wrap="square" lIns="0" tIns="0" rIns="0" bIns="0" rtlCol="0" anchor="ctr"/>
          <a:lstStyle/>
          <a:p>
            <a:pPr algn="ctr" indent="0" marL="0">
              <a:buNone/>
            </a:pPr>
            <a:r>
              <a:rPr lang="en-US" sz="1300" b="1" dirty="0">
                <a:solidFill>
                  <a:schemeClr val="tx2"/>
                </a:solidFill>
              </a:rPr>
              <a:t>Processed scores, risks, segments &amp; recommendations</a:t>
            </a:r>
            <a:endParaRPr lang="en-US" sz="1300" dirty="0"/>
          </a:p>
        </p:txBody>
      </p:sp>
      <p:sp>
        <p:nvSpPr>
          <p:cNvPr id="45" name="Card"/>
          <p:cNvSpPr/>
          <p:nvPr/>
        </p:nvSpPr>
        <p:spPr>
          <a:xfrm>
            <a:off x="548640" y="5120640"/>
            <a:ext cx="2011680" cy="822960"/>
          </a:xfrm>
          <a:prstGeom prst="roundRect">
            <a:avLst>
              <a:gd name="adj" fmla="val 8889"/>
            </a:avLst>
          </a:prstGeom>
          <a:solidFill>
            <a:schemeClr val="accent1"/>
          </a:solidFill>
          <a:ln/>
        </p:spPr>
      </p:sp>
      <p:sp>
        <p:nvSpPr>
          <p:cNvPr id="46" name="Text 43"/>
          <p:cNvSpPr txBox="1"/>
          <p:nvPr/>
        </p:nvSpPr>
        <p:spPr>
          <a:xfrm>
            <a:off x="548640" y="5120640"/>
            <a:ext cx="2011680" cy="822960"/>
          </a:xfrm>
          <a:prstGeom prst="rect">
            <a:avLst/>
          </a:prstGeom>
          <a:noFill/>
          <a:ln/>
        </p:spPr>
        <p:txBody>
          <a:bodyPr wrap="square" lIns="0" tIns="0" rIns="0" bIns="0" rtlCol="0" anchor="ctr"/>
          <a:lstStyle/>
          <a:p>
            <a:pPr algn="ctr" indent="0" marL="0">
              <a:buNone/>
            </a:pPr>
            <a:r>
              <a:rPr lang="en-US" sz="1700" b="1" dirty="0">
                <a:solidFill>
                  <a:schemeClr val="bg1"/>
                </a:solidFill>
              </a:rPr>
              <a:t>Hosting</a:t>
            </a:r>
            <a:endParaRPr lang="en-US" sz="1700" dirty="0"/>
          </a:p>
        </p:txBody>
      </p:sp>
      <p:sp>
        <p:nvSpPr>
          <p:cNvPr id="47" name="Card"/>
          <p:cNvSpPr/>
          <p:nvPr/>
        </p:nvSpPr>
        <p:spPr>
          <a:xfrm>
            <a:off x="2697480" y="5120640"/>
            <a:ext cx="2907792" cy="822960"/>
          </a:xfrm>
          <a:prstGeom prst="roundRect">
            <a:avLst>
              <a:gd name="adj" fmla="val 8889"/>
            </a:avLst>
          </a:prstGeom>
          <a:solidFill>
            <a:schemeClr val="accent1">
              <a:alpha val="12000"/>
            </a:schemeClr>
          </a:solidFill>
          <a:ln/>
        </p:spPr>
      </p:sp>
      <p:sp>
        <p:nvSpPr>
          <p:cNvPr id="48" name="Text 45"/>
          <p:cNvSpPr txBox="1"/>
          <p:nvPr/>
        </p:nvSpPr>
        <p:spPr>
          <a:xfrm>
            <a:off x="2788920" y="5120640"/>
            <a:ext cx="2724912" cy="822960"/>
          </a:xfrm>
          <a:prstGeom prst="rect">
            <a:avLst/>
          </a:prstGeom>
          <a:noFill/>
          <a:ln/>
        </p:spPr>
        <p:txBody>
          <a:bodyPr wrap="square" lIns="0" tIns="0" rIns="0" bIns="0" rtlCol="0" anchor="ctr"/>
          <a:lstStyle/>
          <a:p>
            <a:pPr algn="ctr" indent="0" marL="0">
              <a:buNone/>
            </a:pPr>
            <a:r>
              <a:rPr lang="en-US" sz="1300" b="1" dirty="0">
                <a:solidFill>
                  <a:schemeClr val="tx2"/>
                </a:solidFill>
              </a:rPr>
              <a:t>Gunicorn production server</a:t>
            </a:r>
            <a:endParaRPr lang="en-US" sz="1300" dirty="0"/>
          </a:p>
        </p:txBody>
      </p:sp>
      <p:sp>
        <p:nvSpPr>
          <p:cNvPr id="49" name="Card"/>
          <p:cNvSpPr/>
          <p:nvPr/>
        </p:nvSpPr>
        <p:spPr>
          <a:xfrm>
            <a:off x="5715000" y="5120640"/>
            <a:ext cx="2907792" cy="822960"/>
          </a:xfrm>
          <a:prstGeom prst="roundRect">
            <a:avLst>
              <a:gd name="adj" fmla="val 8889"/>
            </a:avLst>
          </a:prstGeom>
          <a:solidFill>
            <a:schemeClr val="accent1">
              <a:alpha val="12000"/>
            </a:schemeClr>
          </a:solidFill>
          <a:ln/>
        </p:spPr>
      </p:sp>
      <p:sp>
        <p:nvSpPr>
          <p:cNvPr id="50" name="Text 47"/>
          <p:cNvSpPr txBox="1"/>
          <p:nvPr/>
        </p:nvSpPr>
        <p:spPr>
          <a:xfrm>
            <a:off x="5806440" y="5120640"/>
            <a:ext cx="2724912" cy="822960"/>
          </a:xfrm>
          <a:prstGeom prst="rect">
            <a:avLst/>
          </a:prstGeom>
          <a:noFill/>
          <a:ln/>
        </p:spPr>
        <p:txBody>
          <a:bodyPr wrap="square" lIns="0" tIns="0" rIns="0" bIns="0" rtlCol="0" anchor="ctr"/>
          <a:lstStyle/>
          <a:p>
            <a:pPr algn="ctr" indent="0" marL="0">
              <a:buNone/>
            </a:pPr>
            <a:r>
              <a:rPr lang="en-US" sz="1300" b="1" dirty="0">
                <a:solidFill>
                  <a:schemeClr val="tx2"/>
                </a:solidFill>
              </a:rPr>
              <a:t>Render web service</a:t>
            </a:r>
            <a:endParaRPr lang="en-US" sz="1300" dirty="0"/>
          </a:p>
        </p:txBody>
      </p:sp>
      <p:sp>
        <p:nvSpPr>
          <p:cNvPr id="51" name="Card"/>
          <p:cNvSpPr/>
          <p:nvPr/>
        </p:nvSpPr>
        <p:spPr>
          <a:xfrm>
            <a:off x="8732520" y="5120640"/>
            <a:ext cx="2907792" cy="822960"/>
          </a:xfrm>
          <a:prstGeom prst="roundRect">
            <a:avLst>
              <a:gd name="adj" fmla="val 8889"/>
            </a:avLst>
          </a:prstGeom>
          <a:solidFill>
            <a:schemeClr val="accent1">
              <a:alpha val="12000"/>
            </a:schemeClr>
          </a:solidFill>
          <a:ln/>
        </p:spPr>
      </p:sp>
      <p:sp>
        <p:nvSpPr>
          <p:cNvPr id="52" name="Text 49"/>
          <p:cNvSpPr txBox="1"/>
          <p:nvPr/>
        </p:nvSpPr>
        <p:spPr>
          <a:xfrm>
            <a:off x="8823960" y="5120640"/>
            <a:ext cx="2724912" cy="822960"/>
          </a:xfrm>
          <a:prstGeom prst="rect">
            <a:avLst/>
          </a:prstGeom>
          <a:noFill/>
          <a:ln/>
        </p:spPr>
        <p:txBody>
          <a:bodyPr wrap="square" lIns="0" tIns="0" rIns="0" bIns="0" rtlCol="0" anchor="ctr"/>
          <a:lstStyle/>
          <a:p>
            <a:pPr algn="ctr" indent="0" marL="0">
              <a:buNone/>
            </a:pPr>
            <a:r>
              <a:rPr lang="en-US" sz="1300" b="1" dirty="0">
                <a:solidFill>
                  <a:schemeClr val="tx2"/>
                </a:solidFill>
              </a:rPr>
              <a:t>GitHub source repository</a:t>
            </a:r>
            <a:endParaRPr lang="en-US" sz="13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TECHNOLOGY STACK</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Technologies behind EduPulse AI</a:t>
            </a:r>
            <a:endParaRPr lang="en-US" sz="3000" dirty="0"/>
          </a:p>
        </p:txBody>
      </p:sp>
      <p:sp>
        <p:nvSpPr>
          <p:cNvPr id="5" name="Card"/>
          <p:cNvSpPr/>
          <p:nvPr/>
        </p:nvSpPr>
        <p:spPr>
          <a:xfrm>
            <a:off x="548640" y="1463040"/>
            <a:ext cx="2606040" cy="4572000"/>
          </a:xfrm>
          <a:prstGeom prst="roundRect">
            <a:avLst>
              <a:gd name="adj" fmla="val 2807"/>
            </a:avLst>
          </a:prstGeom>
          <a:solidFill>
            <a:schemeClr val="bg2"/>
          </a:solidFill>
          <a:ln/>
        </p:spPr>
      </p:sp>
      <p:sp>
        <p:nvSpPr>
          <p:cNvPr id="6" name="Card"/>
          <p:cNvSpPr/>
          <p:nvPr/>
        </p:nvSpPr>
        <p:spPr>
          <a:xfrm>
            <a:off x="548640" y="1463040"/>
            <a:ext cx="2606040" cy="594360"/>
          </a:xfrm>
          <a:prstGeom prst="roundRect">
            <a:avLst>
              <a:gd name="adj" fmla="val 12308"/>
            </a:avLst>
          </a:prstGeom>
          <a:solidFill>
            <a:schemeClr val="accent1"/>
          </a:solidFill>
          <a:ln/>
        </p:spPr>
      </p:sp>
      <p:sp>
        <p:nvSpPr>
          <p:cNvPr id="7" name="Text 4"/>
          <p:cNvSpPr txBox="1"/>
          <p:nvPr/>
        </p:nvSpPr>
        <p:spPr>
          <a:xfrm>
            <a:off x="548640" y="1463040"/>
            <a:ext cx="2606040" cy="594360"/>
          </a:xfrm>
          <a:prstGeom prst="rect">
            <a:avLst/>
          </a:prstGeom>
          <a:noFill/>
          <a:ln/>
        </p:spPr>
        <p:txBody>
          <a:bodyPr wrap="square" lIns="0" tIns="0" rIns="0" bIns="0" rtlCol="0" anchor="ctr"/>
          <a:lstStyle/>
          <a:p>
            <a:pPr algn="ctr" indent="0" marL="0">
              <a:buNone/>
            </a:pPr>
            <a:r>
              <a:rPr lang="en-US" sz="1700" b="1" dirty="0">
                <a:solidFill>
                  <a:schemeClr val="bg1"/>
                </a:solidFill>
              </a:rPr>
              <a:t>Frontend</a:t>
            </a:r>
            <a:endParaRPr lang="en-US" sz="1700" dirty="0"/>
          </a:p>
        </p:txBody>
      </p:sp>
      <p:sp>
        <p:nvSpPr>
          <p:cNvPr id="8" name="Text 5"/>
          <p:cNvSpPr txBox="1"/>
          <p:nvPr/>
        </p:nvSpPr>
        <p:spPr>
          <a:xfrm>
            <a:off x="777240" y="2240280"/>
            <a:ext cx="2194560" cy="685800"/>
          </a:xfrm>
          <a:prstGeom prst="rect">
            <a:avLst/>
          </a:prstGeom>
          <a:noFill/>
          <a:ln/>
        </p:spPr>
        <p:txBody>
          <a:bodyPr wrap="square" lIns="0" tIns="0" rIns="0" bIns="0" rtlCol="0" anchor="t"/>
          <a:lstStyle/>
          <a:p>
            <a:pPr indent="0" marL="0">
              <a:buNone/>
            </a:pPr>
            <a:r>
              <a:rPr lang="en-US" sz="1500" b="1" dirty="0">
                <a:solidFill>
                  <a:schemeClr val="tx2"/>
                </a:solidFill>
              </a:rPr>
              <a:t>HTML</a:t>
            </a:r>
            <a:endParaRPr lang="en-US" sz="1400" dirty="0"/>
          </a:p>
          <a:p>
            <a:pPr indent="0" marL="0">
              <a:buNone/>
            </a:pPr>
            <a:r>
              <a:rPr lang="en-US" sz="1200" dirty="0">
                <a:solidFill>
                  <a:schemeClr val="accent6"/>
                </a:solidFill>
              </a:rPr>
              <a:t>Page structure</a:t>
            </a:r>
            <a:endParaRPr lang="en-US" sz="1400" dirty="0"/>
          </a:p>
        </p:txBody>
      </p:sp>
      <p:sp>
        <p:nvSpPr>
          <p:cNvPr id="9" name="Text 6"/>
          <p:cNvSpPr txBox="1"/>
          <p:nvPr/>
        </p:nvSpPr>
        <p:spPr>
          <a:xfrm>
            <a:off x="777240" y="2990088"/>
            <a:ext cx="2194560" cy="685800"/>
          </a:xfrm>
          <a:prstGeom prst="rect">
            <a:avLst/>
          </a:prstGeom>
          <a:noFill/>
          <a:ln/>
        </p:spPr>
        <p:txBody>
          <a:bodyPr wrap="square" lIns="0" tIns="0" rIns="0" bIns="0" rtlCol="0" anchor="t"/>
          <a:lstStyle/>
          <a:p>
            <a:pPr indent="0" marL="0">
              <a:buNone/>
            </a:pPr>
            <a:r>
              <a:rPr lang="en-US" sz="1500" b="1" dirty="0">
                <a:solidFill>
                  <a:schemeClr val="tx2"/>
                </a:solidFill>
              </a:rPr>
              <a:t>CSS</a:t>
            </a:r>
            <a:endParaRPr lang="en-US" sz="1400" dirty="0"/>
          </a:p>
          <a:p>
            <a:pPr indent="0" marL="0">
              <a:buNone/>
            </a:pPr>
            <a:r>
              <a:rPr lang="en-US" sz="1200" dirty="0">
                <a:solidFill>
                  <a:schemeClr val="accent6"/>
                </a:solidFill>
              </a:rPr>
              <a:t>Styling and responsive layout</a:t>
            </a:r>
            <a:endParaRPr lang="en-US" sz="1400" dirty="0"/>
          </a:p>
        </p:txBody>
      </p:sp>
      <p:sp>
        <p:nvSpPr>
          <p:cNvPr id="10" name="Text 7"/>
          <p:cNvSpPr txBox="1"/>
          <p:nvPr/>
        </p:nvSpPr>
        <p:spPr>
          <a:xfrm>
            <a:off x="777240" y="3739896"/>
            <a:ext cx="2194560" cy="685800"/>
          </a:xfrm>
          <a:prstGeom prst="rect">
            <a:avLst/>
          </a:prstGeom>
          <a:noFill/>
          <a:ln/>
        </p:spPr>
        <p:txBody>
          <a:bodyPr wrap="square" lIns="0" tIns="0" rIns="0" bIns="0" rtlCol="0" anchor="t"/>
          <a:lstStyle/>
          <a:p>
            <a:pPr indent="0" marL="0">
              <a:buNone/>
            </a:pPr>
            <a:r>
              <a:rPr lang="en-US" sz="1500" b="1" dirty="0">
                <a:solidFill>
                  <a:schemeClr val="tx2"/>
                </a:solidFill>
              </a:rPr>
              <a:t>JavaScript</a:t>
            </a:r>
            <a:endParaRPr lang="en-US" sz="1400" dirty="0"/>
          </a:p>
          <a:p>
            <a:pPr indent="0" marL="0">
              <a:buNone/>
            </a:pPr>
            <a:r>
              <a:rPr lang="en-US" sz="1200" dirty="0">
                <a:solidFill>
                  <a:schemeClr val="accent6"/>
                </a:solidFill>
              </a:rPr>
              <a:t>Interactions, search, filters</a:t>
            </a:r>
            <a:endParaRPr lang="en-US" sz="1400" dirty="0"/>
          </a:p>
        </p:txBody>
      </p:sp>
      <p:sp>
        <p:nvSpPr>
          <p:cNvPr id="11" name="Text 8"/>
          <p:cNvSpPr txBox="1"/>
          <p:nvPr/>
        </p:nvSpPr>
        <p:spPr>
          <a:xfrm>
            <a:off x="777240" y="4489704"/>
            <a:ext cx="2194560" cy="685800"/>
          </a:xfrm>
          <a:prstGeom prst="rect">
            <a:avLst/>
          </a:prstGeom>
          <a:noFill/>
          <a:ln/>
        </p:spPr>
        <p:txBody>
          <a:bodyPr wrap="square" lIns="0" tIns="0" rIns="0" bIns="0" rtlCol="0" anchor="t"/>
          <a:lstStyle/>
          <a:p>
            <a:pPr indent="0" marL="0">
              <a:buNone/>
            </a:pPr>
            <a:r>
              <a:rPr lang="en-US" sz="1500" b="1" dirty="0">
                <a:solidFill>
                  <a:schemeClr val="tx2"/>
                </a:solidFill>
              </a:rPr>
              <a:t>Chart.js</a:t>
            </a:r>
            <a:endParaRPr lang="en-US" sz="1400" dirty="0"/>
          </a:p>
          <a:p>
            <a:pPr indent="0" marL="0">
              <a:buNone/>
            </a:pPr>
            <a:r>
              <a:rPr lang="en-US" sz="1200" dirty="0">
                <a:solidFill>
                  <a:schemeClr val="accent6"/>
                </a:solidFill>
              </a:rPr>
              <a:t>Dashboard charts</a:t>
            </a:r>
            <a:endParaRPr lang="en-US" sz="1400" dirty="0"/>
          </a:p>
        </p:txBody>
      </p:sp>
      <p:sp>
        <p:nvSpPr>
          <p:cNvPr id="12" name="Card"/>
          <p:cNvSpPr/>
          <p:nvPr/>
        </p:nvSpPr>
        <p:spPr>
          <a:xfrm>
            <a:off x="3376879" y="1463040"/>
            <a:ext cx="2606040" cy="4572000"/>
          </a:xfrm>
          <a:prstGeom prst="roundRect">
            <a:avLst>
              <a:gd name="adj" fmla="val 2807"/>
            </a:avLst>
          </a:prstGeom>
          <a:solidFill>
            <a:schemeClr val="bg2"/>
          </a:solidFill>
          <a:ln/>
        </p:spPr>
      </p:sp>
      <p:sp>
        <p:nvSpPr>
          <p:cNvPr id="13" name="Card"/>
          <p:cNvSpPr/>
          <p:nvPr/>
        </p:nvSpPr>
        <p:spPr>
          <a:xfrm>
            <a:off x="3376879" y="1463040"/>
            <a:ext cx="2606040" cy="594360"/>
          </a:xfrm>
          <a:prstGeom prst="roundRect">
            <a:avLst>
              <a:gd name="adj" fmla="val 12308"/>
            </a:avLst>
          </a:prstGeom>
          <a:solidFill>
            <a:schemeClr val="accent2"/>
          </a:solidFill>
          <a:ln/>
        </p:spPr>
      </p:sp>
      <p:sp>
        <p:nvSpPr>
          <p:cNvPr id="14" name="Text 11"/>
          <p:cNvSpPr txBox="1"/>
          <p:nvPr/>
        </p:nvSpPr>
        <p:spPr>
          <a:xfrm>
            <a:off x="3376879" y="1463040"/>
            <a:ext cx="2606040" cy="594360"/>
          </a:xfrm>
          <a:prstGeom prst="rect">
            <a:avLst/>
          </a:prstGeom>
          <a:noFill/>
          <a:ln/>
        </p:spPr>
        <p:txBody>
          <a:bodyPr wrap="square" lIns="0" tIns="0" rIns="0" bIns="0" rtlCol="0" anchor="ctr"/>
          <a:lstStyle/>
          <a:p>
            <a:pPr algn="ctr" indent="0" marL="0">
              <a:buNone/>
            </a:pPr>
            <a:r>
              <a:rPr lang="en-US" sz="1700" b="1" dirty="0">
                <a:solidFill>
                  <a:schemeClr val="bg1"/>
                </a:solidFill>
              </a:rPr>
              <a:t>Backend</a:t>
            </a:r>
            <a:endParaRPr lang="en-US" sz="1700" dirty="0"/>
          </a:p>
        </p:txBody>
      </p:sp>
      <p:sp>
        <p:nvSpPr>
          <p:cNvPr id="15" name="Text 12"/>
          <p:cNvSpPr txBox="1"/>
          <p:nvPr/>
        </p:nvSpPr>
        <p:spPr>
          <a:xfrm>
            <a:off x="3605479" y="2240280"/>
            <a:ext cx="2194560" cy="685800"/>
          </a:xfrm>
          <a:prstGeom prst="rect">
            <a:avLst/>
          </a:prstGeom>
          <a:noFill/>
          <a:ln/>
        </p:spPr>
        <p:txBody>
          <a:bodyPr wrap="square" lIns="0" tIns="0" rIns="0" bIns="0" rtlCol="0" anchor="t"/>
          <a:lstStyle/>
          <a:p>
            <a:pPr indent="0" marL="0">
              <a:buNone/>
            </a:pPr>
            <a:r>
              <a:rPr lang="en-US" sz="1500" b="1" dirty="0">
                <a:solidFill>
                  <a:schemeClr val="tx2"/>
                </a:solidFill>
              </a:rPr>
              <a:t>Python</a:t>
            </a:r>
            <a:endParaRPr lang="en-US" sz="1400" dirty="0"/>
          </a:p>
          <a:p>
            <a:pPr indent="0" marL="0">
              <a:buNone/>
            </a:pPr>
            <a:r>
              <a:rPr lang="en-US" sz="1200" dirty="0">
                <a:solidFill>
                  <a:schemeClr val="accent6"/>
                </a:solidFill>
              </a:rPr>
              <a:t>Core programming language</a:t>
            </a:r>
            <a:endParaRPr lang="en-US" sz="1400" dirty="0"/>
          </a:p>
        </p:txBody>
      </p:sp>
      <p:sp>
        <p:nvSpPr>
          <p:cNvPr id="16" name="Text 13"/>
          <p:cNvSpPr txBox="1"/>
          <p:nvPr/>
        </p:nvSpPr>
        <p:spPr>
          <a:xfrm>
            <a:off x="3605479" y="2990088"/>
            <a:ext cx="2194560" cy="685800"/>
          </a:xfrm>
          <a:prstGeom prst="rect">
            <a:avLst/>
          </a:prstGeom>
          <a:noFill/>
          <a:ln/>
        </p:spPr>
        <p:txBody>
          <a:bodyPr wrap="square" lIns="0" tIns="0" rIns="0" bIns="0" rtlCol="0" anchor="t"/>
          <a:lstStyle/>
          <a:p>
            <a:pPr indent="0" marL="0">
              <a:buNone/>
            </a:pPr>
            <a:r>
              <a:rPr lang="en-US" sz="1500" b="1" dirty="0">
                <a:solidFill>
                  <a:schemeClr val="tx2"/>
                </a:solidFill>
              </a:rPr>
              <a:t>Flask</a:t>
            </a:r>
            <a:endParaRPr lang="en-US" sz="1400" dirty="0"/>
          </a:p>
          <a:p>
            <a:pPr indent="0" marL="0">
              <a:buNone/>
            </a:pPr>
            <a:r>
              <a:rPr lang="en-US" sz="1200" dirty="0">
                <a:solidFill>
                  <a:schemeClr val="accent6"/>
                </a:solidFill>
              </a:rPr>
              <a:t>Web framework and API layer</a:t>
            </a:r>
            <a:endParaRPr lang="en-US" sz="1400" dirty="0"/>
          </a:p>
        </p:txBody>
      </p:sp>
      <p:sp>
        <p:nvSpPr>
          <p:cNvPr id="17" name="Text 14"/>
          <p:cNvSpPr txBox="1"/>
          <p:nvPr/>
        </p:nvSpPr>
        <p:spPr>
          <a:xfrm>
            <a:off x="3605479" y="3739896"/>
            <a:ext cx="2194560" cy="685800"/>
          </a:xfrm>
          <a:prstGeom prst="rect">
            <a:avLst/>
          </a:prstGeom>
          <a:noFill/>
          <a:ln/>
        </p:spPr>
        <p:txBody>
          <a:bodyPr wrap="square" lIns="0" tIns="0" rIns="0" bIns="0" rtlCol="0" anchor="t"/>
          <a:lstStyle/>
          <a:p>
            <a:pPr indent="0" marL="0">
              <a:buNone/>
            </a:pPr>
            <a:r>
              <a:rPr lang="en-US" sz="1500" b="1" dirty="0">
                <a:solidFill>
                  <a:schemeClr val="tx2"/>
                </a:solidFill>
              </a:rPr>
              <a:t>REST API</a:t>
            </a:r>
            <a:endParaRPr lang="en-US" sz="1400" dirty="0"/>
          </a:p>
          <a:p>
            <a:pPr indent="0" marL="0">
              <a:buNone/>
            </a:pPr>
            <a:r>
              <a:rPr lang="en-US" sz="1200" dirty="0">
                <a:solidFill>
                  <a:schemeClr val="accent6"/>
                </a:solidFill>
              </a:rPr>
              <a:t>Endpoints serving dashboard data</a:t>
            </a:r>
            <a:endParaRPr lang="en-US" sz="1400" dirty="0"/>
          </a:p>
        </p:txBody>
      </p:sp>
      <p:sp>
        <p:nvSpPr>
          <p:cNvPr id="18" name="Text 15"/>
          <p:cNvSpPr txBox="1"/>
          <p:nvPr/>
        </p:nvSpPr>
        <p:spPr>
          <a:xfrm>
            <a:off x="3605479" y="4489704"/>
            <a:ext cx="2194560" cy="685800"/>
          </a:xfrm>
          <a:prstGeom prst="rect">
            <a:avLst/>
          </a:prstGeom>
          <a:noFill/>
          <a:ln/>
        </p:spPr>
        <p:txBody>
          <a:bodyPr wrap="square" lIns="0" tIns="0" rIns="0" bIns="0" rtlCol="0" anchor="t"/>
          <a:lstStyle/>
          <a:p>
            <a:pPr indent="0" marL="0">
              <a:buNone/>
            </a:pPr>
            <a:r>
              <a:rPr lang="en-US" sz="1500" b="1" dirty="0">
                <a:solidFill>
                  <a:schemeClr val="tx2"/>
                </a:solidFill>
              </a:rPr>
              <a:t>Role-based auth</a:t>
            </a:r>
            <a:endParaRPr lang="en-US" sz="1400" dirty="0"/>
          </a:p>
          <a:p>
            <a:pPr indent="0" marL="0">
              <a:buNone/>
            </a:pPr>
            <a:r>
              <a:rPr lang="en-US" sz="1200" dirty="0">
                <a:solidFill>
                  <a:schemeClr val="accent6"/>
                </a:solidFill>
              </a:rPr>
              <a:t>Session-based access restrictions</a:t>
            </a:r>
            <a:endParaRPr lang="en-US" sz="1400" dirty="0"/>
          </a:p>
        </p:txBody>
      </p:sp>
      <p:sp>
        <p:nvSpPr>
          <p:cNvPr id="19" name="Card"/>
          <p:cNvSpPr/>
          <p:nvPr/>
        </p:nvSpPr>
        <p:spPr>
          <a:xfrm>
            <a:off x="6205118" y="1463040"/>
            <a:ext cx="2606040" cy="4572000"/>
          </a:xfrm>
          <a:prstGeom prst="roundRect">
            <a:avLst>
              <a:gd name="adj" fmla="val 2807"/>
            </a:avLst>
          </a:prstGeom>
          <a:solidFill>
            <a:schemeClr val="bg2"/>
          </a:solidFill>
          <a:ln/>
        </p:spPr>
      </p:sp>
      <p:sp>
        <p:nvSpPr>
          <p:cNvPr id="20" name="Card"/>
          <p:cNvSpPr/>
          <p:nvPr/>
        </p:nvSpPr>
        <p:spPr>
          <a:xfrm>
            <a:off x="6205118" y="1463040"/>
            <a:ext cx="2606040" cy="594360"/>
          </a:xfrm>
          <a:prstGeom prst="roundRect">
            <a:avLst>
              <a:gd name="adj" fmla="val 12308"/>
            </a:avLst>
          </a:prstGeom>
          <a:solidFill>
            <a:schemeClr val="tx2"/>
          </a:solidFill>
          <a:ln/>
        </p:spPr>
      </p:sp>
      <p:sp>
        <p:nvSpPr>
          <p:cNvPr id="21" name="Text 18"/>
          <p:cNvSpPr txBox="1"/>
          <p:nvPr/>
        </p:nvSpPr>
        <p:spPr>
          <a:xfrm>
            <a:off x="6205118" y="1463040"/>
            <a:ext cx="2606040" cy="594360"/>
          </a:xfrm>
          <a:prstGeom prst="rect">
            <a:avLst/>
          </a:prstGeom>
          <a:noFill/>
          <a:ln/>
        </p:spPr>
        <p:txBody>
          <a:bodyPr wrap="square" lIns="0" tIns="0" rIns="0" bIns="0" rtlCol="0" anchor="ctr"/>
          <a:lstStyle/>
          <a:p>
            <a:pPr algn="ctr" indent="0" marL="0">
              <a:buNone/>
            </a:pPr>
            <a:r>
              <a:rPr lang="en-US" sz="1700" b="1" dirty="0">
                <a:solidFill>
                  <a:schemeClr val="bg1"/>
                </a:solidFill>
              </a:rPr>
              <a:t>Analytics &amp; ML</a:t>
            </a:r>
            <a:endParaRPr lang="en-US" sz="1700" dirty="0"/>
          </a:p>
        </p:txBody>
      </p:sp>
      <p:sp>
        <p:nvSpPr>
          <p:cNvPr id="22" name="Text 19"/>
          <p:cNvSpPr txBox="1"/>
          <p:nvPr/>
        </p:nvSpPr>
        <p:spPr>
          <a:xfrm>
            <a:off x="6433718" y="2240280"/>
            <a:ext cx="2194560" cy="685800"/>
          </a:xfrm>
          <a:prstGeom prst="rect">
            <a:avLst/>
          </a:prstGeom>
          <a:noFill/>
          <a:ln/>
        </p:spPr>
        <p:txBody>
          <a:bodyPr wrap="square" lIns="0" tIns="0" rIns="0" bIns="0" rtlCol="0" anchor="t"/>
          <a:lstStyle/>
          <a:p>
            <a:pPr indent="0" marL="0">
              <a:buNone/>
            </a:pPr>
            <a:r>
              <a:rPr lang="en-US" sz="1500" b="1" dirty="0">
                <a:solidFill>
                  <a:schemeClr val="tx2"/>
                </a:solidFill>
              </a:rPr>
              <a:t>Pandas</a:t>
            </a:r>
            <a:endParaRPr lang="en-US" sz="1400" dirty="0"/>
          </a:p>
          <a:p>
            <a:pPr indent="0" marL="0">
              <a:buNone/>
            </a:pPr>
            <a:r>
              <a:rPr lang="en-US" sz="1200" dirty="0">
                <a:solidFill>
                  <a:schemeClr val="accent6"/>
                </a:solidFill>
              </a:rPr>
              <a:t>Data integration and transformation</a:t>
            </a:r>
            <a:endParaRPr lang="en-US" sz="1400" dirty="0"/>
          </a:p>
        </p:txBody>
      </p:sp>
      <p:sp>
        <p:nvSpPr>
          <p:cNvPr id="23" name="Text 20"/>
          <p:cNvSpPr txBox="1"/>
          <p:nvPr/>
        </p:nvSpPr>
        <p:spPr>
          <a:xfrm>
            <a:off x="6433718" y="2990088"/>
            <a:ext cx="2194560" cy="685800"/>
          </a:xfrm>
          <a:prstGeom prst="rect">
            <a:avLst/>
          </a:prstGeom>
          <a:noFill/>
          <a:ln/>
        </p:spPr>
        <p:txBody>
          <a:bodyPr wrap="square" lIns="0" tIns="0" rIns="0" bIns="0" rtlCol="0" anchor="t"/>
          <a:lstStyle/>
          <a:p>
            <a:pPr indent="0" marL="0">
              <a:buNone/>
            </a:pPr>
            <a:r>
              <a:rPr lang="en-US" sz="1500" b="1" dirty="0">
                <a:solidFill>
                  <a:schemeClr val="tx2"/>
                </a:solidFill>
              </a:rPr>
              <a:t>NumPy</a:t>
            </a:r>
            <a:endParaRPr lang="en-US" sz="1400" dirty="0"/>
          </a:p>
          <a:p>
            <a:pPr indent="0" marL="0">
              <a:buNone/>
            </a:pPr>
            <a:r>
              <a:rPr lang="en-US" sz="1200" dirty="0">
                <a:solidFill>
                  <a:schemeClr val="accent6"/>
                </a:solidFill>
              </a:rPr>
              <a:t>Numerical operations</a:t>
            </a:r>
            <a:endParaRPr lang="en-US" sz="1400" dirty="0"/>
          </a:p>
        </p:txBody>
      </p:sp>
      <p:sp>
        <p:nvSpPr>
          <p:cNvPr id="24" name="Text 21"/>
          <p:cNvSpPr txBox="1"/>
          <p:nvPr/>
        </p:nvSpPr>
        <p:spPr>
          <a:xfrm>
            <a:off x="6433718" y="3739896"/>
            <a:ext cx="2194560" cy="685800"/>
          </a:xfrm>
          <a:prstGeom prst="rect">
            <a:avLst/>
          </a:prstGeom>
          <a:noFill/>
          <a:ln/>
        </p:spPr>
        <p:txBody>
          <a:bodyPr wrap="square" lIns="0" tIns="0" rIns="0" bIns="0" rtlCol="0" anchor="t"/>
          <a:lstStyle/>
          <a:p>
            <a:pPr indent="0" marL="0">
              <a:buNone/>
            </a:pPr>
            <a:r>
              <a:rPr lang="en-US" sz="1500" b="1" dirty="0">
                <a:solidFill>
                  <a:schemeClr val="tx2"/>
                </a:solidFill>
              </a:rPr>
              <a:t>Scikit-learn</a:t>
            </a:r>
            <a:endParaRPr lang="en-US" sz="1400" dirty="0"/>
          </a:p>
          <a:p>
            <a:pPr indent="0" marL="0">
              <a:buNone/>
            </a:pPr>
            <a:r>
              <a:rPr lang="en-US" sz="1200" dirty="0">
                <a:solidFill>
                  <a:schemeClr val="accent6"/>
                </a:solidFill>
              </a:rPr>
              <a:t>K-Means clustering, feature scaling</a:t>
            </a:r>
            <a:endParaRPr lang="en-US" sz="1400" dirty="0"/>
          </a:p>
        </p:txBody>
      </p:sp>
      <p:sp>
        <p:nvSpPr>
          <p:cNvPr id="25" name="Text 22"/>
          <p:cNvSpPr txBox="1"/>
          <p:nvPr/>
        </p:nvSpPr>
        <p:spPr>
          <a:xfrm>
            <a:off x="6433718" y="4489704"/>
            <a:ext cx="2194560" cy="685800"/>
          </a:xfrm>
          <a:prstGeom prst="rect">
            <a:avLst/>
          </a:prstGeom>
          <a:noFill/>
          <a:ln/>
        </p:spPr>
        <p:txBody>
          <a:bodyPr wrap="square" lIns="0" tIns="0" rIns="0" bIns="0" rtlCol="0" anchor="t"/>
          <a:lstStyle/>
          <a:p>
            <a:pPr indent="0" marL="0">
              <a:buNone/>
            </a:pPr>
            <a:r>
              <a:rPr lang="en-US" sz="1500" b="1" dirty="0">
                <a:solidFill>
                  <a:schemeClr val="tx2"/>
                </a:solidFill>
              </a:rPr>
              <a:t>Custom Python</a:t>
            </a:r>
            <a:endParaRPr lang="en-US" sz="1400" dirty="0"/>
          </a:p>
          <a:p>
            <a:pPr indent="0" marL="0">
              <a:buNone/>
            </a:pPr>
            <a:r>
              <a:rPr lang="en-US" sz="1200" dirty="0">
                <a:solidFill>
                  <a:schemeClr val="accent6"/>
                </a:solidFill>
              </a:rPr>
              <a:t>Scores, thresholds, explanations, recommendations</a:t>
            </a:r>
            <a:endParaRPr lang="en-US" sz="1400" dirty="0"/>
          </a:p>
        </p:txBody>
      </p:sp>
      <p:sp>
        <p:nvSpPr>
          <p:cNvPr id="26" name="Card"/>
          <p:cNvSpPr/>
          <p:nvPr/>
        </p:nvSpPr>
        <p:spPr>
          <a:xfrm>
            <a:off x="9033358" y="1463040"/>
            <a:ext cx="2606040" cy="4572000"/>
          </a:xfrm>
          <a:prstGeom prst="roundRect">
            <a:avLst>
              <a:gd name="adj" fmla="val 2807"/>
            </a:avLst>
          </a:prstGeom>
          <a:solidFill>
            <a:schemeClr val="bg2"/>
          </a:solidFill>
          <a:ln/>
        </p:spPr>
      </p:sp>
      <p:sp>
        <p:nvSpPr>
          <p:cNvPr id="27" name="Card"/>
          <p:cNvSpPr/>
          <p:nvPr/>
        </p:nvSpPr>
        <p:spPr>
          <a:xfrm>
            <a:off x="9033358" y="1463040"/>
            <a:ext cx="2606040" cy="594360"/>
          </a:xfrm>
          <a:prstGeom prst="roundRect">
            <a:avLst>
              <a:gd name="adj" fmla="val 12308"/>
            </a:avLst>
          </a:prstGeom>
          <a:solidFill>
            <a:schemeClr val="accent6"/>
          </a:solidFill>
          <a:ln/>
        </p:spPr>
      </p:sp>
      <p:sp>
        <p:nvSpPr>
          <p:cNvPr id="28" name="Text 25"/>
          <p:cNvSpPr txBox="1"/>
          <p:nvPr/>
        </p:nvSpPr>
        <p:spPr>
          <a:xfrm>
            <a:off x="9033358" y="1463040"/>
            <a:ext cx="2606040" cy="594360"/>
          </a:xfrm>
          <a:prstGeom prst="rect">
            <a:avLst/>
          </a:prstGeom>
          <a:noFill/>
          <a:ln/>
        </p:spPr>
        <p:txBody>
          <a:bodyPr wrap="square" lIns="0" tIns="0" rIns="0" bIns="0" rtlCol="0" anchor="ctr"/>
          <a:lstStyle/>
          <a:p>
            <a:pPr algn="ctr" indent="0" marL="0">
              <a:buNone/>
            </a:pPr>
            <a:r>
              <a:rPr lang="en-US" sz="1700" b="1" dirty="0">
                <a:solidFill>
                  <a:schemeClr val="bg1"/>
                </a:solidFill>
              </a:rPr>
              <a:t>Data &amp; deployment</a:t>
            </a:r>
            <a:endParaRPr lang="en-US" sz="1700" dirty="0"/>
          </a:p>
        </p:txBody>
      </p:sp>
      <p:sp>
        <p:nvSpPr>
          <p:cNvPr id="29" name="Text 26"/>
          <p:cNvSpPr txBox="1"/>
          <p:nvPr/>
        </p:nvSpPr>
        <p:spPr>
          <a:xfrm>
            <a:off x="9261958" y="2240280"/>
            <a:ext cx="2194560" cy="685800"/>
          </a:xfrm>
          <a:prstGeom prst="rect">
            <a:avLst/>
          </a:prstGeom>
          <a:noFill/>
          <a:ln/>
        </p:spPr>
        <p:txBody>
          <a:bodyPr wrap="square" lIns="0" tIns="0" rIns="0" bIns="0" rtlCol="0" anchor="t"/>
          <a:lstStyle/>
          <a:p>
            <a:pPr indent="0" marL="0">
              <a:buNone/>
            </a:pPr>
            <a:r>
              <a:rPr lang="en-US" sz="1500" b="1" dirty="0">
                <a:solidFill>
                  <a:schemeClr val="tx2"/>
                </a:solidFill>
              </a:rPr>
              <a:t>CSV</a:t>
            </a:r>
            <a:endParaRPr lang="en-US" sz="1400" dirty="0"/>
          </a:p>
          <a:p>
            <a:pPr indent="0" marL="0">
              <a:buNone/>
            </a:pPr>
            <a:r>
              <a:rPr lang="en-US" sz="1200" dirty="0">
                <a:solidFill>
                  <a:schemeClr val="accent6"/>
                </a:solidFill>
              </a:rPr>
              <a:t>Integrated and processed demo data</a:t>
            </a:r>
            <a:endParaRPr lang="en-US" sz="1400" dirty="0"/>
          </a:p>
        </p:txBody>
      </p:sp>
      <p:sp>
        <p:nvSpPr>
          <p:cNvPr id="30" name="Text 27"/>
          <p:cNvSpPr txBox="1"/>
          <p:nvPr/>
        </p:nvSpPr>
        <p:spPr>
          <a:xfrm>
            <a:off x="9261958" y="2990088"/>
            <a:ext cx="2194560" cy="685800"/>
          </a:xfrm>
          <a:prstGeom prst="rect">
            <a:avLst/>
          </a:prstGeom>
          <a:noFill/>
          <a:ln/>
        </p:spPr>
        <p:txBody>
          <a:bodyPr wrap="square" lIns="0" tIns="0" rIns="0" bIns="0" rtlCol="0" anchor="t"/>
          <a:lstStyle/>
          <a:p>
            <a:pPr indent="0" marL="0">
              <a:buNone/>
            </a:pPr>
            <a:r>
              <a:rPr lang="en-US" sz="1500" b="1" dirty="0">
                <a:solidFill>
                  <a:schemeClr val="tx2"/>
                </a:solidFill>
              </a:rPr>
              <a:t>SQLite</a:t>
            </a:r>
            <a:endParaRPr lang="en-US" sz="1400" dirty="0"/>
          </a:p>
          <a:p>
            <a:pPr indent="0" marL="0">
              <a:buNone/>
            </a:pPr>
            <a:r>
              <a:rPr lang="en-US" sz="1200" dirty="0">
                <a:solidFill>
                  <a:schemeClr val="accent6"/>
                </a:solidFill>
              </a:rPr>
              <a:t>Authentication records</a:t>
            </a:r>
            <a:endParaRPr lang="en-US" sz="1400" dirty="0"/>
          </a:p>
        </p:txBody>
      </p:sp>
      <p:sp>
        <p:nvSpPr>
          <p:cNvPr id="31" name="Text 28"/>
          <p:cNvSpPr txBox="1"/>
          <p:nvPr/>
        </p:nvSpPr>
        <p:spPr>
          <a:xfrm>
            <a:off x="9261958" y="3739896"/>
            <a:ext cx="2194560" cy="685800"/>
          </a:xfrm>
          <a:prstGeom prst="rect">
            <a:avLst/>
          </a:prstGeom>
          <a:noFill/>
          <a:ln/>
        </p:spPr>
        <p:txBody>
          <a:bodyPr wrap="square" lIns="0" tIns="0" rIns="0" bIns="0" rtlCol="0" anchor="t"/>
          <a:lstStyle/>
          <a:p>
            <a:pPr indent="0" marL="0">
              <a:buNone/>
            </a:pPr>
            <a:r>
              <a:rPr lang="en-US" sz="1500" b="1" dirty="0">
                <a:solidFill>
                  <a:schemeClr val="tx2"/>
                </a:solidFill>
              </a:rPr>
              <a:t>Gunicorn</a:t>
            </a:r>
            <a:endParaRPr lang="en-US" sz="1400" dirty="0"/>
          </a:p>
          <a:p>
            <a:pPr indent="0" marL="0">
              <a:buNone/>
            </a:pPr>
            <a:r>
              <a:rPr lang="en-US" sz="1200" dirty="0">
                <a:solidFill>
                  <a:schemeClr val="accent6"/>
                </a:solidFill>
              </a:rPr>
              <a:t>Production application server</a:t>
            </a:r>
            <a:endParaRPr lang="en-US" sz="1400" dirty="0"/>
          </a:p>
        </p:txBody>
      </p:sp>
      <p:sp>
        <p:nvSpPr>
          <p:cNvPr id="32" name="Text 29"/>
          <p:cNvSpPr txBox="1"/>
          <p:nvPr/>
        </p:nvSpPr>
        <p:spPr>
          <a:xfrm>
            <a:off x="9261958" y="4489704"/>
            <a:ext cx="2194560" cy="685800"/>
          </a:xfrm>
          <a:prstGeom prst="rect">
            <a:avLst/>
          </a:prstGeom>
          <a:noFill/>
          <a:ln/>
        </p:spPr>
        <p:txBody>
          <a:bodyPr wrap="square" lIns="0" tIns="0" rIns="0" bIns="0" rtlCol="0" anchor="t"/>
          <a:lstStyle/>
          <a:p>
            <a:pPr indent="0" marL="0">
              <a:buNone/>
            </a:pPr>
            <a:r>
              <a:rPr lang="en-US" sz="1500" b="1" dirty="0">
                <a:solidFill>
                  <a:schemeClr val="tx2"/>
                </a:solidFill>
              </a:rPr>
              <a:t>Render</a:t>
            </a:r>
            <a:endParaRPr lang="en-US" sz="1400" dirty="0"/>
          </a:p>
          <a:p>
            <a:pPr indent="0" marL="0">
              <a:buNone/>
            </a:pPr>
            <a:r>
              <a:rPr lang="en-US" sz="1200" dirty="0">
                <a:solidFill>
                  <a:schemeClr val="accent6"/>
                </a:solidFill>
              </a:rPr>
              <a:t>Live application hosting</a:t>
            </a:r>
            <a:endParaRPr lang="en-US" sz="1400" dirty="0"/>
          </a:p>
        </p:txBody>
      </p:sp>
      <p:sp>
        <p:nvSpPr>
          <p:cNvPr id="33" name="Text 30"/>
          <p:cNvSpPr txBox="1"/>
          <p:nvPr/>
        </p:nvSpPr>
        <p:spPr>
          <a:xfrm>
            <a:off x="9261958" y="5239512"/>
            <a:ext cx="2194560" cy="685800"/>
          </a:xfrm>
          <a:prstGeom prst="rect">
            <a:avLst/>
          </a:prstGeom>
          <a:noFill/>
          <a:ln/>
        </p:spPr>
        <p:txBody>
          <a:bodyPr wrap="square" lIns="0" tIns="0" rIns="0" bIns="0" rtlCol="0" anchor="t"/>
          <a:lstStyle/>
          <a:p>
            <a:pPr indent="0" marL="0">
              <a:buNone/>
            </a:pPr>
            <a:r>
              <a:rPr lang="en-US" sz="1500" b="1" dirty="0">
                <a:solidFill>
                  <a:schemeClr val="tx2"/>
                </a:solidFill>
              </a:rPr>
              <a:t>Git &amp; GitHub</a:t>
            </a:r>
            <a:endParaRPr lang="en-US" sz="1400" dirty="0"/>
          </a:p>
          <a:p>
            <a:pPr indent="0" marL="0">
              <a:buNone/>
            </a:pPr>
            <a:r>
              <a:rPr lang="en-US" sz="1200" dirty="0">
                <a:solidFill>
                  <a:schemeClr val="accent6"/>
                </a:solidFill>
              </a:rPr>
              <a:t>Version control, public repository</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END-TO-END DEMONSTRATION  |  SAMPLE SYNTHETIC RECORD STU001</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Case study: academically strong, placement unprepared</a:t>
            </a:r>
            <a:endParaRPr lang="en-US" sz="3000" dirty="0"/>
          </a:p>
        </p:txBody>
      </p:sp>
      <p:sp>
        <p:nvSpPr>
          <p:cNvPr id="5" name="Text 2"/>
          <p:cNvSpPr txBox="1"/>
          <p:nvPr/>
        </p:nvSpPr>
        <p:spPr>
          <a:xfrm>
            <a:off x="548640" y="1463040"/>
            <a:ext cx="3657600" cy="256032"/>
          </a:xfrm>
          <a:prstGeom prst="rect">
            <a:avLst/>
          </a:prstGeom>
          <a:noFill/>
          <a:ln/>
        </p:spPr>
        <p:txBody>
          <a:bodyPr wrap="square" lIns="0" tIns="0" rIns="0" bIns="0" rtlCol="0" anchor="t"/>
          <a:lstStyle/>
          <a:p>
            <a:pPr indent="0" marL="0">
              <a:buNone/>
            </a:pPr>
            <a:r>
              <a:rPr lang="en-US" sz="1200" b="1" spc="100" kern="0" dirty="0">
                <a:solidFill>
                  <a:schemeClr val="accent6"/>
                </a:solidFill>
              </a:rPr>
              <a:t>ACADEMIC PROFILE</a:t>
            </a:r>
            <a:endParaRPr lang="en-US" sz="1200" dirty="0"/>
          </a:p>
        </p:txBody>
      </p:sp>
      <p:sp>
        <p:nvSpPr>
          <p:cNvPr id="6" name="Card"/>
          <p:cNvSpPr/>
          <p:nvPr/>
        </p:nvSpPr>
        <p:spPr>
          <a:xfrm>
            <a:off x="548640" y="1783080"/>
            <a:ext cx="1920240" cy="1005840"/>
          </a:xfrm>
          <a:prstGeom prst="roundRect">
            <a:avLst>
              <a:gd name="adj" fmla="val 7273"/>
            </a:avLst>
          </a:prstGeom>
          <a:solidFill>
            <a:schemeClr val="bg2"/>
          </a:solidFill>
          <a:ln/>
        </p:spPr>
      </p:sp>
      <p:sp>
        <p:nvSpPr>
          <p:cNvPr id="7" name="Text 4"/>
          <p:cNvSpPr txBox="1"/>
          <p:nvPr/>
        </p:nvSpPr>
        <p:spPr>
          <a:xfrm>
            <a:off x="548640" y="1828800"/>
            <a:ext cx="1920240" cy="548640"/>
          </a:xfrm>
          <a:prstGeom prst="rect">
            <a:avLst/>
          </a:prstGeom>
          <a:noFill/>
          <a:ln/>
        </p:spPr>
        <p:txBody>
          <a:bodyPr wrap="square" lIns="0" tIns="0" rIns="0" bIns="0" rtlCol="0" anchor="ctr"/>
          <a:lstStyle/>
          <a:p>
            <a:pPr algn="ctr" indent="0" marL="0">
              <a:buNone/>
            </a:pPr>
            <a:r>
              <a:rPr lang="en-US" sz="3000" b="1" dirty="0">
                <a:solidFill>
                  <a:schemeClr val="accent1"/>
                </a:solidFill>
              </a:rPr>
              <a:t>8.44</a:t>
            </a:r>
            <a:endParaRPr lang="en-US" sz="3000" dirty="0"/>
          </a:p>
        </p:txBody>
      </p:sp>
      <p:sp>
        <p:nvSpPr>
          <p:cNvPr id="8" name="Text 5"/>
          <p:cNvSpPr txBox="1"/>
          <p:nvPr/>
        </p:nvSpPr>
        <p:spPr>
          <a:xfrm>
            <a:off x="548640" y="2377440"/>
            <a:ext cx="1920240" cy="274320"/>
          </a:xfrm>
          <a:prstGeom prst="rect">
            <a:avLst/>
          </a:prstGeom>
          <a:noFill/>
          <a:ln/>
        </p:spPr>
        <p:txBody>
          <a:bodyPr wrap="square" lIns="0" tIns="0" rIns="0" bIns="0" rtlCol="0" anchor="t"/>
          <a:lstStyle/>
          <a:p>
            <a:pPr algn="ctr" indent="0" marL="0">
              <a:buNone/>
            </a:pPr>
            <a:r>
              <a:rPr lang="en-US" sz="1200" dirty="0">
                <a:solidFill>
                  <a:schemeClr val="accent6"/>
                </a:solidFill>
              </a:rPr>
              <a:t>CGPA</a:t>
            </a:r>
            <a:endParaRPr lang="en-US" sz="1200" dirty="0"/>
          </a:p>
        </p:txBody>
      </p:sp>
      <p:sp>
        <p:nvSpPr>
          <p:cNvPr id="9" name="Card"/>
          <p:cNvSpPr/>
          <p:nvPr/>
        </p:nvSpPr>
        <p:spPr>
          <a:xfrm>
            <a:off x="2606040" y="1783080"/>
            <a:ext cx="1920240" cy="1005840"/>
          </a:xfrm>
          <a:prstGeom prst="roundRect">
            <a:avLst>
              <a:gd name="adj" fmla="val 7273"/>
            </a:avLst>
          </a:prstGeom>
          <a:solidFill>
            <a:schemeClr val="bg2"/>
          </a:solidFill>
          <a:ln/>
        </p:spPr>
      </p:sp>
      <p:sp>
        <p:nvSpPr>
          <p:cNvPr id="10" name="Text 7"/>
          <p:cNvSpPr txBox="1"/>
          <p:nvPr/>
        </p:nvSpPr>
        <p:spPr>
          <a:xfrm>
            <a:off x="2606040" y="1828800"/>
            <a:ext cx="1920240" cy="548640"/>
          </a:xfrm>
          <a:prstGeom prst="rect">
            <a:avLst/>
          </a:prstGeom>
          <a:noFill/>
          <a:ln/>
        </p:spPr>
        <p:txBody>
          <a:bodyPr wrap="square" lIns="0" tIns="0" rIns="0" bIns="0" rtlCol="0" anchor="ctr"/>
          <a:lstStyle/>
          <a:p>
            <a:pPr algn="ctr" indent="0" marL="0">
              <a:buNone/>
            </a:pPr>
            <a:r>
              <a:rPr lang="en-US" sz="3000" b="1" dirty="0">
                <a:solidFill>
                  <a:schemeClr val="accent1"/>
                </a:solidFill>
              </a:rPr>
              <a:t>82.91</a:t>
            </a:r>
            <a:endParaRPr lang="en-US" sz="3000" dirty="0"/>
          </a:p>
        </p:txBody>
      </p:sp>
      <p:sp>
        <p:nvSpPr>
          <p:cNvPr id="11" name="Text 8"/>
          <p:cNvSpPr txBox="1"/>
          <p:nvPr/>
        </p:nvSpPr>
        <p:spPr>
          <a:xfrm>
            <a:off x="2606040" y="2377440"/>
            <a:ext cx="1920240" cy="274320"/>
          </a:xfrm>
          <a:prstGeom prst="rect">
            <a:avLst/>
          </a:prstGeom>
          <a:noFill/>
          <a:ln/>
        </p:spPr>
        <p:txBody>
          <a:bodyPr wrap="square" lIns="0" tIns="0" rIns="0" bIns="0" rtlCol="0" anchor="t"/>
          <a:lstStyle/>
          <a:p>
            <a:pPr algn="ctr" indent="0" marL="0">
              <a:buNone/>
            </a:pPr>
            <a:r>
              <a:rPr lang="en-US" sz="1200" dirty="0">
                <a:solidFill>
                  <a:schemeClr val="accent6"/>
                </a:solidFill>
              </a:rPr>
              <a:t>Internal marks</a:t>
            </a:r>
            <a:endParaRPr lang="en-US" sz="1200" dirty="0"/>
          </a:p>
        </p:txBody>
      </p:sp>
      <p:sp>
        <p:nvSpPr>
          <p:cNvPr id="12" name="Text 9"/>
          <p:cNvSpPr txBox="1"/>
          <p:nvPr/>
        </p:nvSpPr>
        <p:spPr>
          <a:xfrm>
            <a:off x="548640" y="3017520"/>
            <a:ext cx="4023360" cy="256032"/>
          </a:xfrm>
          <a:prstGeom prst="rect">
            <a:avLst/>
          </a:prstGeom>
          <a:noFill/>
          <a:ln/>
        </p:spPr>
        <p:txBody>
          <a:bodyPr wrap="square" lIns="0" tIns="0" rIns="0" bIns="0" rtlCol="0" anchor="t"/>
          <a:lstStyle/>
          <a:p>
            <a:pPr indent="0" marL="0">
              <a:buNone/>
            </a:pPr>
            <a:r>
              <a:rPr lang="en-US" sz="1200" b="1" spc="100" kern="0" dirty="0">
                <a:solidFill>
                  <a:schemeClr val="accent6"/>
                </a:solidFill>
              </a:rPr>
              <a:t>PLACEMENT AND SKILLS INDICATORS</a:t>
            </a:r>
            <a:endParaRPr lang="en-US" sz="1200" dirty="0"/>
          </a:p>
        </p:txBody>
      </p:sp>
      <p:graphicFrame>
        <p:nvGraphicFramePr>
          <p:cNvPr id="13" name="Chart 0" descr=""/>
          <p:cNvGraphicFramePr/>
          <p:nvPr/>
        </p:nvGraphicFramePr>
        <p:xfrm>
          <a:off x="457200" y="3291840"/>
          <a:ext cx="4297680" cy="2423160"/>
        </p:xfrm>
        <a:graphic xmlns:a="http://schemas.openxmlformats.org/drawingml/2006/main">
          <a:graphicData uri="http://schemas.openxmlformats.org/drawingml/2006/chart">
            <c:chart xmlns:c="http://schemas.openxmlformats.org/drawingml/2006/chart" r:id="rId1"/>
          </a:graphicData>
        </a:graphic>
      </p:graphicFrame>
      <p:sp>
        <p:nvSpPr>
          <p:cNvPr id="14" name="Card"/>
          <p:cNvSpPr/>
          <p:nvPr/>
        </p:nvSpPr>
        <p:spPr>
          <a:xfrm>
            <a:off x="4937760" y="1463040"/>
            <a:ext cx="3566160" cy="4251960"/>
          </a:xfrm>
          <a:prstGeom prst="roundRect">
            <a:avLst>
              <a:gd name="adj" fmla="val 2051"/>
            </a:avLst>
          </a:prstGeom>
          <a:solidFill>
            <a:schemeClr val="bg2"/>
          </a:solidFill>
          <a:ln/>
        </p:spPr>
      </p:sp>
      <p:sp>
        <p:nvSpPr>
          <p:cNvPr id="15" name="Text 11"/>
          <p:cNvSpPr txBox="1"/>
          <p:nvPr/>
        </p:nvSpPr>
        <p:spPr>
          <a:xfrm>
            <a:off x="5166360" y="1600200"/>
            <a:ext cx="3108960" cy="256032"/>
          </a:xfrm>
          <a:prstGeom prst="rect">
            <a:avLst/>
          </a:prstGeom>
          <a:noFill/>
          <a:ln/>
        </p:spPr>
        <p:txBody>
          <a:bodyPr wrap="square" lIns="0" tIns="0" rIns="0" bIns="0" rtlCol="0" anchor="t"/>
          <a:lstStyle/>
          <a:p>
            <a:pPr indent="0" marL="0">
              <a:buNone/>
            </a:pPr>
            <a:r>
              <a:rPr lang="en-US" sz="1200" b="1" spc="100" kern="0" dirty="0">
                <a:solidFill>
                  <a:schemeClr val="accent6"/>
                </a:solidFill>
              </a:rPr>
              <a:t>SYSTEM INSIGHTS</a:t>
            </a:r>
            <a:endParaRPr lang="en-US" sz="1200" dirty="0"/>
          </a:p>
        </p:txBody>
      </p:sp>
      <p:sp>
        <p:nvSpPr>
          <p:cNvPr id="16" name="Text 12"/>
          <p:cNvSpPr txBox="1"/>
          <p:nvPr/>
        </p:nvSpPr>
        <p:spPr>
          <a:xfrm>
            <a:off x="5166360" y="1920240"/>
            <a:ext cx="3108960" cy="274320"/>
          </a:xfrm>
          <a:prstGeom prst="rect">
            <a:avLst/>
          </a:prstGeom>
          <a:noFill/>
          <a:ln/>
        </p:spPr>
        <p:txBody>
          <a:bodyPr wrap="square" lIns="0" tIns="0" rIns="0" bIns="0" rtlCol="0" anchor="t"/>
          <a:lstStyle/>
          <a:p>
            <a:pPr indent="0" marL="0">
              <a:buNone/>
            </a:pPr>
            <a:r>
              <a:rPr lang="en-US" sz="1400" dirty="0">
                <a:solidFill>
                  <a:schemeClr val="tx1"/>
                </a:solidFill>
              </a:rPr>
              <a:t>Student Success Score</a:t>
            </a:r>
            <a:endParaRPr lang="en-US" sz="1400" dirty="0"/>
          </a:p>
        </p:txBody>
      </p:sp>
      <p:sp>
        <p:nvSpPr>
          <p:cNvPr id="17" name="Text 13"/>
          <p:cNvSpPr txBox="1"/>
          <p:nvPr/>
        </p:nvSpPr>
        <p:spPr>
          <a:xfrm>
            <a:off x="5166360" y="2194560"/>
            <a:ext cx="1828800" cy="822960"/>
          </a:xfrm>
          <a:prstGeom prst="rect">
            <a:avLst/>
          </a:prstGeom>
          <a:noFill/>
          <a:ln/>
        </p:spPr>
        <p:txBody>
          <a:bodyPr wrap="square" lIns="0" tIns="0" rIns="0" bIns="0" rtlCol="0" anchor="ctr"/>
          <a:lstStyle/>
          <a:p>
            <a:pPr indent="0" marL="0">
              <a:buNone/>
            </a:pPr>
            <a:r>
              <a:rPr lang="en-US" sz="5000" b="1" dirty="0">
                <a:solidFill>
                  <a:schemeClr val="tx2"/>
                </a:solidFill>
              </a:rPr>
              <a:t>65.73</a:t>
            </a:r>
            <a:endParaRPr lang="en-US" sz="5000" dirty="0"/>
          </a:p>
        </p:txBody>
      </p:sp>
      <p:sp>
        <p:nvSpPr>
          <p:cNvPr id="18" name="Text 14"/>
          <p:cNvSpPr txBox="1"/>
          <p:nvPr/>
        </p:nvSpPr>
        <p:spPr>
          <a:xfrm>
            <a:off x="6903720" y="2395728"/>
            <a:ext cx="1325880" cy="411480"/>
          </a:xfrm>
          <a:prstGeom prst="roundRect">
            <a:avLst>
              <a:gd name="adj" fmla="val 48889"/>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Moderate</a:t>
            </a:r>
            <a:endParaRPr lang="en-US" sz="1400" dirty="0"/>
          </a:p>
        </p:txBody>
      </p:sp>
      <p:sp>
        <p:nvSpPr>
          <p:cNvPr id="19" name="Text 15"/>
          <p:cNvSpPr txBox="1"/>
          <p:nvPr/>
        </p:nvSpPr>
        <p:spPr>
          <a:xfrm>
            <a:off x="5166360" y="3246120"/>
            <a:ext cx="1554480" cy="384048"/>
          </a:xfrm>
          <a:prstGeom prst="rect">
            <a:avLst/>
          </a:prstGeom>
          <a:noFill/>
          <a:ln/>
        </p:spPr>
        <p:txBody>
          <a:bodyPr wrap="square" lIns="0" tIns="0" rIns="0" bIns="0" rtlCol="0" anchor="ctr"/>
          <a:lstStyle/>
          <a:p>
            <a:pPr indent="0" marL="0">
              <a:buNone/>
            </a:pPr>
            <a:r>
              <a:rPr lang="en-US" sz="1400" dirty="0">
                <a:solidFill>
                  <a:schemeClr val="tx1"/>
                </a:solidFill>
              </a:rPr>
              <a:t>Overall risk</a:t>
            </a:r>
            <a:endParaRPr lang="en-US" sz="1400" dirty="0"/>
          </a:p>
        </p:txBody>
      </p:sp>
      <p:sp>
        <p:nvSpPr>
          <p:cNvPr id="20" name="Text 16"/>
          <p:cNvSpPr txBox="1"/>
          <p:nvPr/>
        </p:nvSpPr>
        <p:spPr>
          <a:xfrm>
            <a:off x="6720840" y="3246120"/>
            <a:ext cx="1508760" cy="384048"/>
          </a:xfrm>
          <a:prstGeom prst="roundRect">
            <a:avLst>
              <a:gd name="adj" fmla="val 19048"/>
            </a:avLst>
          </a:prstGeom>
          <a:solidFill>
            <a:schemeClr val="accent5"/>
          </a:solidFill>
          <a:ln/>
        </p:spPr>
        <p:txBody>
          <a:bodyPr wrap="square" lIns="508" tIns="508" rIns="508" bIns="508" rtlCol="0" anchor="ctr"/>
          <a:lstStyle/>
          <a:p>
            <a:pPr algn="ctr" indent="0" marL="0">
              <a:buNone/>
            </a:pPr>
            <a:r>
              <a:rPr lang="en-US" sz="1300" b="1" dirty="0">
                <a:solidFill>
                  <a:schemeClr val="bg1"/>
                </a:solidFill>
              </a:rPr>
              <a:t>Low Risk</a:t>
            </a:r>
            <a:endParaRPr lang="en-US" sz="1300" dirty="0"/>
          </a:p>
        </p:txBody>
      </p:sp>
      <p:sp>
        <p:nvSpPr>
          <p:cNvPr id="21" name="Text 17"/>
          <p:cNvSpPr txBox="1"/>
          <p:nvPr/>
        </p:nvSpPr>
        <p:spPr>
          <a:xfrm>
            <a:off x="5166360" y="3749040"/>
            <a:ext cx="1554480" cy="384048"/>
          </a:xfrm>
          <a:prstGeom prst="rect">
            <a:avLst/>
          </a:prstGeom>
          <a:noFill/>
          <a:ln/>
        </p:spPr>
        <p:txBody>
          <a:bodyPr wrap="square" lIns="0" tIns="0" rIns="0" bIns="0" rtlCol="0" anchor="ctr"/>
          <a:lstStyle/>
          <a:p>
            <a:pPr indent="0" marL="0">
              <a:buNone/>
            </a:pPr>
            <a:r>
              <a:rPr lang="en-US" sz="1400" dirty="0">
                <a:solidFill>
                  <a:schemeClr val="tx1"/>
                </a:solidFill>
              </a:rPr>
              <a:t>Placement risk</a:t>
            </a:r>
            <a:endParaRPr lang="en-US" sz="1400" dirty="0"/>
          </a:p>
        </p:txBody>
      </p:sp>
      <p:sp>
        <p:nvSpPr>
          <p:cNvPr id="22" name="Text 18"/>
          <p:cNvSpPr txBox="1"/>
          <p:nvPr/>
        </p:nvSpPr>
        <p:spPr>
          <a:xfrm>
            <a:off x="6720840" y="3749040"/>
            <a:ext cx="1508760" cy="384048"/>
          </a:xfrm>
          <a:prstGeom prst="roundRect">
            <a:avLst>
              <a:gd name="adj" fmla="val 19048"/>
            </a:avLst>
          </a:prstGeom>
          <a:solidFill>
            <a:schemeClr val="accent3"/>
          </a:solidFill>
          <a:ln/>
        </p:spPr>
        <p:txBody>
          <a:bodyPr wrap="square" lIns="508" tIns="508" rIns="508" bIns="508" rtlCol="0" anchor="ctr"/>
          <a:lstStyle/>
          <a:p>
            <a:pPr algn="ctr" indent="0" marL="0">
              <a:buNone/>
            </a:pPr>
            <a:r>
              <a:rPr lang="en-US" sz="1300" b="1" dirty="0">
                <a:solidFill>
                  <a:schemeClr val="tx1"/>
                </a:solidFill>
              </a:rPr>
              <a:t>Medium Risk</a:t>
            </a:r>
            <a:endParaRPr lang="en-US" sz="1300" dirty="0"/>
          </a:p>
        </p:txBody>
      </p:sp>
      <p:sp>
        <p:nvSpPr>
          <p:cNvPr id="23" name="Text 19"/>
          <p:cNvSpPr txBox="1"/>
          <p:nvPr/>
        </p:nvSpPr>
        <p:spPr>
          <a:xfrm>
            <a:off x="5166360" y="4297680"/>
            <a:ext cx="3108960" cy="502920"/>
          </a:xfrm>
          <a:prstGeom prst="rect">
            <a:avLst/>
          </a:prstGeom>
          <a:noFill/>
          <a:ln/>
        </p:spPr>
        <p:txBody>
          <a:bodyPr wrap="square" lIns="0" tIns="0" rIns="0" bIns="0" rtlCol="0" anchor="t"/>
          <a:lstStyle/>
          <a:p>
            <a:pPr indent="0" marL="0">
              <a:buNone/>
            </a:pPr>
            <a:r>
              <a:rPr lang="en-US" sz="1200" dirty="0">
                <a:solidFill>
                  <a:schemeClr val="accent6"/>
                </a:solidFill>
              </a:rPr>
              <a:t>Primary risk type</a:t>
            </a:r>
            <a:endParaRPr lang="en-US" sz="1400" dirty="0"/>
          </a:p>
          <a:p>
            <a:pPr indent="0" marL="0">
              <a:buNone/>
            </a:pPr>
            <a:r>
              <a:rPr lang="en-US" sz="1500" b="1" dirty="0">
                <a:solidFill>
                  <a:schemeClr val="tx2"/>
                </a:solidFill>
              </a:rPr>
              <a:t>Placement Risk</a:t>
            </a:r>
            <a:endParaRPr lang="en-US" sz="1400" dirty="0"/>
          </a:p>
        </p:txBody>
      </p:sp>
      <p:sp>
        <p:nvSpPr>
          <p:cNvPr id="24" name="Text 20"/>
          <p:cNvSpPr txBox="1"/>
          <p:nvPr/>
        </p:nvSpPr>
        <p:spPr>
          <a:xfrm>
            <a:off x="5166360" y="4846320"/>
            <a:ext cx="3200400" cy="731520"/>
          </a:xfrm>
          <a:prstGeom prst="rect">
            <a:avLst/>
          </a:prstGeom>
          <a:noFill/>
          <a:ln/>
        </p:spPr>
        <p:txBody>
          <a:bodyPr wrap="square" lIns="0" tIns="0" rIns="0" bIns="0" rtlCol="0" anchor="t"/>
          <a:lstStyle/>
          <a:p>
            <a:pPr indent="0" marL="0">
              <a:buNone/>
            </a:pPr>
            <a:r>
              <a:rPr lang="en-US" sz="1200" dirty="0">
                <a:solidFill>
                  <a:schemeClr val="accent6"/>
                </a:solidFill>
              </a:rPr>
              <a:t>Segment</a:t>
            </a:r>
            <a:endParaRPr lang="en-US" sz="1400" dirty="0"/>
          </a:p>
          <a:p>
            <a:pPr indent="0" marL="0">
              <a:buNone/>
            </a:pPr>
            <a:r>
              <a:rPr lang="en-US" sz="1400" b="1" dirty="0">
                <a:solidFill>
                  <a:schemeClr val="tx2"/>
                </a:solidFill>
              </a:rPr>
              <a:t>Academic Strong / Placement Unprepared</a:t>
            </a:r>
            <a:endParaRPr lang="en-US" sz="1400" dirty="0"/>
          </a:p>
        </p:txBody>
      </p:sp>
      <p:sp>
        <p:nvSpPr>
          <p:cNvPr id="25" name="Card"/>
          <p:cNvSpPr/>
          <p:nvPr/>
        </p:nvSpPr>
        <p:spPr>
          <a:xfrm>
            <a:off x="8686800" y="1463040"/>
            <a:ext cx="2953512" cy="4251960"/>
          </a:xfrm>
          <a:prstGeom prst="roundRect">
            <a:avLst>
              <a:gd name="adj" fmla="val 2477"/>
            </a:avLst>
          </a:prstGeom>
          <a:solidFill>
            <a:schemeClr val="tx2"/>
          </a:solidFill>
          <a:ln/>
        </p:spPr>
      </p:sp>
      <p:sp>
        <p:nvSpPr>
          <p:cNvPr id="26" name="Text 22"/>
          <p:cNvSpPr txBox="1"/>
          <p:nvPr/>
        </p:nvSpPr>
        <p:spPr>
          <a:xfrm>
            <a:off x="8915400" y="1600200"/>
            <a:ext cx="2560320" cy="256032"/>
          </a:xfrm>
          <a:prstGeom prst="rect">
            <a:avLst/>
          </a:prstGeom>
          <a:noFill/>
          <a:ln/>
        </p:spPr>
        <p:txBody>
          <a:bodyPr wrap="square" lIns="0" tIns="0" rIns="0" bIns="0" rtlCol="0" anchor="t"/>
          <a:lstStyle/>
          <a:p>
            <a:pPr indent="0" marL="0">
              <a:buNone/>
            </a:pPr>
            <a:r>
              <a:rPr lang="en-US" sz="1200" b="1" spc="100" kern="0" dirty="0">
                <a:solidFill>
                  <a:srgbClr val="3FD0C9"/>
                </a:solidFill>
              </a:rPr>
              <a:t>RECOMMENDED ACTIONS</a:t>
            </a:r>
            <a:endParaRPr lang="en-US" sz="1200" dirty="0"/>
          </a:p>
        </p:txBody>
      </p:sp>
      <p:sp>
        <p:nvSpPr>
          <p:cNvPr id="27" name="Icon circle"/>
          <p:cNvSpPr/>
          <p:nvPr/>
        </p:nvSpPr>
        <p:spPr>
          <a:xfrm>
            <a:off x="8915400" y="2057400"/>
            <a:ext cx="384048" cy="384048"/>
          </a:xfrm>
          <a:prstGeom prst="ellipse">
            <a:avLst/>
          </a:prstGeom>
          <a:solidFill>
            <a:schemeClr val="accent1"/>
          </a:solidFill>
          <a:ln/>
        </p:spPr>
      </p:sp>
      <p:pic>
        <p:nvPicPr>
          <p:cNvPr id="28" name="Image 0" descr="Check icon">    </p:cNvPr>
          <p:cNvPicPr>
            <a:picLocks noChangeAspect="1"/>
          </p:cNvPicPr>
          <p:nvPr/>
        </p:nvPicPr>
        <p:blipFill>
          <a:blip r:embed="rId2"/>
          <a:stretch>
            <a:fillRect/>
          </a:stretch>
        </p:blipFill>
        <p:spPr>
          <a:xfrm>
            <a:off x="9015252" y="2157252"/>
            <a:ext cx="184343" cy="184343"/>
          </a:xfrm>
          <a:prstGeom prst="rect">
            <a:avLst/>
          </a:prstGeom>
        </p:spPr>
      </p:pic>
      <p:sp>
        <p:nvSpPr>
          <p:cNvPr id="29" name="Text 24"/>
          <p:cNvSpPr txBox="1"/>
          <p:nvPr/>
        </p:nvSpPr>
        <p:spPr>
          <a:xfrm>
            <a:off x="9464040" y="2011680"/>
            <a:ext cx="2057400" cy="475488"/>
          </a:xfrm>
          <a:prstGeom prst="rect">
            <a:avLst/>
          </a:prstGeom>
          <a:noFill/>
          <a:ln/>
        </p:spPr>
        <p:txBody>
          <a:bodyPr wrap="square" lIns="0" tIns="0" rIns="0" bIns="0" rtlCol="0" anchor="ctr"/>
          <a:lstStyle/>
          <a:p>
            <a:pPr indent="0" marL="0">
              <a:buNone/>
            </a:pPr>
            <a:r>
              <a:rPr lang="en-US" sz="1400" dirty="0">
                <a:solidFill>
                  <a:schemeClr val="bg1"/>
                </a:solidFill>
              </a:rPr>
              <a:t>Aptitude training</a:t>
            </a:r>
            <a:endParaRPr lang="en-US" sz="1400" dirty="0"/>
          </a:p>
        </p:txBody>
      </p:sp>
      <p:sp>
        <p:nvSpPr>
          <p:cNvPr id="30" name="Icon circle"/>
          <p:cNvSpPr/>
          <p:nvPr/>
        </p:nvSpPr>
        <p:spPr>
          <a:xfrm>
            <a:off x="8915400" y="2761488"/>
            <a:ext cx="384048" cy="384048"/>
          </a:xfrm>
          <a:prstGeom prst="ellipse">
            <a:avLst/>
          </a:prstGeom>
          <a:solidFill>
            <a:schemeClr val="accent1"/>
          </a:solidFill>
          <a:ln/>
        </p:spPr>
      </p:sp>
      <p:pic>
        <p:nvPicPr>
          <p:cNvPr id="31" name="Image 1" descr="Check icon">    </p:cNvPr>
          <p:cNvPicPr>
            <a:picLocks noChangeAspect="1"/>
          </p:cNvPicPr>
          <p:nvPr/>
        </p:nvPicPr>
        <p:blipFill>
          <a:blip r:embed="rId3"/>
          <a:stretch>
            <a:fillRect/>
          </a:stretch>
        </p:blipFill>
        <p:spPr>
          <a:xfrm>
            <a:off x="9015252" y="2861340"/>
            <a:ext cx="184343" cy="184343"/>
          </a:xfrm>
          <a:prstGeom prst="rect">
            <a:avLst/>
          </a:prstGeom>
        </p:spPr>
      </p:pic>
      <p:sp>
        <p:nvSpPr>
          <p:cNvPr id="32" name="Text 26"/>
          <p:cNvSpPr txBox="1"/>
          <p:nvPr/>
        </p:nvSpPr>
        <p:spPr>
          <a:xfrm>
            <a:off x="9464040" y="2715768"/>
            <a:ext cx="2057400" cy="475488"/>
          </a:xfrm>
          <a:prstGeom prst="rect">
            <a:avLst/>
          </a:prstGeom>
          <a:noFill/>
          <a:ln/>
        </p:spPr>
        <p:txBody>
          <a:bodyPr wrap="square" lIns="0" tIns="0" rIns="0" bIns="0" rtlCol="0" anchor="ctr"/>
          <a:lstStyle/>
          <a:p>
            <a:pPr indent="0" marL="0">
              <a:buNone/>
            </a:pPr>
            <a:r>
              <a:rPr lang="en-US" sz="1400" dirty="0">
                <a:solidFill>
                  <a:schemeClr val="bg1"/>
                </a:solidFill>
              </a:rPr>
              <a:t>Structured coding practice</a:t>
            </a:r>
            <a:endParaRPr lang="en-US" sz="1400" dirty="0"/>
          </a:p>
        </p:txBody>
      </p:sp>
      <p:sp>
        <p:nvSpPr>
          <p:cNvPr id="33" name="Icon circle"/>
          <p:cNvSpPr/>
          <p:nvPr/>
        </p:nvSpPr>
        <p:spPr>
          <a:xfrm>
            <a:off x="8915400" y="3465576"/>
            <a:ext cx="384048" cy="384048"/>
          </a:xfrm>
          <a:prstGeom prst="ellipse">
            <a:avLst/>
          </a:prstGeom>
          <a:solidFill>
            <a:schemeClr val="accent1"/>
          </a:solidFill>
          <a:ln/>
        </p:spPr>
      </p:sp>
      <p:pic>
        <p:nvPicPr>
          <p:cNvPr id="34" name="Image 2" descr="Check icon">    </p:cNvPr>
          <p:cNvPicPr>
            <a:picLocks noChangeAspect="1"/>
          </p:cNvPicPr>
          <p:nvPr/>
        </p:nvPicPr>
        <p:blipFill>
          <a:blip r:embed="rId4"/>
          <a:stretch>
            <a:fillRect/>
          </a:stretch>
        </p:blipFill>
        <p:spPr>
          <a:xfrm>
            <a:off x="9015252" y="3565428"/>
            <a:ext cx="184343" cy="184343"/>
          </a:xfrm>
          <a:prstGeom prst="rect">
            <a:avLst/>
          </a:prstGeom>
        </p:spPr>
      </p:pic>
      <p:sp>
        <p:nvSpPr>
          <p:cNvPr id="35" name="Text 28"/>
          <p:cNvSpPr txBox="1"/>
          <p:nvPr/>
        </p:nvSpPr>
        <p:spPr>
          <a:xfrm>
            <a:off x="9464040" y="3419856"/>
            <a:ext cx="2057400" cy="475488"/>
          </a:xfrm>
          <a:prstGeom prst="rect">
            <a:avLst/>
          </a:prstGeom>
          <a:noFill/>
          <a:ln/>
        </p:spPr>
        <p:txBody>
          <a:bodyPr wrap="square" lIns="0" tIns="0" rIns="0" bIns="0" rtlCol="0" anchor="ctr"/>
          <a:lstStyle/>
          <a:p>
            <a:pPr indent="0" marL="0">
              <a:buNone/>
            </a:pPr>
            <a:r>
              <a:rPr lang="en-US" sz="1400" dirty="0">
                <a:solidFill>
                  <a:schemeClr val="bg1"/>
                </a:solidFill>
              </a:rPr>
              <a:t>Mock interview preparation</a:t>
            </a:r>
            <a:endParaRPr lang="en-US" sz="1400" dirty="0"/>
          </a:p>
        </p:txBody>
      </p:sp>
      <p:sp>
        <p:nvSpPr>
          <p:cNvPr id="36" name="Icon circle"/>
          <p:cNvSpPr/>
          <p:nvPr/>
        </p:nvSpPr>
        <p:spPr>
          <a:xfrm>
            <a:off x="8915400" y="4169664"/>
            <a:ext cx="384048" cy="384048"/>
          </a:xfrm>
          <a:prstGeom prst="ellipse">
            <a:avLst/>
          </a:prstGeom>
          <a:solidFill>
            <a:schemeClr val="accent1"/>
          </a:solidFill>
          <a:ln/>
        </p:spPr>
      </p:sp>
      <p:pic>
        <p:nvPicPr>
          <p:cNvPr id="37" name="Image 3" descr="Check icon">    </p:cNvPr>
          <p:cNvPicPr>
            <a:picLocks noChangeAspect="1"/>
          </p:cNvPicPr>
          <p:nvPr/>
        </p:nvPicPr>
        <p:blipFill>
          <a:blip r:embed="rId5"/>
          <a:stretch>
            <a:fillRect/>
          </a:stretch>
        </p:blipFill>
        <p:spPr>
          <a:xfrm>
            <a:off x="9015252" y="4269516"/>
            <a:ext cx="184343" cy="184343"/>
          </a:xfrm>
          <a:prstGeom prst="rect">
            <a:avLst/>
          </a:prstGeom>
        </p:spPr>
      </p:pic>
      <p:sp>
        <p:nvSpPr>
          <p:cNvPr id="38" name="Text 30"/>
          <p:cNvSpPr txBox="1"/>
          <p:nvPr/>
        </p:nvSpPr>
        <p:spPr>
          <a:xfrm>
            <a:off x="9464040" y="4123944"/>
            <a:ext cx="2057400" cy="475488"/>
          </a:xfrm>
          <a:prstGeom prst="rect">
            <a:avLst/>
          </a:prstGeom>
          <a:noFill/>
          <a:ln/>
        </p:spPr>
        <p:txBody>
          <a:bodyPr wrap="square" lIns="0" tIns="0" rIns="0" bIns="0" rtlCol="0" anchor="ctr"/>
          <a:lstStyle/>
          <a:p>
            <a:pPr indent="0" marL="0">
              <a:buNone/>
            </a:pPr>
            <a:r>
              <a:rPr lang="en-US" sz="1400" dirty="0">
                <a:solidFill>
                  <a:schemeClr val="bg1"/>
                </a:solidFill>
              </a:rPr>
              <a:t>Technical skill development</a:t>
            </a:r>
            <a:endParaRPr lang="en-US" sz="1400" dirty="0"/>
          </a:p>
        </p:txBody>
      </p:sp>
      <p:sp>
        <p:nvSpPr>
          <p:cNvPr id="39" name="Icon circle"/>
          <p:cNvSpPr/>
          <p:nvPr/>
        </p:nvSpPr>
        <p:spPr>
          <a:xfrm>
            <a:off x="8915400" y="4873752"/>
            <a:ext cx="384048" cy="384048"/>
          </a:xfrm>
          <a:prstGeom prst="ellipse">
            <a:avLst/>
          </a:prstGeom>
          <a:solidFill>
            <a:schemeClr val="accent1"/>
          </a:solidFill>
          <a:ln/>
        </p:spPr>
      </p:sp>
      <p:pic>
        <p:nvPicPr>
          <p:cNvPr id="40" name="Image 4" descr="Check icon">    </p:cNvPr>
          <p:cNvPicPr>
            <a:picLocks noChangeAspect="1"/>
          </p:cNvPicPr>
          <p:nvPr/>
        </p:nvPicPr>
        <p:blipFill>
          <a:blip r:embed="rId6"/>
          <a:stretch>
            <a:fillRect/>
          </a:stretch>
        </p:blipFill>
        <p:spPr>
          <a:xfrm>
            <a:off x="9015252" y="4973604"/>
            <a:ext cx="184343" cy="184343"/>
          </a:xfrm>
          <a:prstGeom prst="rect">
            <a:avLst/>
          </a:prstGeom>
        </p:spPr>
      </p:pic>
      <p:sp>
        <p:nvSpPr>
          <p:cNvPr id="41" name="Text 32"/>
          <p:cNvSpPr txBox="1"/>
          <p:nvPr/>
        </p:nvSpPr>
        <p:spPr>
          <a:xfrm>
            <a:off x="9464040" y="4828032"/>
            <a:ext cx="2057400" cy="475488"/>
          </a:xfrm>
          <a:prstGeom prst="rect">
            <a:avLst/>
          </a:prstGeom>
          <a:noFill/>
          <a:ln/>
        </p:spPr>
        <p:txBody>
          <a:bodyPr wrap="square" lIns="0" tIns="0" rIns="0" bIns="0" rtlCol="0" anchor="ctr"/>
          <a:lstStyle/>
          <a:p>
            <a:pPr indent="0" marL="0">
              <a:buNone/>
            </a:pPr>
            <a:r>
              <a:rPr lang="en-US" sz="1400" dirty="0">
                <a:solidFill>
                  <a:schemeClr val="bg1"/>
                </a:solidFill>
              </a:rPr>
              <a:t>Placement mentoring</a:t>
            </a:r>
            <a:endParaRPr lang="en-US" sz="1400" dirty="0"/>
          </a:p>
        </p:txBody>
      </p:sp>
      <p:sp>
        <p:nvSpPr>
          <p:cNvPr id="42" name="Card"/>
          <p:cNvSpPr/>
          <p:nvPr/>
        </p:nvSpPr>
        <p:spPr>
          <a:xfrm>
            <a:off x="548640" y="5852160"/>
            <a:ext cx="11091672" cy="411480"/>
          </a:xfrm>
          <a:prstGeom prst="roundRect">
            <a:avLst>
              <a:gd name="adj" fmla="val 17778"/>
            </a:avLst>
          </a:prstGeom>
          <a:solidFill>
            <a:schemeClr val="accent2">
              <a:alpha val="12000"/>
            </a:schemeClr>
          </a:solidFill>
          <a:ln/>
        </p:spPr>
      </p:sp>
      <p:sp>
        <p:nvSpPr>
          <p:cNvPr id="43" name="Text 34"/>
          <p:cNvSpPr txBox="1"/>
          <p:nvPr/>
        </p:nvSpPr>
        <p:spPr>
          <a:xfrm>
            <a:off x="777240" y="5852160"/>
            <a:ext cx="10698480" cy="411480"/>
          </a:xfrm>
          <a:prstGeom prst="rect">
            <a:avLst/>
          </a:prstGeom>
          <a:noFill/>
          <a:ln/>
        </p:spPr>
        <p:txBody>
          <a:bodyPr wrap="square" lIns="0" tIns="0" rIns="0" bIns="0" rtlCol="0" anchor="ctr"/>
          <a:lstStyle/>
          <a:p>
            <a:pPr indent="0" marL="0">
              <a:buNone/>
            </a:pPr>
            <a:r>
              <a:rPr lang="en-US" sz="1400" b="1" dirty="0">
                <a:solidFill>
                  <a:schemeClr val="tx2"/>
                </a:solidFill>
              </a:rPr>
              <a:t>Takeaway: </a:t>
            </a:r>
            <a:pPr indent="0" marL="0">
              <a:buNone/>
            </a:pPr>
            <a:r>
              <a:rPr lang="en-US" sz="1400" dirty="0">
                <a:solidFill>
                  <a:schemeClr val="tx1"/>
                </a:solidFill>
              </a:rPr>
              <a:t>a good academic record does not automatically mean strong placement readiness.</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PROTOTYPE &amp; DEPLOYMENT</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Working prototype, ready for evaluation</a:t>
            </a:r>
            <a:endParaRPr lang="en-US" sz="3000" dirty="0"/>
          </a:p>
        </p:txBody>
      </p:sp>
      <p:sp>
        <p:nvSpPr>
          <p:cNvPr id="5" name="Card"/>
          <p:cNvSpPr/>
          <p:nvPr/>
        </p:nvSpPr>
        <p:spPr>
          <a:xfrm>
            <a:off x="548640" y="1463040"/>
            <a:ext cx="5458968" cy="1005840"/>
          </a:xfrm>
          <a:prstGeom prst="roundRect">
            <a:avLst>
              <a:gd name="adj" fmla="val 7273"/>
            </a:avLst>
          </a:prstGeom>
          <a:solidFill>
            <a:schemeClr val="bg2"/>
          </a:solidFill>
          <a:ln/>
        </p:spPr>
      </p:sp>
      <p:sp>
        <p:nvSpPr>
          <p:cNvPr id="6" name="Icon circle"/>
          <p:cNvSpPr/>
          <p:nvPr/>
        </p:nvSpPr>
        <p:spPr>
          <a:xfrm>
            <a:off x="777240" y="1664208"/>
            <a:ext cx="603504" cy="603504"/>
          </a:xfrm>
          <a:prstGeom prst="ellipse">
            <a:avLst/>
          </a:prstGeom>
          <a:solidFill>
            <a:schemeClr val="accent1"/>
          </a:solidFill>
          <a:ln/>
        </p:spPr>
      </p:sp>
      <p:pic>
        <p:nvPicPr>
          <p:cNvPr id="7" name="Image 0" descr="Globe icon">    </p:cNvPr>
          <p:cNvPicPr>
            <a:picLocks noChangeAspect="1"/>
          </p:cNvPicPr>
          <p:nvPr/>
        </p:nvPicPr>
        <p:blipFill>
          <a:blip r:embed="rId1"/>
          <a:stretch>
            <a:fillRect/>
          </a:stretch>
        </p:blipFill>
        <p:spPr>
          <a:xfrm>
            <a:off x="934151" y="1821119"/>
            <a:ext cx="289682" cy="289682"/>
          </a:xfrm>
          <a:prstGeom prst="rect">
            <a:avLst/>
          </a:prstGeom>
        </p:spPr>
      </p:pic>
      <p:sp>
        <p:nvSpPr>
          <p:cNvPr id="8" name="Text 4"/>
          <p:cNvSpPr txBox="1"/>
          <p:nvPr/>
        </p:nvSpPr>
        <p:spPr>
          <a:xfrm>
            <a:off x="1600200" y="1645920"/>
            <a:ext cx="4206240" cy="292608"/>
          </a:xfrm>
          <a:prstGeom prst="rect">
            <a:avLst/>
          </a:prstGeom>
          <a:noFill/>
          <a:ln/>
        </p:spPr>
        <p:txBody>
          <a:bodyPr wrap="square" lIns="0" tIns="0" rIns="0" bIns="0" rtlCol="0" anchor="t"/>
          <a:lstStyle/>
          <a:p>
            <a:pPr indent="0" marL="0">
              <a:buNone/>
            </a:pPr>
            <a:r>
              <a:rPr lang="en-US" sz="1500" b="1" dirty="0">
                <a:solidFill>
                  <a:schemeClr val="tx2"/>
                </a:solidFill>
              </a:rPr>
              <a:t>Live application</a:t>
            </a:r>
            <a:endParaRPr lang="en-US" sz="1500" dirty="0"/>
          </a:p>
        </p:txBody>
      </p:sp>
      <p:sp>
        <p:nvSpPr>
          <p:cNvPr id="9" name="Text 5"/>
          <p:cNvSpPr txBox="1"/>
          <p:nvPr/>
        </p:nvSpPr>
        <p:spPr>
          <a:xfrm>
            <a:off x="1600200" y="2011680"/>
            <a:ext cx="4297680" cy="292608"/>
          </a:xfrm>
          <a:prstGeom prst="rect">
            <a:avLst/>
          </a:prstGeom>
          <a:noFill/>
          <a:ln/>
        </p:spPr>
        <p:txBody>
          <a:bodyPr wrap="square" lIns="0" tIns="0" rIns="0" bIns="0" rtlCol="0" anchor="t"/>
          <a:lstStyle/>
          <a:p>
            <a:pPr indent="0" marL="0">
              <a:buNone/>
            </a:pPr>
            <a:r>
              <a:rPr lang="en-US" sz="1200" u="sng" dirty="0">
                <a:solidFill>
                  <a:schemeClr val="tx1"/>
                </a:solidFill>
                <a:hlinkClick r:id="rId2" invalidUrl="" action="" tgtFrame="" tooltip="https://edupulse-ai-lqtt.onrender.com/login.html" history="1" highlightClick="0" endSnd="0">
                  <a:extLst>
                    <a:ext uri="{A12FA001-AC4F-418D-AE19-62706E023703}">
                      <ahyp:hlinkClr xmlns:ahyp="http://schemas.microsoft.com/office/drawing/2018/hyperlinkcolor" val="tx"/>
                    </a:ext>
                  </a:extLst>
                </a:hlinkClick>
              </a:rPr>
              <a:t>https://edupulse-ai-lqtt.onrender.com/login.html</a:t>
            </a:r>
            <a:endParaRPr lang="en-US" sz="1200" dirty="0"/>
          </a:p>
        </p:txBody>
      </p:sp>
      <p:sp>
        <p:nvSpPr>
          <p:cNvPr id="10" name="Card"/>
          <p:cNvSpPr/>
          <p:nvPr/>
        </p:nvSpPr>
        <p:spPr>
          <a:xfrm>
            <a:off x="6181344" y="1463040"/>
            <a:ext cx="5458968" cy="1005840"/>
          </a:xfrm>
          <a:prstGeom prst="roundRect">
            <a:avLst>
              <a:gd name="adj" fmla="val 7273"/>
            </a:avLst>
          </a:prstGeom>
          <a:solidFill>
            <a:schemeClr val="bg2"/>
          </a:solidFill>
          <a:ln/>
        </p:spPr>
      </p:sp>
      <p:sp>
        <p:nvSpPr>
          <p:cNvPr id="11" name="Icon circle"/>
          <p:cNvSpPr/>
          <p:nvPr/>
        </p:nvSpPr>
        <p:spPr>
          <a:xfrm>
            <a:off x="6409944" y="1664208"/>
            <a:ext cx="603504" cy="603504"/>
          </a:xfrm>
          <a:prstGeom prst="ellipse">
            <a:avLst/>
          </a:prstGeom>
          <a:solidFill>
            <a:schemeClr val="tx2"/>
          </a:solidFill>
          <a:ln/>
        </p:spPr>
      </p:sp>
      <p:pic>
        <p:nvPicPr>
          <p:cNvPr id="12" name="Image 1" descr="Github icon">    </p:cNvPr>
          <p:cNvPicPr>
            <a:picLocks noChangeAspect="1"/>
          </p:cNvPicPr>
          <p:nvPr/>
        </p:nvPicPr>
        <p:blipFill>
          <a:blip r:embed="rId3"/>
          <a:stretch>
            <a:fillRect/>
          </a:stretch>
        </p:blipFill>
        <p:spPr>
          <a:xfrm>
            <a:off x="6566855" y="1821119"/>
            <a:ext cx="289682" cy="289682"/>
          </a:xfrm>
          <a:prstGeom prst="rect">
            <a:avLst/>
          </a:prstGeom>
        </p:spPr>
      </p:pic>
      <p:sp>
        <p:nvSpPr>
          <p:cNvPr id="13" name="Text 8"/>
          <p:cNvSpPr txBox="1"/>
          <p:nvPr/>
        </p:nvSpPr>
        <p:spPr>
          <a:xfrm>
            <a:off x="7232904" y="1645920"/>
            <a:ext cx="4206240" cy="292608"/>
          </a:xfrm>
          <a:prstGeom prst="rect">
            <a:avLst/>
          </a:prstGeom>
          <a:noFill/>
          <a:ln/>
        </p:spPr>
        <p:txBody>
          <a:bodyPr wrap="square" lIns="0" tIns="0" rIns="0" bIns="0" rtlCol="0" anchor="t"/>
          <a:lstStyle/>
          <a:p>
            <a:pPr indent="0" marL="0">
              <a:buNone/>
            </a:pPr>
            <a:r>
              <a:rPr lang="en-US" sz="1500" b="1" dirty="0">
                <a:solidFill>
                  <a:schemeClr val="tx2"/>
                </a:solidFill>
              </a:rPr>
              <a:t>Public GitHub repository</a:t>
            </a:r>
            <a:endParaRPr lang="en-US" sz="1500" dirty="0"/>
          </a:p>
        </p:txBody>
      </p:sp>
      <p:sp>
        <p:nvSpPr>
          <p:cNvPr id="14" name="Text 9"/>
          <p:cNvSpPr txBox="1"/>
          <p:nvPr/>
        </p:nvSpPr>
        <p:spPr>
          <a:xfrm>
            <a:off x="7232904" y="2011680"/>
            <a:ext cx="4297680" cy="292608"/>
          </a:xfrm>
          <a:prstGeom prst="rect">
            <a:avLst/>
          </a:prstGeom>
          <a:noFill/>
          <a:ln/>
        </p:spPr>
        <p:txBody>
          <a:bodyPr wrap="square" lIns="0" tIns="0" rIns="0" bIns="0" rtlCol="0" anchor="t"/>
          <a:lstStyle/>
          <a:p>
            <a:pPr indent="0" marL="0">
              <a:buNone/>
            </a:pPr>
            <a:r>
              <a:rPr lang="en-US" sz="1200" u="sng" dirty="0">
                <a:solidFill>
                  <a:schemeClr val="tx1"/>
                </a:solidFill>
                <a:hlinkClick r:id="rId4" invalidUrl="" action="" tgtFrame="" tooltip="https://github.com/DhivyaDharsini2630/EduPulse-AI" history="1" highlightClick="0" endSnd="0">
                  <a:extLst>
                    <a:ext uri="{A12FA001-AC4F-418D-AE19-62706E023703}">
                      <ahyp:hlinkClr xmlns:ahyp="http://schemas.microsoft.com/office/drawing/2018/hyperlinkcolor" val="tx"/>
                    </a:ext>
                  </a:extLst>
                </a:hlinkClick>
              </a:rPr>
              <a:t>https://github.com/DhivyaDharsini2630/EduPulse-AI</a:t>
            </a:r>
            <a:endParaRPr lang="en-US" sz="1200" dirty="0"/>
          </a:p>
        </p:txBody>
      </p:sp>
      <p:sp>
        <p:nvSpPr>
          <p:cNvPr id="15" name="Card"/>
          <p:cNvSpPr/>
          <p:nvPr/>
        </p:nvSpPr>
        <p:spPr>
          <a:xfrm>
            <a:off x="548640" y="2697480"/>
            <a:ext cx="5458968" cy="3200400"/>
          </a:xfrm>
          <a:prstGeom prst="roundRect">
            <a:avLst>
              <a:gd name="adj" fmla="val 2286"/>
            </a:avLst>
          </a:prstGeom>
          <a:solidFill>
            <a:schemeClr val="bg2"/>
          </a:solidFill>
          <a:ln/>
        </p:spPr>
      </p:sp>
      <p:sp>
        <p:nvSpPr>
          <p:cNvPr id="16" name="Text 11"/>
          <p:cNvSpPr txBox="1"/>
          <p:nvPr/>
        </p:nvSpPr>
        <p:spPr>
          <a:xfrm>
            <a:off x="822960" y="2834640"/>
            <a:ext cx="4572000" cy="365760"/>
          </a:xfrm>
          <a:prstGeom prst="rect">
            <a:avLst/>
          </a:prstGeom>
          <a:noFill/>
          <a:ln/>
        </p:spPr>
        <p:txBody>
          <a:bodyPr wrap="square" lIns="0" tIns="0" rIns="0" bIns="0" rtlCol="0" anchor="t"/>
          <a:lstStyle/>
          <a:p>
            <a:pPr indent="0" marL="0">
              <a:buNone/>
            </a:pPr>
            <a:r>
              <a:rPr lang="en-US" sz="1700" b="1" dirty="0">
                <a:solidFill>
                  <a:schemeClr val="tx2"/>
                </a:solidFill>
              </a:rPr>
              <a:t>Prototype status</a:t>
            </a:r>
            <a:endParaRPr lang="en-US" sz="1700" dirty="0"/>
          </a:p>
        </p:txBody>
      </p:sp>
      <p:sp>
        <p:nvSpPr>
          <p:cNvPr id="17" name="Icon circle"/>
          <p:cNvSpPr/>
          <p:nvPr/>
        </p:nvSpPr>
        <p:spPr>
          <a:xfrm>
            <a:off x="822960" y="3364992"/>
            <a:ext cx="292608" cy="292608"/>
          </a:xfrm>
          <a:prstGeom prst="ellipse">
            <a:avLst/>
          </a:prstGeom>
          <a:solidFill>
            <a:schemeClr val="accent5"/>
          </a:solidFill>
          <a:ln/>
        </p:spPr>
      </p:sp>
      <p:pic>
        <p:nvPicPr>
          <p:cNvPr id="18" name="Image 2" descr="Check icon">    </p:cNvPr>
          <p:cNvPicPr>
            <a:picLocks noChangeAspect="1"/>
          </p:cNvPicPr>
          <p:nvPr/>
        </p:nvPicPr>
        <p:blipFill>
          <a:blip r:embed="rId5"/>
          <a:stretch>
            <a:fillRect/>
          </a:stretch>
        </p:blipFill>
        <p:spPr>
          <a:xfrm>
            <a:off x="899038" y="3441070"/>
            <a:ext cx="140452" cy="140452"/>
          </a:xfrm>
          <a:prstGeom prst="rect">
            <a:avLst/>
          </a:prstGeom>
        </p:spPr>
      </p:pic>
      <p:sp>
        <p:nvSpPr>
          <p:cNvPr id="19" name="Text 13"/>
          <p:cNvSpPr txBox="1"/>
          <p:nvPr/>
        </p:nvSpPr>
        <p:spPr>
          <a:xfrm>
            <a:off x="1280160" y="3337560"/>
            <a:ext cx="4572000" cy="347472"/>
          </a:xfrm>
          <a:prstGeom prst="rect">
            <a:avLst/>
          </a:prstGeom>
          <a:noFill/>
          <a:ln/>
        </p:spPr>
        <p:txBody>
          <a:bodyPr wrap="square" lIns="0" tIns="0" rIns="0" bIns="0" rtlCol="0" anchor="ctr"/>
          <a:lstStyle/>
          <a:p>
            <a:pPr indent="0" marL="0">
              <a:buNone/>
            </a:pPr>
            <a:r>
              <a:rPr lang="en-US" sz="1400" dirty="0">
                <a:solidFill>
                  <a:schemeClr val="tx1"/>
                </a:solidFill>
              </a:rPr>
              <a:t>Flask application deployed on Render</a:t>
            </a:r>
            <a:endParaRPr lang="en-US" sz="1400" dirty="0"/>
          </a:p>
        </p:txBody>
      </p:sp>
      <p:sp>
        <p:nvSpPr>
          <p:cNvPr id="20" name="Icon circle"/>
          <p:cNvSpPr/>
          <p:nvPr/>
        </p:nvSpPr>
        <p:spPr>
          <a:xfrm>
            <a:off x="822960" y="3785616"/>
            <a:ext cx="292608" cy="292608"/>
          </a:xfrm>
          <a:prstGeom prst="ellipse">
            <a:avLst/>
          </a:prstGeom>
          <a:solidFill>
            <a:schemeClr val="accent5"/>
          </a:solidFill>
          <a:ln/>
        </p:spPr>
      </p:sp>
      <p:pic>
        <p:nvPicPr>
          <p:cNvPr id="21" name="Image 3" descr="Check icon">    </p:cNvPr>
          <p:cNvPicPr>
            <a:picLocks noChangeAspect="1"/>
          </p:cNvPicPr>
          <p:nvPr/>
        </p:nvPicPr>
        <p:blipFill>
          <a:blip r:embed="rId6"/>
          <a:stretch>
            <a:fillRect/>
          </a:stretch>
        </p:blipFill>
        <p:spPr>
          <a:xfrm>
            <a:off x="899038" y="3861694"/>
            <a:ext cx="140452" cy="140452"/>
          </a:xfrm>
          <a:prstGeom prst="rect">
            <a:avLst/>
          </a:prstGeom>
        </p:spPr>
      </p:pic>
      <p:sp>
        <p:nvSpPr>
          <p:cNvPr id="22" name="Text 15"/>
          <p:cNvSpPr txBox="1"/>
          <p:nvPr/>
        </p:nvSpPr>
        <p:spPr>
          <a:xfrm>
            <a:off x="1280160" y="3758184"/>
            <a:ext cx="4572000" cy="347472"/>
          </a:xfrm>
          <a:prstGeom prst="rect">
            <a:avLst/>
          </a:prstGeom>
          <a:noFill/>
          <a:ln/>
        </p:spPr>
        <p:txBody>
          <a:bodyPr wrap="square" lIns="0" tIns="0" rIns="0" bIns="0" rtlCol="0" anchor="ctr"/>
          <a:lstStyle/>
          <a:p>
            <a:pPr indent="0" marL="0">
              <a:buNone/>
            </a:pPr>
            <a:r>
              <a:rPr lang="en-US" sz="1400" dirty="0">
                <a:solidFill>
                  <a:schemeClr val="tx1"/>
                </a:solidFill>
              </a:rPr>
              <a:t>Public source code on GitHub</a:t>
            </a:r>
            <a:endParaRPr lang="en-US" sz="1400" dirty="0"/>
          </a:p>
        </p:txBody>
      </p:sp>
      <p:sp>
        <p:nvSpPr>
          <p:cNvPr id="23" name="Icon circle"/>
          <p:cNvSpPr/>
          <p:nvPr/>
        </p:nvSpPr>
        <p:spPr>
          <a:xfrm>
            <a:off x="822960" y="4206240"/>
            <a:ext cx="292608" cy="292608"/>
          </a:xfrm>
          <a:prstGeom prst="ellipse">
            <a:avLst/>
          </a:prstGeom>
          <a:solidFill>
            <a:schemeClr val="accent5"/>
          </a:solidFill>
          <a:ln/>
        </p:spPr>
      </p:sp>
      <p:pic>
        <p:nvPicPr>
          <p:cNvPr id="24" name="Image 4" descr="Check icon">    </p:cNvPr>
          <p:cNvPicPr>
            <a:picLocks noChangeAspect="1"/>
          </p:cNvPicPr>
          <p:nvPr/>
        </p:nvPicPr>
        <p:blipFill>
          <a:blip r:embed="rId7"/>
          <a:stretch>
            <a:fillRect/>
          </a:stretch>
        </p:blipFill>
        <p:spPr>
          <a:xfrm>
            <a:off x="899038" y="4282318"/>
            <a:ext cx="140452" cy="140452"/>
          </a:xfrm>
          <a:prstGeom prst="rect">
            <a:avLst/>
          </a:prstGeom>
        </p:spPr>
      </p:pic>
      <p:sp>
        <p:nvSpPr>
          <p:cNvPr id="25" name="Text 17"/>
          <p:cNvSpPr txBox="1"/>
          <p:nvPr/>
        </p:nvSpPr>
        <p:spPr>
          <a:xfrm>
            <a:off x="1280160" y="4178808"/>
            <a:ext cx="4572000" cy="347472"/>
          </a:xfrm>
          <a:prstGeom prst="rect">
            <a:avLst/>
          </a:prstGeom>
          <a:noFill/>
          <a:ln/>
        </p:spPr>
        <p:txBody>
          <a:bodyPr wrap="square" lIns="0" tIns="0" rIns="0" bIns="0" rtlCol="0" anchor="ctr"/>
          <a:lstStyle/>
          <a:p>
            <a:pPr indent="0" marL="0">
              <a:buNone/>
            </a:pPr>
            <a:r>
              <a:rPr lang="en-US" sz="1400" dirty="0">
                <a:solidFill>
                  <a:schemeClr val="tx1"/>
                </a:solidFill>
              </a:rPr>
              <a:t>Management and student login flows tested</a:t>
            </a:r>
            <a:endParaRPr lang="en-US" sz="1400" dirty="0"/>
          </a:p>
        </p:txBody>
      </p:sp>
      <p:sp>
        <p:nvSpPr>
          <p:cNvPr id="26" name="Icon circle"/>
          <p:cNvSpPr/>
          <p:nvPr/>
        </p:nvSpPr>
        <p:spPr>
          <a:xfrm>
            <a:off x="822960" y="4626864"/>
            <a:ext cx="292608" cy="292608"/>
          </a:xfrm>
          <a:prstGeom prst="ellipse">
            <a:avLst/>
          </a:prstGeom>
          <a:solidFill>
            <a:schemeClr val="accent5"/>
          </a:solidFill>
          <a:ln/>
        </p:spPr>
      </p:sp>
      <p:pic>
        <p:nvPicPr>
          <p:cNvPr id="27" name="Image 5" descr="Check icon">    </p:cNvPr>
          <p:cNvPicPr>
            <a:picLocks noChangeAspect="1"/>
          </p:cNvPicPr>
          <p:nvPr/>
        </p:nvPicPr>
        <p:blipFill>
          <a:blip r:embed="rId8"/>
          <a:stretch>
            <a:fillRect/>
          </a:stretch>
        </p:blipFill>
        <p:spPr>
          <a:xfrm>
            <a:off x="899038" y="4702942"/>
            <a:ext cx="140452" cy="140452"/>
          </a:xfrm>
          <a:prstGeom prst="rect">
            <a:avLst/>
          </a:prstGeom>
        </p:spPr>
      </p:pic>
      <p:sp>
        <p:nvSpPr>
          <p:cNvPr id="28" name="Text 19"/>
          <p:cNvSpPr txBox="1"/>
          <p:nvPr/>
        </p:nvSpPr>
        <p:spPr>
          <a:xfrm>
            <a:off x="1280160" y="4599432"/>
            <a:ext cx="4572000" cy="347472"/>
          </a:xfrm>
          <a:prstGeom prst="rect">
            <a:avLst/>
          </a:prstGeom>
          <a:noFill/>
          <a:ln/>
        </p:spPr>
        <p:txBody>
          <a:bodyPr wrap="square" lIns="0" tIns="0" rIns="0" bIns="0" rtlCol="0" anchor="ctr"/>
          <a:lstStyle/>
          <a:p>
            <a:pPr indent="0" marL="0">
              <a:buNone/>
            </a:pPr>
            <a:r>
              <a:rPr lang="en-US" sz="1400" dirty="0">
                <a:solidFill>
                  <a:schemeClr val="tx1"/>
                </a:solidFill>
              </a:rPr>
              <a:t>Dashboard, search and filters tested</a:t>
            </a:r>
            <a:endParaRPr lang="en-US" sz="1400" dirty="0"/>
          </a:p>
        </p:txBody>
      </p:sp>
      <p:sp>
        <p:nvSpPr>
          <p:cNvPr id="29" name="Icon circle"/>
          <p:cNvSpPr/>
          <p:nvPr/>
        </p:nvSpPr>
        <p:spPr>
          <a:xfrm>
            <a:off x="822960" y="5047488"/>
            <a:ext cx="292608" cy="292608"/>
          </a:xfrm>
          <a:prstGeom prst="ellipse">
            <a:avLst/>
          </a:prstGeom>
          <a:solidFill>
            <a:schemeClr val="accent5"/>
          </a:solidFill>
          <a:ln/>
        </p:spPr>
      </p:sp>
      <p:pic>
        <p:nvPicPr>
          <p:cNvPr id="30" name="Image 6" descr="Check icon">    </p:cNvPr>
          <p:cNvPicPr>
            <a:picLocks noChangeAspect="1"/>
          </p:cNvPicPr>
          <p:nvPr/>
        </p:nvPicPr>
        <p:blipFill>
          <a:blip r:embed="rId9"/>
          <a:stretch>
            <a:fillRect/>
          </a:stretch>
        </p:blipFill>
        <p:spPr>
          <a:xfrm>
            <a:off x="899038" y="5123566"/>
            <a:ext cx="140452" cy="140452"/>
          </a:xfrm>
          <a:prstGeom prst="rect">
            <a:avLst/>
          </a:prstGeom>
        </p:spPr>
      </p:pic>
      <p:sp>
        <p:nvSpPr>
          <p:cNvPr id="31" name="Text 21"/>
          <p:cNvSpPr txBox="1"/>
          <p:nvPr/>
        </p:nvSpPr>
        <p:spPr>
          <a:xfrm>
            <a:off x="1280160" y="5020056"/>
            <a:ext cx="4572000" cy="347472"/>
          </a:xfrm>
          <a:prstGeom prst="rect">
            <a:avLst/>
          </a:prstGeom>
          <a:noFill/>
          <a:ln/>
        </p:spPr>
        <p:txBody>
          <a:bodyPr wrap="square" lIns="0" tIns="0" rIns="0" bIns="0" rtlCol="0" anchor="ctr"/>
          <a:lstStyle/>
          <a:p>
            <a:pPr indent="0" marL="0">
              <a:buNone/>
            </a:pPr>
            <a:r>
              <a:rPr lang="en-US" sz="1400" dirty="0">
                <a:solidFill>
                  <a:schemeClr val="tx1"/>
                </a:solidFill>
              </a:rPr>
              <a:t>Student 360° and placement-unprepared views tested</a:t>
            </a:r>
            <a:endParaRPr lang="en-US" sz="1400" dirty="0"/>
          </a:p>
        </p:txBody>
      </p:sp>
      <p:sp>
        <p:nvSpPr>
          <p:cNvPr id="32" name="Icon circle"/>
          <p:cNvSpPr/>
          <p:nvPr/>
        </p:nvSpPr>
        <p:spPr>
          <a:xfrm>
            <a:off x="822960" y="5468112"/>
            <a:ext cx="292608" cy="292608"/>
          </a:xfrm>
          <a:prstGeom prst="ellipse">
            <a:avLst/>
          </a:prstGeom>
          <a:solidFill>
            <a:schemeClr val="accent5"/>
          </a:solidFill>
          <a:ln/>
        </p:spPr>
      </p:sp>
      <p:pic>
        <p:nvPicPr>
          <p:cNvPr id="33" name="Image 7" descr="Check icon">    </p:cNvPr>
          <p:cNvPicPr>
            <a:picLocks noChangeAspect="1"/>
          </p:cNvPicPr>
          <p:nvPr/>
        </p:nvPicPr>
        <p:blipFill>
          <a:blip r:embed="rId10"/>
          <a:stretch>
            <a:fillRect/>
          </a:stretch>
        </p:blipFill>
        <p:spPr>
          <a:xfrm>
            <a:off x="899038" y="5544190"/>
            <a:ext cx="140452" cy="140452"/>
          </a:xfrm>
          <a:prstGeom prst="rect">
            <a:avLst/>
          </a:prstGeom>
        </p:spPr>
      </p:pic>
      <p:sp>
        <p:nvSpPr>
          <p:cNvPr id="34" name="Text 23"/>
          <p:cNvSpPr txBox="1"/>
          <p:nvPr/>
        </p:nvSpPr>
        <p:spPr>
          <a:xfrm>
            <a:off x="1280160" y="5440680"/>
            <a:ext cx="4572000" cy="347472"/>
          </a:xfrm>
          <a:prstGeom prst="rect">
            <a:avLst/>
          </a:prstGeom>
          <a:noFill/>
          <a:ln/>
        </p:spPr>
        <p:txBody>
          <a:bodyPr wrap="square" lIns="0" tIns="0" rIns="0" bIns="0" rtlCol="0" anchor="ctr"/>
          <a:lstStyle/>
          <a:p>
            <a:pPr indent="0" marL="0">
              <a:buNone/>
            </a:pPr>
            <a:r>
              <a:rPr lang="en-US" sz="1400" dirty="0">
                <a:solidFill>
                  <a:schemeClr val="tx1"/>
                </a:solidFill>
              </a:rPr>
              <a:t>Session-based access restrictions implemented</a:t>
            </a:r>
            <a:endParaRPr lang="en-US" sz="1400" dirty="0"/>
          </a:p>
        </p:txBody>
      </p:sp>
      <p:sp>
        <p:nvSpPr>
          <p:cNvPr id="35" name="Card"/>
          <p:cNvSpPr/>
          <p:nvPr/>
        </p:nvSpPr>
        <p:spPr>
          <a:xfrm>
            <a:off x="6181344" y="2697480"/>
            <a:ext cx="5458968" cy="3200400"/>
          </a:xfrm>
          <a:prstGeom prst="roundRect">
            <a:avLst>
              <a:gd name="adj" fmla="val 2286"/>
            </a:avLst>
          </a:prstGeom>
          <a:solidFill>
            <a:schemeClr val="bg2"/>
          </a:solidFill>
          <a:ln/>
        </p:spPr>
      </p:sp>
      <p:sp>
        <p:nvSpPr>
          <p:cNvPr id="36" name="Text 25"/>
          <p:cNvSpPr txBox="1"/>
          <p:nvPr/>
        </p:nvSpPr>
        <p:spPr>
          <a:xfrm>
            <a:off x="6455664" y="2834640"/>
            <a:ext cx="4937760" cy="365760"/>
          </a:xfrm>
          <a:prstGeom prst="rect">
            <a:avLst/>
          </a:prstGeom>
          <a:noFill/>
          <a:ln/>
        </p:spPr>
        <p:txBody>
          <a:bodyPr wrap="square" lIns="0" tIns="0" rIns="0" bIns="0" rtlCol="0" anchor="t"/>
          <a:lstStyle/>
          <a:p>
            <a:pPr indent="0" marL="0">
              <a:buNone/>
            </a:pPr>
            <a:r>
              <a:rPr lang="en-US" sz="1700" b="1" dirty="0">
                <a:solidFill>
                  <a:schemeClr val="tx2"/>
                </a:solidFill>
              </a:rPr>
              <a:t>Suggested evaluation sequence</a:t>
            </a:r>
            <a:endParaRPr lang="en-US" sz="1700" dirty="0"/>
          </a:p>
        </p:txBody>
      </p:sp>
      <p:sp>
        <p:nvSpPr>
          <p:cNvPr id="37" name="Text 26"/>
          <p:cNvSpPr txBox="1"/>
          <p:nvPr/>
        </p:nvSpPr>
        <p:spPr>
          <a:xfrm>
            <a:off x="6455664" y="3337560"/>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38" name="Text 27"/>
          <p:cNvSpPr txBox="1"/>
          <p:nvPr/>
        </p:nvSpPr>
        <p:spPr>
          <a:xfrm>
            <a:off x="6903720" y="3310128"/>
            <a:ext cx="4572000" cy="329184"/>
          </a:xfrm>
          <a:prstGeom prst="rect">
            <a:avLst/>
          </a:prstGeom>
          <a:noFill/>
          <a:ln/>
        </p:spPr>
        <p:txBody>
          <a:bodyPr wrap="square" lIns="0" tIns="0" rIns="0" bIns="0" rtlCol="0" anchor="ctr"/>
          <a:lstStyle/>
          <a:p>
            <a:pPr indent="0" marL="0">
              <a:buNone/>
            </a:pPr>
            <a:r>
              <a:rPr lang="en-US" sz="1400" dirty="0">
                <a:solidFill>
                  <a:schemeClr val="tx1"/>
                </a:solidFill>
              </a:rPr>
              <a:t>Log in as management</a:t>
            </a:r>
            <a:endParaRPr lang="en-US" sz="1400" dirty="0"/>
          </a:p>
        </p:txBody>
      </p:sp>
      <p:sp>
        <p:nvSpPr>
          <p:cNvPr id="39" name="Text 28"/>
          <p:cNvSpPr txBox="1"/>
          <p:nvPr/>
        </p:nvSpPr>
        <p:spPr>
          <a:xfrm>
            <a:off x="6455664" y="3703320"/>
            <a:ext cx="274320" cy="274320"/>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0" name="Text 29"/>
          <p:cNvSpPr txBox="1"/>
          <p:nvPr/>
        </p:nvSpPr>
        <p:spPr>
          <a:xfrm>
            <a:off x="6903720" y="3675888"/>
            <a:ext cx="4572000" cy="329184"/>
          </a:xfrm>
          <a:prstGeom prst="rect">
            <a:avLst/>
          </a:prstGeom>
          <a:noFill/>
          <a:ln/>
        </p:spPr>
        <p:txBody>
          <a:bodyPr wrap="square" lIns="0" tIns="0" rIns="0" bIns="0" rtlCol="0" anchor="ctr"/>
          <a:lstStyle/>
          <a:p>
            <a:pPr indent="0" marL="0">
              <a:buNone/>
            </a:pPr>
            <a:r>
              <a:rPr lang="en-US" sz="1400" dirty="0">
                <a:solidFill>
                  <a:schemeClr val="tx1"/>
                </a:solidFill>
              </a:rPr>
              <a:t>Review summary cards and risk charts</a:t>
            </a:r>
            <a:endParaRPr lang="en-US" sz="1400" dirty="0"/>
          </a:p>
        </p:txBody>
      </p:sp>
      <p:sp>
        <p:nvSpPr>
          <p:cNvPr id="41" name="Text 30"/>
          <p:cNvSpPr txBox="1"/>
          <p:nvPr/>
        </p:nvSpPr>
        <p:spPr>
          <a:xfrm>
            <a:off x="6455664" y="4069080"/>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42" name="Text 31"/>
          <p:cNvSpPr txBox="1"/>
          <p:nvPr/>
        </p:nvSpPr>
        <p:spPr>
          <a:xfrm>
            <a:off x="6903720" y="4041648"/>
            <a:ext cx="4572000" cy="329184"/>
          </a:xfrm>
          <a:prstGeom prst="rect">
            <a:avLst/>
          </a:prstGeom>
          <a:noFill/>
          <a:ln/>
        </p:spPr>
        <p:txBody>
          <a:bodyPr wrap="square" lIns="0" tIns="0" rIns="0" bIns="0" rtlCol="0" anchor="ctr"/>
          <a:lstStyle/>
          <a:p>
            <a:pPr indent="0" marL="0">
              <a:buNone/>
            </a:pPr>
            <a:r>
              <a:rPr lang="en-US" sz="1400" dirty="0">
                <a:solidFill>
                  <a:schemeClr val="tx1"/>
                </a:solidFill>
              </a:rPr>
              <a:t>Filter and search students</a:t>
            </a:r>
            <a:endParaRPr lang="en-US" sz="1400" dirty="0"/>
          </a:p>
        </p:txBody>
      </p:sp>
      <p:sp>
        <p:nvSpPr>
          <p:cNvPr id="43" name="Text 32"/>
          <p:cNvSpPr txBox="1"/>
          <p:nvPr/>
        </p:nvSpPr>
        <p:spPr>
          <a:xfrm>
            <a:off x="6455664" y="4434840"/>
            <a:ext cx="274320" cy="274320"/>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44" name="Text 33"/>
          <p:cNvSpPr txBox="1"/>
          <p:nvPr/>
        </p:nvSpPr>
        <p:spPr>
          <a:xfrm>
            <a:off x="6903720" y="4407408"/>
            <a:ext cx="4572000" cy="329184"/>
          </a:xfrm>
          <a:prstGeom prst="rect">
            <a:avLst/>
          </a:prstGeom>
          <a:noFill/>
          <a:ln/>
        </p:spPr>
        <p:txBody>
          <a:bodyPr wrap="square" lIns="0" tIns="0" rIns="0" bIns="0" rtlCol="0" anchor="ctr"/>
          <a:lstStyle/>
          <a:p>
            <a:pPr indent="0" marL="0">
              <a:buNone/>
            </a:pPr>
            <a:r>
              <a:rPr lang="en-US" sz="1400" dirty="0">
                <a:solidFill>
                  <a:schemeClr val="tx1"/>
                </a:solidFill>
              </a:rPr>
              <a:t>Open a Student 360° profile</a:t>
            </a:r>
            <a:endParaRPr lang="en-US" sz="1400" dirty="0"/>
          </a:p>
        </p:txBody>
      </p:sp>
      <p:sp>
        <p:nvSpPr>
          <p:cNvPr id="45" name="Text 34"/>
          <p:cNvSpPr txBox="1"/>
          <p:nvPr/>
        </p:nvSpPr>
        <p:spPr>
          <a:xfrm>
            <a:off x="6455664" y="4800600"/>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6" name="Text 35"/>
          <p:cNvSpPr txBox="1"/>
          <p:nvPr/>
        </p:nvSpPr>
        <p:spPr>
          <a:xfrm>
            <a:off x="6903720" y="4773168"/>
            <a:ext cx="4572000" cy="329184"/>
          </a:xfrm>
          <a:prstGeom prst="rect">
            <a:avLst/>
          </a:prstGeom>
          <a:noFill/>
          <a:ln/>
        </p:spPr>
        <p:txBody>
          <a:bodyPr wrap="square" lIns="0" tIns="0" rIns="0" bIns="0" rtlCol="0" anchor="ctr"/>
          <a:lstStyle/>
          <a:p>
            <a:pPr indent="0" marL="0">
              <a:buNone/>
            </a:pPr>
            <a:r>
              <a:rPr lang="en-US" sz="1400" dirty="0">
                <a:solidFill>
                  <a:schemeClr val="tx1"/>
                </a:solidFill>
              </a:rPr>
              <a:t>Explain a student's risk indicators</a:t>
            </a:r>
            <a:endParaRPr lang="en-US" sz="1400" dirty="0"/>
          </a:p>
        </p:txBody>
      </p:sp>
      <p:sp>
        <p:nvSpPr>
          <p:cNvPr id="47" name="Text 36"/>
          <p:cNvSpPr txBox="1"/>
          <p:nvPr/>
        </p:nvSpPr>
        <p:spPr>
          <a:xfrm>
            <a:off x="6455664" y="5166360"/>
            <a:ext cx="274320" cy="274320"/>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48" name="Text 37"/>
          <p:cNvSpPr txBox="1"/>
          <p:nvPr/>
        </p:nvSpPr>
        <p:spPr>
          <a:xfrm>
            <a:off x="6903720" y="5138928"/>
            <a:ext cx="4572000" cy="329184"/>
          </a:xfrm>
          <a:prstGeom prst="rect">
            <a:avLst/>
          </a:prstGeom>
          <a:noFill/>
          <a:ln/>
        </p:spPr>
        <p:txBody>
          <a:bodyPr wrap="square" lIns="0" tIns="0" rIns="0" bIns="0" rtlCol="0" anchor="ctr"/>
          <a:lstStyle/>
          <a:p>
            <a:pPr indent="0" marL="0">
              <a:buNone/>
            </a:pPr>
            <a:r>
              <a:rPr lang="en-US" sz="1400" dirty="0">
                <a:solidFill>
                  <a:schemeClr val="tx1"/>
                </a:solidFill>
              </a:rPr>
              <a:t>Review the proposed interventions</a:t>
            </a:r>
            <a:endParaRPr lang="en-US" sz="1400" dirty="0"/>
          </a:p>
        </p:txBody>
      </p:sp>
      <p:sp>
        <p:nvSpPr>
          <p:cNvPr id="49" name="Text 38"/>
          <p:cNvSpPr txBox="1"/>
          <p:nvPr/>
        </p:nvSpPr>
        <p:spPr>
          <a:xfrm>
            <a:off x="6455664" y="5532120"/>
            <a:ext cx="274320" cy="274320"/>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50" name="Text 39"/>
          <p:cNvSpPr txBox="1"/>
          <p:nvPr/>
        </p:nvSpPr>
        <p:spPr>
          <a:xfrm>
            <a:off x="6903720" y="5504688"/>
            <a:ext cx="4572000" cy="329184"/>
          </a:xfrm>
          <a:prstGeom prst="rect">
            <a:avLst/>
          </a:prstGeom>
          <a:noFill/>
          <a:ln/>
        </p:spPr>
        <p:txBody>
          <a:bodyPr wrap="square" lIns="0" tIns="0" rIns="0" bIns="0" rtlCol="0" anchor="ctr"/>
          <a:lstStyle/>
          <a:p>
            <a:pPr indent="0" marL="0">
              <a:buNone/>
            </a:pPr>
            <a:r>
              <a:rPr lang="en-US" sz="1400" dirty="0">
                <a:solidFill>
                  <a:schemeClr val="tx1"/>
                </a:solidFill>
              </a:rPr>
              <a:t>Show the placement-unprepared segment</a:t>
            </a:r>
            <a:endParaRPr lang="en-US" sz="1400" dirty="0"/>
          </a:p>
        </p:txBody>
      </p:sp>
      <p:sp>
        <p:nvSpPr>
          <p:cNvPr id="51" name="Text 40"/>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200" i="1" dirty="0">
                <a:solidFill>
                  <a:schemeClr val="accent6"/>
                </a:solidFill>
              </a:rPr>
              <a:t>Free-tier hosting may need extra time to wake after inactivity.</a:t>
            </a:r>
            <a:endParaRPr lang="en-US" sz="12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RESPONSIBLE USE</a:t>
            </a:r>
            <a:endParaRPr lang="en-US" sz="12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ctr"/>
          <a:lstStyle/>
          <a:p>
            <a:pPr algn="l" indent="0" marL="0">
              <a:buNone/>
            </a:pPr>
            <a:r>
              <a:rPr lang="en-US" sz="3000" b="1" dirty="0">
                <a:solidFill>
                  <a:schemeClr val="tx2"/>
                </a:solidFill>
              </a:rPr>
              <a:t>Responsible use, limitations and roadmap</a:t>
            </a:r>
            <a:endParaRPr lang="en-US" sz="3000" dirty="0"/>
          </a:p>
        </p:txBody>
      </p:sp>
      <p:sp>
        <p:nvSpPr>
          <p:cNvPr id="5" name="Card"/>
          <p:cNvSpPr/>
          <p:nvPr/>
        </p:nvSpPr>
        <p:spPr>
          <a:xfrm>
            <a:off x="548640" y="1463040"/>
            <a:ext cx="3566160" cy="3931920"/>
          </a:xfrm>
          <a:prstGeom prst="roundRect">
            <a:avLst>
              <a:gd name="adj" fmla="val 2051"/>
            </a:avLst>
          </a:prstGeom>
          <a:solidFill>
            <a:schemeClr val="bg2"/>
          </a:solidFill>
          <a:ln/>
        </p:spPr>
      </p:sp>
      <p:sp>
        <p:nvSpPr>
          <p:cNvPr id="6" name="Card"/>
          <p:cNvSpPr/>
          <p:nvPr/>
        </p:nvSpPr>
        <p:spPr>
          <a:xfrm>
            <a:off x="548640" y="1463040"/>
            <a:ext cx="3566160" cy="594360"/>
          </a:xfrm>
          <a:prstGeom prst="roundRect">
            <a:avLst>
              <a:gd name="adj" fmla="val 12308"/>
            </a:avLst>
          </a:prstGeom>
          <a:solidFill>
            <a:schemeClr val="accent2"/>
          </a:solidFill>
          <a:ln/>
        </p:spPr>
      </p:sp>
      <p:sp>
        <p:nvSpPr>
          <p:cNvPr id="7" name="Text 4"/>
          <p:cNvSpPr txBox="1"/>
          <p:nvPr/>
        </p:nvSpPr>
        <p:spPr>
          <a:xfrm>
            <a:off x="548640" y="1463040"/>
            <a:ext cx="3566160" cy="594360"/>
          </a:xfrm>
          <a:prstGeom prst="rect">
            <a:avLst/>
          </a:prstGeom>
          <a:noFill/>
          <a:ln/>
        </p:spPr>
        <p:txBody>
          <a:bodyPr wrap="square" lIns="0" tIns="0" rIns="0" bIns="0" rtlCol="0" anchor="ctr"/>
          <a:lstStyle/>
          <a:p>
            <a:pPr algn="ctr" indent="0" marL="0">
              <a:buNone/>
            </a:pPr>
            <a:r>
              <a:rPr lang="en-US" sz="1700" b="1" dirty="0">
                <a:solidFill>
                  <a:schemeClr val="bg1"/>
                </a:solidFill>
              </a:rPr>
              <a:t>Current prototype</a:t>
            </a:r>
            <a:endParaRPr lang="en-US" sz="1700" dirty="0"/>
          </a:p>
        </p:txBody>
      </p:sp>
      <p:sp>
        <p:nvSpPr>
          <p:cNvPr id="8" name="Text 5"/>
          <p:cNvSpPr txBox="1"/>
          <p:nvPr/>
        </p:nvSpPr>
        <p:spPr>
          <a:xfrm>
            <a:off x="777240" y="2286000"/>
            <a:ext cx="310896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Uses synthetic demonstration data</a:t>
            </a:r>
            <a:endParaRPr lang="en-US" sz="1500" dirty="0"/>
          </a:p>
          <a:p>
            <a:pPr marL="342900" indent="-342900">
              <a:spcAft>
                <a:spcPts val="600"/>
              </a:spcAft>
              <a:buSzPct val="100000"/>
              <a:buChar char="•"/>
            </a:pPr>
            <a:r>
              <a:rPr lang="en-US" sz="1500" dirty="0">
                <a:solidFill>
                  <a:schemeClr val="tx1"/>
                </a:solidFill>
              </a:rPr>
              <a:t>Weighted scoring with predefined thresholds</a:t>
            </a:r>
            <a:endParaRPr lang="en-US" sz="1500" dirty="0"/>
          </a:p>
          <a:p>
            <a:pPr marL="342900" indent="-342900">
              <a:spcAft>
                <a:spcPts val="600"/>
              </a:spcAft>
              <a:buSzPct val="100000"/>
              <a:buChar char="•"/>
            </a:pPr>
            <a:r>
              <a:rPr lang="en-US" sz="1500" dirty="0">
                <a:solidFill>
                  <a:schemeClr val="tx1"/>
                </a:solidFill>
              </a:rPr>
              <a:t>Rule-based explanations and recommendations</a:t>
            </a:r>
            <a:endParaRPr lang="en-US" sz="1500" dirty="0"/>
          </a:p>
          <a:p>
            <a:pPr marL="342900" indent="-342900">
              <a:spcAft>
                <a:spcPts val="600"/>
              </a:spcAft>
              <a:buSzPct val="100000"/>
              <a:buChar char="•"/>
            </a:pPr>
            <a:r>
              <a:rPr lang="en-US" sz="1500" dirty="0">
                <a:solidFill>
                  <a:schemeClr val="tx1"/>
                </a:solidFill>
              </a:rPr>
              <a:t>Includes a K-Means segmentation module</a:t>
            </a:r>
            <a:endParaRPr lang="en-US" sz="1500" dirty="0"/>
          </a:p>
          <a:p>
            <a:pPr marL="342900" indent="-342900">
              <a:spcAft>
                <a:spcPts val="600"/>
              </a:spcAft>
              <a:buSzPct val="100000"/>
              <a:buChar char="•"/>
            </a:pPr>
            <a:r>
              <a:rPr lang="en-US" sz="1500" dirty="0">
                <a:solidFill>
                  <a:schemeClr val="tx1"/>
                </a:solidFill>
              </a:rPr>
              <a:t>Not validated against real student outcomes</a:t>
            </a:r>
            <a:endParaRPr lang="en-US" sz="1500" dirty="0"/>
          </a:p>
        </p:txBody>
      </p:sp>
      <p:sp>
        <p:nvSpPr>
          <p:cNvPr id="9" name="Card"/>
          <p:cNvSpPr/>
          <p:nvPr/>
        </p:nvSpPr>
        <p:spPr>
          <a:xfrm>
            <a:off x="4311396" y="1463040"/>
            <a:ext cx="3566160" cy="3931920"/>
          </a:xfrm>
          <a:prstGeom prst="roundRect">
            <a:avLst>
              <a:gd name="adj" fmla="val 2051"/>
            </a:avLst>
          </a:prstGeom>
          <a:solidFill>
            <a:schemeClr val="bg2"/>
          </a:solidFill>
          <a:ln/>
        </p:spPr>
      </p:sp>
      <p:sp>
        <p:nvSpPr>
          <p:cNvPr id="10" name="Card"/>
          <p:cNvSpPr/>
          <p:nvPr/>
        </p:nvSpPr>
        <p:spPr>
          <a:xfrm>
            <a:off x="4311396" y="1463040"/>
            <a:ext cx="3566160" cy="594360"/>
          </a:xfrm>
          <a:prstGeom prst="roundRect">
            <a:avLst>
              <a:gd name="adj" fmla="val 12308"/>
            </a:avLst>
          </a:prstGeom>
          <a:solidFill>
            <a:schemeClr val="accent1"/>
          </a:solidFill>
          <a:ln/>
        </p:spPr>
      </p:sp>
      <p:sp>
        <p:nvSpPr>
          <p:cNvPr id="11" name="Text 8"/>
          <p:cNvSpPr txBox="1"/>
          <p:nvPr/>
        </p:nvSpPr>
        <p:spPr>
          <a:xfrm>
            <a:off x="4311396" y="1463040"/>
            <a:ext cx="3566160" cy="594360"/>
          </a:xfrm>
          <a:prstGeom prst="rect">
            <a:avLst/>
          </a:prstGeom>
          <a:noFill/>
          <a:ln/>
        </p:spPr>
        <p:txBody>
          <a:bodyPr wrap="square" lIns="0" tIns="0" rIns="0" bIns="0" rtlCol="0" anchor="ctr"/>
          <a:lstStyle/>
          <a:p>
            <a:pPr algn="ctr" indent="0" marL="0">
              <a:buNone/>
            </a:pPr>
            <a:r>
              <a:rPr lang="en-US" sz="1700" b="1" dirty="0">
                <a:solidFill>
                  <a:schemeClr val="bg1"/>
                </a:solidFill>
              </a:rPr>
              <a:t>Responsible use</a:t>
            </a:r>
            <a:endParaRPr lang="en-US" sz="1700" dirty="0"/>
          </a:p>
        </p:txBody>
      </p:sp>
      <p:sp>
        <p:nvSpPr>
          <p:cNvPr id="12" name="Text 9"/>
          <p:cNvSpPr txBox="1"/>
          <p:nvPr/>
        </p:nvSpPr>
        <p:spPr>
          <a:xfrm>
            <a:off x="4539996" y="2286000"/>
            <a:ext cx="310896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Flags guide support; they should not label or penalize students</a:t>
            </a:r>
            <a:endParaRPr lang="en-US" sz="1500" dirty="0"/>
          </a:p>
          <a:p>
            <a:pPr marL="342900" indent="-342900">
              <a:spcAft>
                <a:spcPts val="600"/>
              </a:spcAft>
              <a:buSzPct val="100000"/>
              <a:buChar char="•"/>
            </a:pPr>
            <a:r>
              <a:rPr lang="en-US" sz="1500" dirty="0">
                <a:solidFill>
                  <a:schemeClr val="tx1"/>
                </a:solidFill>
              </a:rPr>
              <a:t>Faculty review recommendations before acting</a:t>
            </a:r>
            <a:endParaRPr lang="en-US" sz="1500" dirty="0"/>
          </a:p>
          <a:p>
            <a:pPr marL="342900" indent="-342900">
              <a:spcAft>
                <a:spcPts val="600"/>
              </a:spcAft>
              <a:buSzPct val="100000"/>
              <a:buChar char="•"/>
            </a:pPr>
            <a:r>
              <a:rPr lang="en-US" sz="1500" dirty="0">
                <a:solidFill>
                  <a:schemeClr val="tx1"/>
                </a:solidFill>
              </a:rPr>
              <a:t>Real deployment needs privacy, security and access controls</a:t>
            </a:r>
            <a:endParaRPr lang="en-US" sz="1500" dirty="0"/>
          </a:p>
          <a:p>
            <a:pPr marL="342900" indent="-342900">
              <a:spcAft>
                <a:spcPts val="600"/>
              </a:spcAft>
              <a:buSzPct val="100000"/>
              <a:buChar char="•"/>
            </a:pPr>
            <a:r>
              <a:rPr lang="en-US" sz="1500" dirty="0">
                <a:solidFill>
                  <a:schemeClr val="tx1"/>
                </a:solidFill>
              </a:rPr>
              <a:t>Data-quality checks and validation of scoring assumptions</a:t>
            </a:r>
            <a:endParaRPr lang="en-US" sz="1500" dirty="0"/>
          </a:p>
        </p:txBody>
      </p:sp>
      <p:sp>
        <p:nvSpPr>
          <p:cNvPr id="13" name="Card"/>
          <p:cNvSpPr/>
          <p:nvPr/>
        </p:nvSpPr>
        <p:spPr>
          <a:xfrm>
            <a:off x="8074152" y="1463040"/>
            <a:ext cx="3566160" cy="3931920"/>
          </a:xfrm>
          <a:prstGeom prst="roundRect">
            <a:avLst>
              <a:gd name="adj" fmla="val 2051"/>
            </a:avLst>
          </a:prstGeom>
          <a:solidFill>
            <a:schemeClr val="bg2"/>
          </a:solidFill>
          <a:ln/>
        </p:spPr>
      </p:sp>
      <p:sp>
        <p:nvSpPr>
          <p:cNvPr id="14" name="Card"/>
          <p:cNvSpPr/>
          <p:nvPr/>
        </p:nvSpPr>
        <p:spPr>
          <a:xfrm>
            <a:off x="8074152" y="1463040"/>
            <a:ext cx="3566160" cy="594360"/>
          </a:xfrm>
          <a:prstGeom prst="roundRect">
            <a:avLst>
              <a:gd name="adj" fmla="val 12308"/>
            </a:avLst>
          </a:prstGeom>
          <a:solidFill>
            <a:schemeClr val="tx2"/>
          </a:solidFill>
          <a:ln/>
        </p:spPr>
      </p:sp>
      <p:sp>
        <p:nvSpPr>
          <p:cNvPr id="15" name="Text 12"/>
          <p:cNvSpPr txBox="1"/>
          <p:nvPr/>
        </p:nvSpPr>
        <p:spPr>
          <a:xfrm>
            <a:off x="8074152" y="1463040"/>
            <a:ext cx="3566160" cy="594360"/>
          </a:xfrm>
          <a:prstGeom prst="rect">
            <a:avLst/>
          </a:prstGeom>
          <a:noFill/>
          <a:ln/>
        </p:spPr>
        <p:txBody>
          <a:bodyPr wrap="square" lIns="0" tIns="0" rIns="0" bIns="0" rtlCol="0" anchor="ctr"/>
          <a:lstStyle/>
          <a:p>
            <a:pPr algn="ctr" indent="0" marL="0">
              <a:buNone/>
            </a:pPr>
            <a:r>
              <a:rPr lang="en-US" sz="1700" b="1" dirty="0">
                <a:solidFill>
                  <a:schemeClr val="bg1"/>
                </a:solidFill>
              </a:rPr>
              <a:t>Future roadmap</a:t>
            </a:r>
            <a:endParaRPr lang="en-US" sz="1700" dirty="0"/>
          </a:p>
        </p:txBody>
      </p:sp>
      <p:sp>
        <p:nvSpPr>
          <p:cNvPr id="16" name="Text 13"/>
          <p:cNvSpPr txBox="1"/>
          <p:nvPr/>
        </p:nvSpPr>
        <p:spPr>
          <a:xfrm>
            <a:off x="8302752" y="2286000"/>
            <a:ext cx="3108960" cy="30175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Integrate authorized live institutional data</a:t>
            </a:r>
            <a:endParaRPr lang="en-US" sz="1500" dirty="0"/>
          </a:p>
          <a:p>
            <a:pPr marL="342900" indent="-342900">
              <a:spcAft>
                <a:spcPts val="600"/>
              </a:spcAft>
              <a:buSzPct val="100000"/>
              <a:buFont typeface="+mj-lt"/>
              <a:buAutoNum type="arabicPeriod" startAt="1"/>
            </a:pPr>
            <a:r>
              <a:rPr lang="en-US" sz="1500" dirty="0">
                <a:solidFill>
                  <a:schemeClr val="tx1"/>
                </a:solidFill>
              </a:rPr>
              <a:t>Validate scores against historical outcomes</a:t>
            </a:r>
            <a:endParaRPr lang="en-US" sz="1500" dirty="0"/>
          </a:p>
          <a:p>
            <a:pPr marL="342900" indent="-342900">
              <a:spcAft>
                <a:spcPts val="600"/>
              </a:spcAft>
              <a:buSzPct val="100000"/>
              <a:buFont typeface="+mj-lt"/>
              <a:buAutoNum type="arabicPeriod" startAt="1"/>
            </a:pPr>
            <a:r>
              <a:rPr lang="en-US" sz="1500" dirty="0">
                <a:solidFill>
                  <a:schemeClr val="tx1"/>
                </a:solidFill>
              </a:rPr>
              <a:t>Measure precision and recall if predictive models are added</a:t>
            </a:r>
            <a:endParaRPr lang="en-US" sz="1500" dirty="0"/>
          </a:p>
          <a:p>
            <a:pPr marL="342900" indent="-342900">
              <a:spcAft>
                <a:spcPts val="600"/>
              </a:spcAft>
              <a:buSzPct val="100000"/>
              <a:buFont typeface="+mj-lt"/>
              <a:buAutoNum type="arabicPeriod" startAt="1"/>
            </a:pPr>
            <a:r>
              <a:rPr lang="en-US" sz="1500" dirty="0">
                <a:solidFill>
                  <a:schemeClr val="tx1"/>
                </a:solidFill>
              </a:rPr>
              <a:t>Add numerical contribution breakdown</a:t>
            </a:r>
            <a:endParaRPr lang="en-US" sz="1500" dirty="0"/>
          </a:p>
          <a:p>
            <a:pPr marL="342900" indent="-342900">
              <a:spcAft>
                <a:spcPts val="600"/>
              </a:spcAft>
              <a:buSzPct val="100000"/>
              <a:buFont typeface="+mj-lt"/>
              <a:buAutoNum type="arabicPeriod" startAt="1"/>
            </a:pPr>
            <a:r>
              <a:rPr lang="en-US" sz="1500" dirty="0">
                <a:solidFill>
                  <a:schemeClr val="tx1"/>
                </a:solidFill>
              </a:rPr>
              <a:t>Enable faculty intervention tracking</a:t>
            </a:r>
            <a:endParaRPr lang="en-US" sz="1500" dirty="0"/>
          </a:p>
          <a:p>
            <a:pPr marL="342900" indent="-342900">
              <a:spcAft>
                <a:spcPts val="600"/>
              </a:spcAft>
              <a:buSzPct val="100000"/>
              <a:buFont typeface="+mj-lt"/>
              <a:buAutoNum type="arabicPeriod" startAt="1"/>
            </a:pPr>
            <a:r>
              <a:rPr lang="en-US" sz="1500" dirty="0">
                <a:solidFill>
                  <a:schemeClr val="tx1"/>
                </a:solidFill>
              </a:rPr>
              <a:t>Monitor fairness, data quality and performance</a:t>
            </a:r>
            <a:endParaRPr lang="en-US" sz="1500" dirty="0"/>
          </a:p>
        </p:txBody>
      </p:sp>
      <p:sp>
        <p:nvSpPr>
          <p:cNvPr id="17" name="Card"/>
          <p:cNvSpPr/>
          <p:nvPr/>
        </p:nvSpPr>
        <p:spPr>
          <a:xfrm>
            <a:off x="548640" y="5577840"/>
            <a:ext cx="11091672" cy="640080"/>
          </a:xfrm>
          <a:prstGeom prst="roundRect">
            <a:avLst>
              <a:gd name="adj" fmla="val 11429"/>
            </a:avLst>
          </a:prstGeom>
          <a:solidFill>
            <a:schemeClr val="tx2"/>
          </a:solidFill>
          <a:ln/>
        </p:spPr>
      </p:sp>
      <p:sp>
        <p:nvSpPr>
          <p:cNvPr id="18" name="Text 15"/>
          <p:cNvSpPr txBox="1"/>
          <p:nvPr/>
        </p:nvSpPr>
        <p:spPr>
          <a:xfrm>
            <a:off x="777240" y="5577840"/>
            <a:ext cx="10698480" cy="640080"/>
          </a:xfrm>
          <a:prstGeom prst="rect">
            <a:avLst/>
          </a:prstGeom>
          <a:noFill/>
          <a:ln/>
        </p:spPr>
        <p:txBody>
          <a:bodyPr wrap="square" lIns="0" tIns="0" rIns="0" bIns="0" rtlCol="0" anchor="ctr"/>
          <a:lstStyle/>
          <a:p>
            <a:pPr indent="0" marL="0">
              <a:buNone/>
            </a:pPr>
            <a:r>
              <a:rPr lang="en-US" sz="1400" b="1" dirty="0">
                <a:solidFill>
                  <a:srgbClr val="3FD0C9"/>
                </a:solidFill>
              </a:rPr>
              <a:t>Long-term vision: </a:t>
            </a:r>
            <a:pPr indent="0" marL="0">
              <a:buNone/>
            </a:pPr>
            <a:r>
              <a:rPr lang="en-US" sz="1400" dirty="0">
                <a:solidFill>
                  <a:schemeClr val="bg1"/>
                </a:solidFill>
              </a:rPr>
              <a:t>an institution-ready decision-support platform that continuously improves how student support is prioritized and evaluated.</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640080" y="731520"/>
            <a:ext cx="6035040" cy="914400"/>
          </a:xfrm>
          <a:prstGeom prst="rect">
            <a:avLst/>
          </a:prstGeom>
          <a:noFill/>
          <a:ln/>
        </p:spPr>
        <p:txBody>
          <a:bodyPr wrap="square" lIns="0" tIns="0" rIns="0" bIns="0" rtlCol="0" anchor="ctr"/>
          <a:lstStyle/>
          <a:p>
            <a:pPr indent="0" marL="0">
              <a:buNone/>
            </a:pPr>
            <a:r>
              <a:rPr lang="en-US" sz="5400" b="1" dirty="0">
                <a:solidFill>
                  <a:schemeClr val="bg1"/>
                </a:solidFill>
              </a:rPr>
              <a:t>EduPulse AI</a:t>
            </a:r>
            <a:endParaRPr lang="en-US" sz="5400" dirty="0"/>
          </a:p>
        </p:txBody>
      </p:sp>
      <p:sp>
        <p:nvSpPr>
          <p:cNvPr id="4" name="Text 1"/>
          <p:cNvSpPr txBox="1"/>
          <p:nvPr/>
        </p:nvSpPr>
        <p:spPr>
          <a:xfrm>
            <a:off x="640080" y="1691640"/>
            <a:ext cx="6035040" cy="457200"/>
          </a:xfrm>
          <a:prstGeom prst="rect">
            <a:avLst/>
          </a:prstGeom>
          <a:noFill/>
          <a:ln/>
        </p:spPr>
        <p:txBody>
          <a:bodyPr wrap="square" lIns="0" tIns="0" rIns="0" bIns="0" rtlCol="0" anchor="t"/>
          <a:lstStyle/>
          <a:p>
            <a:pPr indent="0" marL="0">
              <a:buNone/>
            </a:pPr>
            <a:r>
              <a:rPr lang="en-US" sz="2400" b="1" dirty="0">
                <a:solidFill>
                  <a:srgbClr val="3FD0C9"/>
                </a:solidFill>
              </a:rPr>
              <a:t>Predict. Explain. Intervene. Improve.</a:t>
            </a:r>
            <a:endParaRPr lang="en-US" sz="2400" dirty="0"/>
          </a:p>
        </p:txBody>
      </p:sp>
      <p:sp>
        <p:nvSpPr>
          <p:cNvPr id="5" name="Text 2"/>
          <p:cNvSpPr txBox="1"/>
          <p:nvPr/>
        </p:nvSpPr>
        <p:spPr>
          <a:xfrm>
            <a:off x="640080" y="2331720"/>
            <a:ext cx="5852160" cy="914400"/>
          </a:xfrm>
          <a:prstGeom prst="rect">
            <a:avLst/>
          </a:prstGeom>
          <a:noFill/>
          <a:ln/>
        </p:spPr>
        <p:txBody>
          <a:bodyPr wrap="square" lIns="0" tIns="0" rIns="0" bIns="0" rtlCol="0" anchor="t"/>
          <a:lstStyle/>
          <a:p>
            <a:pPr indent="0" marL="0">
              <a:buNone/>
            </a:pPr>
            <a:r>
              <a:rPr lang="en-US" sz="1600" dirty="0">
                <a:solidFill>
                  <a:srgbClr val="B8C4D6"/>
                </a:solidFill>
              </a:rPr>
              <a:t>EduPulse AI demonstrates how integrated student data can support more targeted academic and placement interventions.</a:t>
            </a:r>
            <a:endParaRPr lang="en-US" sz="1600" dirty="0"/>
          </a:p>
        </p:txBody>
      </p:sp>
      <p:sp>
        <p:nvSpPr>
          <p:cNvPr id="6" name="Text 3"/>
          <p:cNvSpPr txBox="1"/>
          <p:nvPr/>
        </p:nvSpPr>
        <p:spPr>
          <a:xfrm>
            <a:off x="640080" y="3611880"/>
            <a:ext cx="5852160" cy="274320"/>
          </a:xfrm>
          <a:prstGeom prst="rect">
            <a:avLst/>
          </a:prstGeom>
          <a:noFill/>
          <a:ln/>
        </p:spPr>
        <p:txBody>
          <a:bodyPr wrap="square" lIns="0" tIns="0" rIns="0" bIns="0" rtlCol="0" anchor="t"/>
          <a:lstStyle/>
          <a:p>
            <a:pPr indent="0" marL="0">
              <a:buNone/>
            </a:pPr>
            <a:r>
              <a:rPr lang="en-US" sz="1200" b="1" spc="200" kern="0" dirty="0">
                <a:solidFill>
                  <a:srgbClr val="3FD0C9"/>
                </a:solidFill>
              </a:rPr>
              <a:t>OUR DECISION-INTELLIGENCE APPROACH</a:t>
            </a:r>
            <a:endParaRPr lang="en-US" sz="1200" dirty="0"/>
          </a:p>
        </p:txBody>
      </p:sp>
      <p:sp>
        <p:nvSpPr>
          <p:cNvPr id="7" name="Text 4"/>
          <p:cNvSpPr txBox="1"/>
          <p:nvPr/>
        </p:nvSpPr>
        <p:spPr>
          <a:xfrm>
            <a:off x="640080" y="4023360"/>
            <a:ext cx="1828800" cy="457200"/>
          </a:xfrm>
          <a:prstGeom prst="roundRect">
            <a:avLst>
              <a:gd name="adj" fmla="val 50000"/>
            </a:avLst>
          </a:prstGeom>
          <a:solidFill>
            <a:schemeClr val="accent1"/>
          </a:solidFill>
          <a:ln/>
        </p:spPr>
        <p:txBody>
          <a:bodyPr wrap="square" lIns="508" tIns="508" rIns="508" bIns="508" rtlCol="0" anchor="ctr"/>
          <a:lstStyle/>
          <a:p>
            <a:pPr algn="ctr" indent="0" marL="0">
              <a:buNone/>
            </a:pPr>
            <a:r>
              <a:rPr lang="en-US" sz="1300" b="1" dirty="0">
                <a:solidFill>
                  <a:schemeClr val="bg1"/>
                </a:solidFill>
              </a:rPr>
              <a:t>Integrate data</a:t>
            </a:r>
            <a:endParaRPr lang="en-US" sz="1300" dirty="0"/>
          </a:p>
        </p:txBody>
      </p:sp>
      <p:sp>
        <p:nvSpPr>
          <p:cNvPr id="8" name="Text 5"/>
          <p:cNvSpPr txBox="1"/>
          <p:nvPr/>
        </p:nvSpPr>
        <p:spPr>
          <a:xfrm>
            <a:off x="2606040" y="4023360"/>
            <a:ext cx="1828800" cy="457200"/>
          </a:xfrm>
          <a:prstGeom prst="roundRect">
            <a:avLst>
              <a:gd name="adj" fmla="val 50000"/>
            </a:avLst>
          </a:prstGeom>
          <a:solidFill>
            <a:schemeClr val="accent2"/>
          </a:solidFill>
          <a:ln/>
        </p:spPr>
        <p:txBody>
          <a:bodyPr wrap="square" lIns="508" tIns="508" rIns="508" bIns="508" rtlCol="0" anchor="ctr"/>
          <a:lstStyle/>
          <a:p>
            <a:pPr algn="ctr" indent="0" marL="0">
              <a:buNone/>
            </a:pPr>
            <a:r>
              <a:rPr lang="en-US" sz="1300" b="1" dirty="0">
                <a:solidFill>
                  <a:schemeClr val="bg1"/>
                </a:solidFill>
              </a:rPr>
              <a:t>Score success</a:t>
            </a:r>
            <a:endParaRPr lang="en-US" sz="1300" dirty="0"/>
          </a:p>
        </p:txBody>
      </p:sp>
      <p:sp>
        <p:nvSpPr>
          <p:cNvPr id="9" name="Text 6"/>
          <p:cNvSpPr txBox="1"/>
          <p:nvPr/>
        </p:nvSpPr>
        <p:spPr>
          <a:xfrm>
            <a:off x="4572000" y="4023360"/>
            <a:ext cx="1828800" cy="457200"/>
          </a:xfrm>
          <a:prstGeom prst="roundRect">
            <a:avLst>
              <a:gd name="adj" fmla="val 50000"/>
            </a:avLst>
          </a:prstGeom>
          <a:solidFill>
            <a:schemeClr val="accent1"/>
          </a:solidFill>
          <a:ln/>
        </p:spPr>
        <p:txBody>
          <a:bodyPr wrap="square" lIns="508" tIns="508" rIns="508" bIns="508" rtlCol="0" anchor="ctr"/>
          <a:lstStyle/>
          <a:p>
            <a:pPr algn="ctr" indent="0" marL="0">
              <a:buNone/>
            </a:pPr>
            <a:r>
              <a:rPr lang="en-US" sz="1300" b="1" dirty="0">
                <a:solidFill>
                  <a:schemeClr val="bg1"/>
                </a:solidFill>
              </a:rPr>
              <a:t>Identify risk</a:t>
            </a:r>
            <a:endParaRPr lang="en-US" sz="1300" dirty="0"/>
          </a:p>
        </p:txBody>
      </p:sp>
      <p:sp>
        <p:nvSpPr>
          <p:cNvPr id="10" name="Text 7"/>
          <p:cNvSpPr txBox="1"/>
          <p:nvPr/>
        </p:nvSpPr>
        <p:spPr>
          <a:xfrm>
            <a:off x="640080" y="4617720"/>
            <a:ext cx="1828800" cy="457200"/>
          </a:xfrm>
          <a:prstGeom prst="roundRect">
            <a:avLst>
              <a:gd name="adj" fmla="val 50000"/>
            </a:avLst>
          </a:prstGeom>
          <a:solidFill>
            <a:schemeClr val="accent2"/>
          </a:solidFill>
          <a:ln/>
        </p:spPr>
        <p:txBody>
          <a:bodyPr wrap="square" lIns="508" tIns="508" rIns="508" bIns="508" rtlCol="0" anchor="ctr"/>
          <a:lstStyle/>
          <a:p>
            <a:pPr algn="ctr" indent="0" marL="0">
              <a:buNone/>
            </a:pPr>
            <a:r>
              <a:rPr lang="en-US" sz="1300" b="1" dirty="0">
                <a:solidFill>
                  <a:schemeClr val="bg1"/>
                </a:solidFill>
              </a:rPr>
              <a:t>Explain concerns</a:t>
            </a:r>
            <a:endParaRPr lang="en-US" sz="1300" dirty="0"/>
          </a:p>
        </p:txBody>
      </p:sp>
      <p:sp>
        <p:nvSpPr>
          <p:cNvPr id="11" name="Text 8"/>
          <p:cNvSpPr txBox="1"/>
          <p:nvPr/>
        </p:nvSpPr>
        <p:spPr>
          <a:xfrm>
            <a:off x="2606040" y="4617720"/>
            <a:ext cx="1828800" cy="457200"/>
          </a:xfrm>
          <a:prstGeom prst="roundRect">
            <a:avLst>
              <a:gd name="adj" fmla="val 50000"/>
            </a:avLst>
          </a:prstGeom>
          <a:solidFill>
            <a:schemeClr val="accent1"/>
          </a:solidFill>
          <a:ln/>
        </p:spPr>
        <p:txBody>
          <a:bodyPr wrap="square" lIns="508" tIns="508" rIns="508" bIns="508" rtlCol="0" anchor="ctr"/>
          <a:lstStyle/>
          <a:p>
            <a:pPr algn="ctr" indent="0" marL="0">
              <a:buNone/>
            </a:pPr>
            <a:r>
              <a:rPr lang="en-US" sz="1300" b="1" dirty="0">
                <a:solidFill>
                  <a:schemeClr val="bg1"/>
                </a:solidFill>
              </a:rPr>
              <a:t>Segment students</a:t>
            </a:r>
            <a:endParaRPr lang="en-US" sz="1300" dirty="0"/>
          </a:p>
        </p:txBody>
      </p:sp>
      <p:sp>
        <p:nvSpPr>
          <p:cNvPr id="12" name="Text 9"/>
          <p:cNvSpPr txBox="1"/>
          <p:nvPr/>
        </p:nvSpPr>
        <p:spPr>
          <a:xfrm>
            <a:off x="4572000" y="4617720"/>
            <a:ext cx="1828800" cy="457200"/>
          </a:xfrm>
          <a:prstGeom prst="roundRect">
            <a:avLst>
              <a:gd name="adj" fmla="val 50000"/>
            </a:avLst>
          </a:prstGeom>
          <a:solidFill>
            <a:schemeClr val="accent2"/>
          </a:solidFill>
          <a:ln/>
        </p:spPr>
        <p:txBody>
          <a:bodyPr wrap="square" lIns="508" tIns="508" rIns="508" bIns="508" rtlCol="0" anchor="ctr"/>
          <a:lstStyle/>
          <a:p>
            <a:pPr algn="ctr" indent="0" marL="0">
              <a:buNone/>
            </a:pPr>
            <a:r>
              <a:rPr lang="en-US" sz="1300" b="1" dirty="0">
                <a:solidFill>
                  <a:schemeClr val="bg1"/>
                </a:solidFill>
              </a:rPr>
              <a:t>Recommend actions</a:t>
            </a:r>
            <a:endParaRPr lang="en-US" sz="1300" dirty="0"/>
          </a:p>
        </p:txBody>
      </p:sp>
      <p:sp>
        <p:nvSpPr>
          <p:cNvPr id="13" name="Card"/>
          <p:cNvSpPr/>
          <p:nvPr/>
        </p:nvSpPr>
        <p:spPr>
          <a:xfrm>
            <a:off x="7040880" y="914400"/>
            <a:ext cx="4599432" cy="1188720"/>
          </a:xfrm>
          <a:prstGeom prst="roundRect">
            <a:avLst>
              <a:gd name="adj" fmla="val 7692"/>
            </a:avLst>
          </a:prstGeom>
          <a:solidFill>
            <a:schemeClr val="bg1"/>
          </a:solidFill>
          <a:ln/>
        </p:spPr>
      </p:sp>
      <p:sp>
        <p:nvSpPr>
          <p:cNvPr id="14" name="Icon circle"/>
          <p:cNvSpPr/>
          <p:nvPr/>
        </p:nvSpPr>
        <p:spPr>
          <a:xfrm>
            <a:off x="7269480" y="1207008"/>
            <a:ext cx="603504" cy="603504"/>
          </a:xfrm>
          <a:prstGeom prst="ellipse">
            <a:avLst/>
          </a:prstGeom>
          <a:solidFill>
            <a:schemeClr val="accent1"/>
          </a:solidFill>
          <a:ln/>
        </p:spPr>
      </p:sp>
      <p:pic>
        <p:nvPicPr>
          <p:cNvPr id="15" name="Image 0" descr="Globe icon">    </p:cNvPr>
          <p:cNvPicPr>
            <a:picLocks noChangeAspect="1"/>
          </p:cNvPicPr>
          <p:nvPr/>
        </p:nvPicPr>
        <p:blipFill>
          <a:blip r:embed="rId1"/>
          <a:stretch>
            <a:fillRect/>
          </a:stretch>
        </p:blipFill>
        <p:spPr>
          <a:xfrm>
            <a:off x="7426391" y="1363919"/>
            <a:ext cx="289682" cy="289682"/>
          </a:xfrm>
          <a:prstGeom prst="rect">
            <a:avLst/>
          </a:prstGeom>
        </p:spPr>
      </p:pic>
      <p:sp>
        <p:nvSpPr>
          <p:cNvPr id="16" name="Text 12"/>
          <p:cNvSpPr txBox="1"/>
          <p:nvPr/>
        </p:nvSpPr>
        <p:spPr>
          <a:xfrm>
            <a:off x="8092440" y="1170432"/>
            <a:ext cx="3474720" cy="292608"/>
          </a:xfrm>
          <a:prstGeom prst="rect">
            <a:avLst/>
          </a:prstGeom>
          <a:noFill/>
          <a:ln/>
        </p:spPr>
        <p:txBody>
          <a:bodyPr wrap="square" lIns="0" tIns="0" rIns="0" bIns="0" rtlCol="0" anchor="t"/>
          <a:lstStyle/>
          <a:p>
            <a:pPr indent="0" marL="0">
              <a:buNone/>
            </a:pPr>
            <a:r>
              <a:rPr lang="en-US" sz="1500" b="1" dirty="0">
                <a:solidFill>
                  <a:schemeClr val="tx2"/>
                </a:solidFill>
              </a:rPr>
              <a:t>Live demo</a:t>
            </a:r>
            <a:endParaRPr lang="en-US" sz="1500" dirty="0"/>
          </a:p>
        </p:txBody>
      </p:sp>
      <p:sp>
        <p:nvSpPr>
          <p:cNvPr id="17" name="Text 13"/>
          <p:cNvSpPr txBox="1"/>
          <p:nvPr/>
        </p:nvSpPr>
        <p:spPr>
          <a:xfrm>
            <a:off x="8092440" y="1536192"/>
            <a:ext cx="3520440" cy="411480"/>
          </a:xfrm>
          <a:prstGeom prst="rect">
            <a:avLst/>
          </a:prstGeom>
          <a:noFill/>
          <a:ln/>
        </p:spPr>
        <p:txBody>
          <a:bodyPr wrap="square" lIns="0" tIns="0" rIns="0" bIns="0" rtlCol="0" anchor="t"/>
          <a:lstStyle/>
          <a:p>
            <a:pPr indent="0" marL="0">
              <a:buNone/>
            </a:pPr>
            <a:r>
              <a:rPr lang="en-US" sz="1100" u="sng" dirty="0">
                <a:solidFill>
                  <a:schemeClr val="tx1"/>
                </a:solidFill>
                <a:hlinkClick r:id="rId2" invalidUrl="" action="" tgtFrame="" tooltip="https://edupulse-ai-lqtt.onrender.com/login.html" history="1" highlightClick="0" endSnd="0">
                  <a:extLst>
                    <a:ext uri="{A12FA001-AC4F-418D-AE19-62706E023703}">
                      <ahyp:hlinkClr xmlns:ahyp="http://schemas.microsoft.com/office/drawing/2018/hyperlinkcolor" val="tx"/>
                    </a:ext>
                  </a:extLst>
                </a:hlinkClick>
              </a:rPr>
              <a:t>https://edupulse-ai-lqtt.onrender.com/login.html</a:t>
            </a:r>
            <a:endParaRPr lang="en-US" sz="1100" dirty="0"/>
          </a:p>
        </p:txBody>
      </p:sp>
      <p:sp>
        <p:nvSpPr>
          <p:cNvPr id="18" name="Card"/>
          <p:cNvSpPr/>
          <p:nvPr/>
        </p:nvSpPr>
        <p:spPr>
          <a:xfrm>
            <a:off x="7040880" y="2331720"/>
            <a:ext cx="4599432" cy="1188720"/>
          </a:xfrm>
          <a:prstGeom prst="roundRect">
            <a:avLst>
              <a:gd name="adj" fmla="val 7692"/>
            </a:avLst>
          </a:prstGeom>
          <a:solidFill>
            <a:schemeClr val="bg1"/>
          </a:solidFill>
          <a:ln/>
        </p:spPr>
      </p:sp>
      <p:sp>
        <p:nvSpPr>
          <p:cNvPr id="19" name="Icon circle"/>
          <p:cNvSpPr/>
          <p:nvPr/>
        </p:nvSpPr>
        <p:spPr>
          <a:xfrm>
            <a:off x="7269480" y="2624328"/>
            <a:ext cx="603504" cy="603504"/>
          </a:xfrm>
          <a:prstGeom prst="ellipse">
            <a:avLst/>
          </a:prstGeom>
          <a:solidFill>
            <a:schemeClr val="tx2"/>
          </a:solidFill>
          <a:ln/>
        </p:spPr>
      </p:sp>
      <p:pic>
        <p:nvPicPr>
          <p:cNvPr id="20" name="Image 1" descr="Github icon">    </p:cNvPr>
          <p:cNvPicPr>
            <a:picLocks noChangeAspect="1"/>
          </p:cNvPicPr>
          <p:nvPr/>
        </p:nvPicPr>
        <p:blipFill>
          <a:blip r:embed="rId3"/>
          <a:stretch>
            <a:fillRect/>
          </a:stretch>
        </p:blipFill>
        <p:spPr>
          <a:xfrm>
            <a:off x="7426391" y="2781239"/>
            <a:ext cx="289682" cy="289682"/>
          </a:xfrm>
          <a:prstGeom prst="rect">
            <a:avLst/>
          </a:prstGeom>
        </p:spPr>
      </p:pic>
      <p:sp>
        <p:nvSpPr>
          <p:cNvPr id="21" name="Text 16"/>
          <p:cNvSpPr txBox="1"/>
          <p:nvPr/>
        </p:nvSpPr>
        <p:spPr>
          <a:xfrm>
            <a:off x="8092440" y="2587752"/>
            <a:ext cx="3474720" cy="292608"/>
          </a:xfrm>
          <a:prstGeom prst="rect">
            <a:avLst/>
          </a:prstGeom>
          <a:noFill/>
          <a:ln/>
        </p:spPr>
        <p:txBody>
          <a:bodyPr wrap="square" lIns="0" tIns="0" rIns="0" bIns="0" rtlCol="0" anchor="t"/>
          <a:lstStyle/>
          <a:p>
            <a:pPr indent="0" marL="0">
              <a:buNone/>
            </a:pPr>
            <a:r>
              <a:rPr lang="en-US" sz="1500" b="1" dirty="0">
                <a:solidFill>
                  <a:schemeClr val="tx2"/>
                </a:solidFill>
              </a:rPr>
              <a:t>GitHub repository</a:t>
            </a:r>
            <a:endParaRPr lang="en-US" sz="1500" dirty="0"/>
          </a:p>
        </p:txBody>
      </p:sp>
      <p:sp>
        <p:nvSpPr>
          <p:cNvPr id="22" name="Text 17"/>
          <p:cNvSpPr txBox="1"/>
          <p:nvPr/>
        </p:nvSpPr>
        <p:spPr>
          <a:xfrm>
            <a:off x="8092440" y="2953512"/>
            <a:ext cx="3520440" cy="411480"/>
          </a:xfrm>
          <a:prstGeom prst="rect">
            <a:avLst/>
          </a:prstGeom>
          <a:noFill/>
          <a:ln/>
        </p:spPr>
        <p:txBody>
          <a:bodyPr wrap="square" lIns="0" tIns="0" rIns="0" bIns="0" rtlCol="0" anchor="t"/>
          <a:lstStyle/>
          <a:p>
            <a:pPr indent="0" marL="0">
              <a:buNone/>
            </a:pPr>
            <a:r>
              <a:rPr lang="en-US" sz="1100" u="sng" dirty="0">
                <a:solidFill>
                  <a:schemeClr val="tx1"/>
                </a:solidFill>
                <a:hlinkClick r:id="rId4" invalidUrl="" action="" tgtFrame="" tooltip="https://github.com/DhivyaDharsini2630/EduPulse-AI" history="1" highlightClick="0" endSnd="0">
                  <a:extLst>
                    <a:ext uri="{A12FA001-AC4F-418D-AE19-62706E023703}">
                      <ahyp:hlinkClr xmlns:ahyp="http://schemas.microsoft.com/office/drawing/2018/hyperlinkcolor" val="tx"/>
                    </a:ext>
                  </a:extLst>
                </a:hlinkClick>
              </a:rPr>
              <a:t>https://github.com/DhivyaDharsini2630/EduPulse-AI</a:t>
            </a:r>
            <a:endParaRPr lang="en-US" sz="1100" dirty="0"/>
          </a:p>
        </p:txBody>
      </p:sp>
      <p:sp>
        <p:nvSpPr>
          <p:cNvPr id="23" name="Text 18"/>
          <p:cNvSpPr txBox="1"/>
          <p:nvPr/>
        </p:nvSpPr>
        <p:spPr>
          <a:xfrm>
            <a:off x="7040880" y="4023360"/>
            <a:ext cx="4599432" cy="731520"/>
          </a:xfrm>
          <a:prstGeom prst="rect">
            <a:avLst/>
          </a:prstGeom>
          <a:noFill/>
          <a:ln/>
        </p:spPr>
        <p:txBody>
          <a:bodyPr wrap="square" lIns="0" tIns="0" rIns="0" bIns="0" rtlCol="0" anchor="ctr"/>
          <a:lstStyle/>
          <a:p>
            <a:pPr indent="0" marL="0">
              <a:buNone/>
            </a:pPr>
            <a:r>
              <a:rPr lang="en-US" sz="3800" b="1" dirty="0">
                <a:solidFill>
                  <a:schemeClr val="bg1"/>
                </a:solidFill>
              </a:rPr>
              <a:t>Thank You</a:t>
            </a:r>
            <a:endParaRPr lang="en-US" sz="3800" dirty="0"/>
          </a:p>
        </p:txBody>
      </p:sp>
      <p:sp>
        <p:nvSpPr>
          <p:cNvPr id="24" name="Text 19"/>
          <p:cNvSpPr txBox="1"/>
          <p:nvPr/>
        </p:nvSpPr>
        <p:spPr>
          <a:xfrm>
            <a:off x="7040880" y="4800600"/>
            <a:ext cx="4599432" cy="640080"/>
          </a:xfrm>
          <a:prstGeom prst="rect">
            <a:avLst/>
          </a:prstGeom>
          <a:noFill/>
          <a:ln/>
        </p:spPr>
        <p:txBody>
          <a:bodyPr wrap="square" lIns="0" tIns="0" rIns="0" bIns="0" rtlCol="0" anchor="t"/>
          <a:lstStyle/>
          <a:p>
            <a:pPr indent="0" marL="0">
              <a:buNone/>
            </a:pPr>
            <a:r>
              <a:rPr lang="en-US" sz="1500" i="1" dirty="0">
                <a:solidFill>
                  <a:srgbClr val="B8C4D6"/>
                </a:solidFill>
              </a:rPr>
              <a:t>Building a smarter, more proactive approach to student success.</a:t>
            </a:r>
            <a:endParaRPr lang="en-US" sz="1500" dirty="0"/>
          </a:p>
        </p:txBody>
      </p:sp>
      <p:sp>
        <p:nvSpPr>
          <p:cNvPr id="25" name="Text 20"/>
          <p:cNvSpPr txBox="1"/>
          <p:nvPr/>
        </p:nvSpPr>
        <p:spPr>
          <a:xfrm>
            <a:off x="640080" y="6172200"/>
            <a:ext cx="10515600" cy="274320"/>
          </a:xfrm>
          <a:prstGeom prst="rect">
            <a:avLst/>
          </a:prstGeom>
          <a:noFill/>
          <a:ln/>
        </p:spPr>
        <p:txBody>
          <a:bodyPr wrap="square" lIns="0" tIns="0" rIns="0" bIns="0" rtlCol="0" anchor="t"/>
          <a:lstStyle/>
          <a:p>
            <a:pPr indent="0" marL="0">
              <a:buNone/>
            </a:pPr>
            <a:r>
              <a:rPr lang="en-US" sz="1100" dirty="0">
                <a:solidFill>
                  <a:srgbClr val="B8C4D6"/>
                </a:solidFill>
              </a:rPr>
              <a:t>Prototype demonstrated with synthetic student data. Independent team submission, not an official KPMG product.</a:t>
            </a:r>
            <a:endParaRPr lang="en-US" sz="1100" dirty="0"/>
          </a:p>
        </p:txBody>
      </p:sp>
    </p:spTree>
  </p:cSld>
  <p:clrMapOvr>
    <a:masterClrMapping/>
  </p:clrMapOvr>
</p:sld>
</file>

<file path=ppt/theme/theme1.xml><?xml version="1.0" encoding="utf-8"?>
<a:theme xmlns:a="http://schemas.openxmlformats.org/drawingml/2006/main" name="EduPulse Enterprise">
  <a:themeElements>
    <a:clrScheme name="EduPulse Enterprise">
      <a:dk1>
        <a:srgbClr val="1A2433"/>
      </a:dk1>
      <a:lt1>
        <a:srgbClr val="FFFFFF"/>
      </a:lt1>
      <a:dk2>
        <a:srgbClr val="0B1F3A"/>
      </a:dk2>
      <a:lt2>
        <a:srgbClr val="F1F4F9"/>
      </a:lt2>
      <a:accent1>
        <a:srgbClr val="00827E"/>
      </a:accent1>
      <a:accent2>
        <a:srgbClr val="6B3FA0"/>
      </a:accent2>
      <a:accent3>
        <a:srgbClr val="E0A100"/>
      </a:accent3>
      <a:accent4>
        <a:srgbClr val="C8323E"/>
      </a:accent4>
      <a:accent5>
        <a:srgbClr val="2E8B57"/>
      </a:accent5>
      <a:accent6>
        <a:srgbClr val="5B6B82"/>
      </a:accent6>
      <a:hlink>
        <a:srgbClr val="0B5FA5"/>
      </a:hlink>
      <a:folHlink>
        <a:srgbClr val="6B3FA0"/>
      </a:folHlink>
    </a:clrScheme>
    <a:fontScheme name="EduPulse Enterpri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EduPulse AI - KPMG in India HacXLerate 2026</dc:title>
  <dc:subject>AI-Powered Student Analytics and Success Platform</dc:subject>
  <dc:creator>EduPulse AI team</dc:creator>
  <cp:lastModifiedBy>EduPulse AI team</cp:lastModifiedBy>
  <cp:revision>1</cp:revision>
  <dcterms:created xsi:type="dcterms:W3CDTF">2026-10-09T04:59:07Z</dcterms:created>
  <dcterms:modified xsi:type="dcterms:W3CDTF">2026-10-09T04:59:07Z</dcterms:modified>
</cp:coreProperties>
</file>